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BB88"/>
                </a:solidFill>
              </a:defRPr>
            </a:pPr>
            <a:r>
              <a:t>中山大学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操作系统实验课程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Lab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AAAA"/>
                </a:solidFill>
              </a:defRPr>
            </a:pPr>
            <a:r>
              <a:t>简单文件系统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授课教师：陈鹏飞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2025-2026 学年 春季学期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0292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000" b="1">
                <a:solidFill>
                  <a:srgbClr val="006633"/>
                </a:solidFill>
              </a:defRPr>
            </a:pPr>
            <a:r>
              <a:t>Lab FAT16 与磁盘驱动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实验概述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文件系统的实现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本实验学习目标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理解文件系统的作用（组织文件、目录、权限）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学习 FAT16 文件系统结构（DBR、FAT、根目录、数据区）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实现 ATA PIO 磁盘驱动（读写扇区）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实现文件操作（open / read / write / close）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实现目录操作（mkdir / rmdir / ls）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理解文件分配表（FAT）的链式存储原理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文件系统概述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为什么需要文件系统？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文件系统的作用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文件系统（File System）是操作系统管理磁盘数据的方式。</a:t>
            </a:r>
            <a:br/>
            <a:br/>
            <a:r>
              <a:t>没有文件系统的问题：</a:t>
            </a:r>
            <a:br/>
            <a:r>
              <a:t>1) 数据无组织：磁盘只是扇区数组，用户需要记住每个文件的起始扇区号和长度</a:t>
            </a:r>
            <a:br/>
            <a:r>
              <a:t>2) 空间管理困难：如何找到空闲扇区？如何回收删除的文件？</a:t>
            </a:r>
            <a:br/>
            <a:r>
              <a:t>3) 无法共享：多个进程访问同一文件可能冲突</a:t>
            </a:r>
            <a:br/>
            <a:br/>
            <a:r>
              <a:t>文件系统提供的功能：</a:t>
            </a:r>
            <a:br/>
            <a:r>
              <a:t>1) 文件抽象：用户通过文件名访问数据（而非扇区号）</a:t>
            </a:r>
            <a:br/>
            <a:r>
              <a:t>2) 目录结构：分层组织文件（根目录、子目录）</a:t>
            </a:r>
            <a:br/>
            <a:r>
              <a:t>3) 空间管理：自动分配和回收磁盘空间</a:t>
            </a:r>
            <a:br/>
            <a:r>
              <a:t>4) 权限控制：读/写/执行权限（Unix rwx）</a:t>
            </a:r>
            <a:br/>
            <a:r>
              <a:t>5) 并发控制：文件锁（防止多进程同时写入）</a:t>
            </a:r>
            <a:br/>
            <a:br/>
            <a:r>
              <a:t>常见文件系统：</a:t>
            </a:r>
            <a:br/>
            <a:r>
              <a:t>- FAT12/FAT16/FAT32：DOS/Windows（简单，无权限控制）</a:t>
            </a:r>
            <a:br/>
            <a:r>
              <a:t>- NTFS：Windows（支持日志、加密、压缩）</a:t>
            </a:r>
            <a:br/>
            <a:r>
              <a:t>- ext2/ext3/ext4：Linux（支持日志、大文件）</a:t>
            </a:r>
            <a:br/>
            <a:r>
              <a:t>- HFS+/APFS：macOS（支持快照、加密）</a:t>
            </a:r>
            <a:br/>
            <a:br/>
            <a:r>
              <a:t>本实验：实现简化版 FAT16 文件系统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文件系统存在于磁盘的分区（Partition）上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MBR 的分区表指定每个分区的起始扇区和大小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不同分区可以使用不同的文件系统（如C盘 NTFS，D盘 FAT32）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FAT16 文件系统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结构与原理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FAT16 文件系统布局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FAT16（File Allocation Table 16-bit）是微软设计的简单文件系统（1987年）。</a:t>
            </a:r>
            <a:br/>
            <a:br/>
            <a:r>
              <a:t>磁盘布局（4 个区域）：</a:t>
            </a:r>
            <a:br/>
            <a:r>
              <a:t>1) DBR（DOS Boot Record，引导扇区，1 扇区）：</a:t>
            </a:r>
            <a:br/>
            <a:r>
              <a:t>   - 文件系统参数（扇区大小、每簇扇区数、FAT 个数、根目录项数）</a:t>
            </a:r>
            <a:br/>
            <a:r>
              <a:t>   - 引导代码（加载操作系统）</a:t>
            </a:r>
            <a:br/>
            <a:br/>
            <a:r>
              <a:t>2) FAT（File Allocation Table，文件分配表，N 扇区）：</a:t>
            </a:r>
            <a:br/>
            <a:r>
              <a:t>   - 每个簇（Cluster）对应一个 16 位条目</a:t>
            </a:r>
            <a:br/>
            <a:r>
              <a:t>   - 值 = 下一个簇的编号（链式存储）</a:t>
            </a:r>
            <a:br/>
            <a:r>
              <a:t>   - 特殊值：0=空闲，0xFFFF=文件结束</a:t>
            </a:r>
            <a:br/>
            <a:r>
              <a:t>   - 通常有 2 份 FAT（FAT1 和 FAT2，互为备份）</a:t>
            </a:r>
            <a:br/>
            <a:br/>
            <a:r>
              <a:t>3) 根目录区（Root Directory，M 扇区）：</a:t>
            </a:r>
            <a:br/>
            <a:r>
              <a:t>   - 固定大小（FAT16 限制根目录最多 512 个目录项）</a:t>
            </a:r>
            <a:br/>
            <a:r>
              <a:t>   - 每个目录项 32 字节（文件名、扩展名、起始簇号、大小、属性）</a:t>
            </a:r>
            <a:br/>
            <a:br/>
            <a:r>
              <a:t>4) 数据区（Data Area）：</a:t>
            </a:r>
            <a:br/>
            <a:r>
              <a:t>   - 实际的文件数据存储区域</a:t>
            </a:r>
            <a:br/>
            <a:r>
              <a:t>   - 按簇（Cluster）分配（通常 1 簇 = 多个扇区，如 4KB = 8 扇区）</a:t>
            </a:r>
            <a:br/>
            <a:br/>
            <a:r>
              <a:t>簇（Cluster）：文件分配的基本单位</a:t>
            </a:r>
            <a:br/>
            <a:r>
              <a:t>为什么不按扇区分配？簇更大，减少 FAT 表的大小（FAT16 最大支持 65536 个簇）。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FAT12：12 位簇号，最大 4MB 磁盘（软盘）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FAT16：16 位簇号，最大 2GB 磁盘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FAT32：28 位簇号，最大 2TB 磁盘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FAT 链式存储示例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文件 'example.txt' 占用 3 个簇（簇 2, 5, 9）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FAT 表内容：</a:t>
            </a:r>
            <a:br/>
            <a:r>
              <a:t>  FAT[2] = 5   （簇 2 的下一个簇是 5）</a:t>
            </a:r>
            <a:br/>
            <a:r>
              <a:t>  FAT[5] = 9   （簇 5 的下一个簇是 9）</a:t>
            </a:r>
            <a:br/>
            <a:r>
              <a:t>  FAT[9] = 0xFFFF  （簇 9 是最后一个簇）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根目录项：</a:t>
            </a:r>
            <a:br/>
            <a:r>
              <a:t>  文件名：EXAMPLE.TXT</a:t>
            </a:r>
            <a:br/>
            <a:r>
              <a:t>  起始簇号：2</a:t>
            </a:r>
            <a:br/>
            <a:r>
              <a:t>  文件大小：12288 字节（3 个簇 * 4096 字节/簇）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读取文件：</a:t>
            </a:r>
            <a:br/>
            <a:r>
              <a:t>  1) 从根目录项获取起始簇号 = 2</a:t>
            </a:r>
            <a:br/>
            <a:r>
              <a:t>  2) 读取簇 2 的数据</a:t>
            </a:r>
            <a:br/>
            <a:r>
              <a:t>  3) 查找 FAT[2] = 5 → 读取簇 5</a:t>
            </a:r>
            <a:br/>
            <a:r>
              <a:t>  4) 查找 FAT[5] = 9 → 读取簇 9</a:t>
            </a:r>
            <a:br/>
            <a:r>
              <a:t>  5) 查找 FAT[9] = 0xFFFF → 文件结束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ATA PIO 磁盘驱动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Programmed I/O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ATA PIO：通过 I/O 端口读写磁盘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ATA（Advanced Technology Attachment）是 IDE/SATA 硬盘的接口标准。</a:t>
            </a:r>
            <a:br/>
            <a:r>
              <a:t>PIO（Programmed I/O）：CPU 通过 in/out 指令直接与磁盘交互（不用 DMA）。</a:t>
            </a:r>
            <a:br/>
            <a:br/>
            <a:r>
              <a:t>主硬盘 I/O 端口（与 Lab3 的 LBA 读写相同）：</a:t>
            </a:r>
            <a:br/>
            <a:r>
              <a:t>- 0x1F0：数据端口（16 位，读写数据）</a:t>
            </a:r>
            <a:br/>
            <a:r>
              <a:t>- 0x1F1：错误信息（读）/ 特性（写）</a:t>
            </a:r>
            <a:br/>
            <a:r>
              <a:t>- 0x1F2：扇区计数</a:t>
            </a:r>
            <a:br/>
            <a:r>
              <a:t>- 0x1F3~0x1F6：LBA 地址（28 位）</a:t>
            </a:r>
            <a:br/>
            <a:r>
              <a:t>- 0x1F7：状态/命令端口</a:t>
            </a:r>
            <a:br/>
            <a:br/>
            <a:r>
              <a:t>读扇区流程（与 Lab3 相同）：</a:t>
            </a:r>
            <a:br/>
            <a:r>
              <a:t>1) 设置扇区数（0x1F2）和 LBA 地址（0x1F3~0x1F6）</a:t>
            </a:r>
            <a:br/>
            <a:r>
              <a:t>2) 发送读命令（0x1F7 ← 0x20）</a:t>
            </a:r>
            <a:br/>
            <a:r>
              <a:t>3) 轮询状态（0x1F7），等待 Bit 3 = 1（数据准备好）</a:t>
            </a:r>
            <a:br/>
            <a:r>
              <a:t>4) 从 0x1F0 端口读取 512 字节（256 次 in ax, 0x1F0）</a:t>
            </a:r>
            <a:br/>
            <a:br/>
            <a:r>
              <a:t>写扇区流程：</a:t>
            </a:r>
            <a:br/>
            <a:r>
              <a:t>1) 设置扇区数和 LBA 地址</a:t>
            </a:r>
            <a:br/>
            <a:r>
              <a:t>2) 发送写命令（0x1F7 ← 0x30）</a:t>
            </a:r>
            <a:br/>
            <a:r>
              <a:t>3) 轮询状态，等待 Bit 3 = 1</a:t>
            </a:r>
            <a:br/>
            <a:r>
              <a:t>4) 向 0x1F0 端口写入 512 字节（256 次 out 0x1F0, ax）</a:t>
            </a:r>
            <a:br/>
            <a:r>
              <a:t>5) 发送缓存刷新命令（0x1F7 ← 0xE7）</a:t>
            </a:r>
            <a:br/>
            <a:br/>
            <a:r>
              <a:t>DMA（Direct Memory Access）：</a:t>
            </a:r>
            <a:br/>
            <a:r>
              <a:t>硬盘直接访问内存（无需 CPU 参与），效率更高（现代系统都用 DMA）。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ATA-1（1994）：PIO Mode 最高 16 MB/s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ATA-6（2002）：引入 SATA，速度 150 MB/s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NVMe（PCIe）：现代 SSD，速度 3000+ MB/s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ATA PIO 读取扇区流程图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CPU 通过 I/O 端口与硬盘控制器交互的完整过程（约几毫秒）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55555"/>
            <a:ext cx="400239" cy="400239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20240"/>
            <a:ext cx="64008" cy="47087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18488" y="1920240"/>
            <a:ext cx="9811512" cy="47087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等待磁盘空闲（轮询 0x1F7，检查 BSY=0）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355080" y="2391110"/>
            <a:ext cx="274320" cy="212651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639076"/>
            <a:ext cx="400239" cy="400239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603761"/>
            <a:ext cx="64008" cy="47087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18488" y="2603761"/>
            <a:ext cx="9811512" cy="47087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写入扇区数到 0x1F2（如 1 个扇区）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355080" y="3074632"/>
            <a:ext cx="274320" cy="212651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322598"/>
            <a:ext cx="400239" cy="400239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287283"/>
            <a:ext cx="64008" cy="47087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3287283"/>
            <a:ext cx="9811512" cy="47087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写入 LBA 地址到 0x1F3~0x1F6（28 位地址分 4 段）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355080" y="3758153"/>
            <a:ext cx="274320" cy="212651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006120"/>
            <a:ext cx="400239" cy="400239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970804"/>
            <a:ext cx="64008" cy="47087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18488" y="3970804"/>
            <a:ext cx="9811512" cy="47087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写入读命令 0x20 到 0x1F7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355080" y="4441675"/>
            <a:ext cx="274320" cy="212651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689641"/>
            <a:ext cx="400239" cy="400239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654326"/>
            <a:ext cx="64008" cy="47087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18488" y="4654326"/>
            <a:ext cx="9811512" cy="47087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等待数据准备好（轮询 0x1F7，检查 DRQ=1）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355080" y="5125196"/>
            <a:ext cx="274320" cy="212651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5373163"/>
            <a:ext cx="400239" cy="400239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5337847"/>
            <a:ext cx="64008" cy="47087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18488" y="5337847"/>
            <a:ext cx="9811512" cy="47087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从 0x1F0 端口读取 256 次（每次 2 字节 = 512 字节）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355080" y="5808718"/>
            <a:ext cx="274320" cy="212651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" y="6056684"/>
            <a:ext cx="400239" cy="400239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6021369"/>
            <a:ext cx="64008" cy="47087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18488" y="6021369"/>
            <a:ext cx="9811512" cy="47087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重复步骤 5-6，直到读取完所有扇区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文件操作实现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open / read / write / close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文件打开（open）流程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open(path, flags) // 打开文件，返回文件描述符（fd）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第1步：解析路径</a:t>
            </a:r>
            <a:br/>
            <a:r>
              <a:t>  将 '/home/user/file.txt' 拆分为 ['home', 'user', 'file.txt']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第2步：查找目录项</a:t>
            </a:r>
            <a:br/>
            <a:r>
              <a:t>  从根目录开始，逐级查找 'home' → 'user' → 'file.txt'</a:t>
            </a:r>
            <a:br/>
            <a:r>
              <a:t>  每次查找：遍历当前目录的所有目录项，比较文件名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第3步：加载 FCB（File Control Block）</a:t>
            </a:r>
            <a:br/>
            <a:r>
              <a:t>  从目录项中获取起始簇号、文件大小、属性等</a:t>
            </a:r>
            <a:br/>
            <a:r>
              <a:t>  创建内存中的 FCB 结构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第4步：分配文件描述符（fd）</a:t>
            </a:r>
            <a:br/>
            <a:r>
              <a:t>  将 FCB 加入进程的文件描述符表（fd_table）</a:t>
            </a:r>
            <a:br/>
            <a:r>
              <a:t>  返回 fd（整数，如 3、4、5...）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flags 参数：</a:t>
            </a:r>
            <a:br/>
            <a:r>
              <a:t>  O_RDONLY（只读）、O_WRONLY（只写）、O_RDWR（读写）</a:t>
            </a:r>
            <a:br/>
            <a:r>
              <a:t>  O_CREAT（不存在则创建）、O_TRUNC（清空文件）、O_APPEND（追加）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文件读写（read / write）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read(fd, buffer, size) // 从文件读取 size 字节到 buffer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第1步：从 fd_table 获取 FCB（文件控制块）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第2步：根据当前文件偏移（file_offset）计算簇号和簇内偏移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第3步：通过 FAT 表找到对应的物理簇，读取数据到 buffer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第4步：更新 file_offset += size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write(fd, buffer, size) // 将 buffer 中的 size 字节写入文件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第1步：从 fd_table 获取 FCB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第2步：如果文件空间不足，分配新簇（更新 FAT 表）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第3步：计算簇号和簇内偏移，写入数据到磁盘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第4步：更新 file_offset 和 file_size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close(fd) // 关闭文件，释放 fd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刷新缓存（将内存中的修改写回磁盘）</a:t>
            </a:r>
            <a:br/>
            <a:r>
              <a:t>  释放 fd_table[fd]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FAT16 文件读取流程图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通过 FAT 表的簇链读取完整文件内容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50962"/>
            <a:ext cx="348185" cy="348185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20240"/>
            <a:ext cx="64008" cy="40963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18488" y="1920240"/>
            <a:ext cx="9811512" cy="40963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在根目录区搜索目标文件（遍历目录项，匹配文件名）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355080" y="2329870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545586"/>
            <a:ext cx="348185" cy="348185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514864"/>
            <a:ext cx="64008" cy="40963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18488" y="2514864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从目录项读取文件大小和起始簇号（FirstCluster）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355080" y="2924494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140210"/>
            <a:ext cx="348185" cy="348185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109488"/>
            <a:ext cx="64008" cy="40963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3109488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计算簇的起始扇区号（DataAreaStart + (Cluster-2) * SectorsPerCluster）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355080" y="3519118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734835"/>
            <a:ext cx="348185" cy="348185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704112"/>
            <a:ext cx="64008" cy="40963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18488" y="3704112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调用 ata_read_sector 读取该簇的所有扇区到缓冲区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355080" y="4113742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329459"/>
            <a:ext cx="348185" cy="348185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298737"/>
            <a:ext cx="64008" cy="40963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18488" y="4298737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从 FAT 表读取下一个簇号（NextCluster = FAT[CurrentCluster]）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355080" y="4708367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4924083"/>
            <a:ext cx="348185" cy="348185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893361"/>
            <a:ext cx="64008" cy="40963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18488" y="4893361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如果 NextCluster = 0xFFFF（EOF），读取完成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355080" y="5302991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" y="5518707"/>
            <a:ext cx="348185" cy="348185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5487985"/>
            <a:ext cx="64008" cy="40963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18488" y="5487985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否则，CurrentCluster = NextCluster，跳转到步骤 3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55080" y="5897615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6113332"/>
            <a:ext cx="348185" cy="348185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6082609"/>
            <a:ext cx="64008" cy="40963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18488" y="6082609"/>
            <a:ext cx="9811512" cy="40963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返回读取的总字节数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FAT16 文件写入流程图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分配簇、构建 FAT 链、写入数据的完整过程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47426"/>
            <a:ext cx="308113" cy="308113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20240"/>
            <a:ext cx="64008" cy="362485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18488" y="1920240"/>
            <a:ext cx="9811512" cy="362485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在根目录区创建新目录项（查找空闲项，填写文件名、大小=0、起始簇=0）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355080" y="2282725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473615"/>
            <a:ext cx="308113" cy="308113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446429"/>
            <a:ext cx="64008" cy="362485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18488" y="2446429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计算所需簇数（FileSize / BytesPerCluster 向上取整）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355080" y="2808915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2999804"/>
            <a:ext cx="308113" cy="308113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2972618"/>
            <a:ext cx="64008" cy="362485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972618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在 FAT 表中查找空闲簇（遍历 FAT，找到 FAT[i]=0x0000 的簇）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355080" y="3335104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525994"/>
            <a:ext cx="308113" cy="308113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498807"/>
            <a:ext cx="64008" cy="362485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18488" y="3498807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分配第一个簇，更新目录项的 FirstCluster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355080" y="3861293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052183"/>
            <a:ext cx="308113" cy="308113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024997"/>
            <a:ext cx="64008" cy="362485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18488" y="4024997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写入数据到该簇（调用 ata_write_sector）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355080" y="4387482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4578372"/>
            <a:ext cx="308113" cy="308113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551186"/>
            <a:ext cx="64008" cy="362485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18488" y="4551186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如果还有数据，分配下一个簇，更新 FAT 链（FAT[PrevCluster]=NextCluster）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355080" y="4913672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" y="5104561"/>
            <a:ext cx="308113" cy="308113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5077375"/>
            <a:ext cx="64008" cy="362485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18488" y="5077375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重复步骤 3-6，直到所有数据写入完成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55080" y="5439861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630751"/>
            <a:ext cx="308113" cy="308113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5603564"/>
            <a:ext cx="64008" cy="362485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18488" y="5603564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标记最后一个簇为 EOF（FAT[LastCluster]=0xFFFF）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6355080" y="5966050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4400" y="6156940"/>
            <a:ext cx="308113" cy="308113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6129754"/>
            <a:ext cx="64008" cy="362485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18488" y="6129754"/>
            <a:ext cx="9811512" cy="362485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更新目录项的文件大小，刷新到磁盘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实验任务 (Assignment)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DDL: 2026.06.17 23:59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实验要求与环境说明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提交内容：</a:t>
            </a:r>
            <a:br/>
            <a:r>
              <a:t>  • 压缩包命名：lab9-姓名-学号</a:t>
            </a:r>
            <a:br/>
            <a:r>
              <a:t>  • 包含：4个 Assignment 的代码 + 实验报告</a:t>
            </a:r>
            <a:br/>
            <a:r>
              <a:t>  • 代码位置：src/ 目录下</a:t>
            </a:r>
            <a:br/>
            <a:r>
              <a:t>  • Assignment 1-3 必做（共100分），Assignment 4 选做加分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平台与语言支持：</a:t>
            </a:r>
            <a:br/>
            <a:r>
              <a:t>  • 语言不限：C / C++ / Rust</a:t>
            </a:r>
            <a:br/>
            <a:r>
              <a:t>  • 平台不限：Windows / Linux / MacOS / 银河麒麟</a:t>
            </a:r>
            <a:br/>
            <a:r>
              <a:t>  • CPU 不限：ARM / Intel / RISC-V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编译运行：</a:t>
            </a:r>
            <a:br/>
            <a:r>
              <a:t>  • 示例代码：make image &amp;&amp; make build &amp;&amp; make run</a:t>
            </a:r>
            <a:br/>
            <a:r>
              <a:t>  • 成功编译运行后截图展示结果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1: 磁盘驱动与FAT16基础 (30分)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1.1 复现并理解磁盘驱动 (15分)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复现 src/1 的代码，截图展示 FAT16 文件系统演示运行结果</a:t>
            </a:r>
            <a:br/>
            <a:r>
              <a:t>2. 结合代码逐步分析 ATA PIO 读写流程：</a:t>
            </a:r>
            <a:br/>
            <a:r>
              <a:t>   • waitReady() 如何轮询状态寄存器 0x1F7</a:t>
            </a:r>
            <a:br/>
            <a:r>
              <a:t>   • selectSector() 如何设置 LBA 地址和扇区数</a:t>
            </a:r>
            <a:br/>
            <a:r>
              <a:t>   • readSectors() 中如何通过16位端口从 0x1F0 读取256个字（512字节）</a:t>
            </a:r>
            <a:br/>
            <a:r>
              <a:t>   • writeSectors() 与 readSectors() 的异同</a:t>
            </a:r>
            <a:br/>
            <a:r>
              <a:t>3. 解释为什么数据寄存器 0x1F0 使用16位 I/O 而非8位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1.2 分析FAT16文件系统布局 (15分)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结合代码和 fat16.h 的常量定义，回答：</a:t>
            </a:r>
            <a:br/>
            <a:r>
              <a:t>1. 画出磁盘完整布局图（从扇区0到数据区），标明每个区域的起始扇区号和大小</a:t>
            </a:r>
            <a:br/>
            <a:r>
              <a:t>2. FAT表的每个条目占多少字节？总共多少个条目？最多管理多少簇？</a:t>
            </a:r>
            <a:br/>
            <a:r>
              <a:t>3. 根目录区最多存放多少个文件？每个目录条目大小？</a:t>
            </a:r>
            <a:br/>
            <a:r>
              <a:t>4. 文件占用簇5→8→12，FAT[5]、FAT[8]、FAT[12]的值分别是什么？</a:t>
            </a:r>
            <a:br/>
            <a:r>
              <a:t>5. 解释 clusterToSector() 中为什么簇号从2开始？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2: 文件操作实现分析 (35分)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2.1 文件创建与写入 (15分)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阅读 fat16.cpp 中 createFile() 和 writeFile()，分析：</a:t>
            </a:r>
            <a:br/>
            <a:r>
              <a:t>1. createFile("hello.txt") 的执行流程：</a:t>
            </a:r>
            <a:br/>
            <a:r>
              <a:t>   • toFAT16Name 如何转换为8.3格式</a:t>
            </a:r>
            <a:br/>
            <a:r>
              <a:t>   • 如何查找空闲目录条目（findFreeEntry）</a:t>
            </a:r>
            <a:br/>
            <a:r>
              <a:t>   • 目录条目各字段如何初始化</a:t>
            </a:r>
            <a:br/>
            <a:r>
              <a:t>2. writeFile("hello.txt", data, size) 的执行流程：</a:t>
            </a:r>
            <a:br/>
            <a:r>
              <a:t>   • 如何计算需要分配多少簇</a:t>
            </a:r>
            <a:br/>
            <a:r>
              <a:t>   • allocateCluster() 如何查找空闲簇</a:t>
            </a:r>
            <a:br/>
            <a:r>
              <a:t>   • 如何构建FAT链（簇A→簇B→EOF）</a:t>
            </a:r>
            <a:br/>
            <a:r>
              <a:t>   • 为什么必须调用 syncFAT() 同步到磁盘</a:t>
            </a:r>
            <a:br/>
            <a:r>
              <a:t>3. 对已存在文件调用 writeFile（覆盖写），旧簇链如何释放？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2.2 文件读取与删除 (12分)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阅读 fat16.cpp 中 readFile() 和 deleteFile()，分析：</a:t>
            </a:r>
            <a:br/>
            <a:r>
              <a:t>1. readFile("hello.txt", buffer, maxSize) 的流程：</a:t>
            </a:r>
            <a:br/>
            <a:r>
              <a:t>   • 如何从目录条目获取起始簇号和文件大小</a:t>
            </a:r>
            <a:br/>
            <a:r>
              <a:t>   • 如何通过FAT链逐簇读取数据</a:t>
            </a:r>
            <a:br/>
            <a:r>
              <a:t>   • 读取过程在什么条件下停止</a:t>
            </a:r>
            <a:br/>
            <a:r>
              <a:t>2. deleteFile("data.bin") 的流程：</a:t>
            </a:r>
            <a:br/>
            <a:r>
              <a:t>   • freeClusterChain() 如何释放所有簇</a:t>
            </a:r>
            <a:br/>
            <a:r>
              <a:t>   • 目录条目如何标记为已删除（首字节0xE5）</a:t>
            </a:r>
            <a:br/>
            <a:r>
              <a:t>   • 删除后文件数据是否真的从磁盘擦除？为什么？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2.3 自定义文件操作测试 (8分)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修改 shell.cpp 的 runDemo()，添加测试：</a:t>
            </a:r>
            <a:br/>
            <a:r>
              <a:t>1. 创建至少5个文件，向每个文件写入不同内容</a:t>
            </a:r>
            <a:br/>
            <a:r>
              <a:t>2. 列出所有文件，验证文件名和大小正确</a:t>
            </a:r>
            <a:br/>
            <a:r>
              <a:t>3. 读取每个文件并打印内容，验证数据一致性</a:t>
            </a:r>
            <a:br/>
            <a:r>
              <a:t>4. 删除部分文件后重新创建同名文件，验证空间能被重用</a:t>
            </a:r>
            <a:br/>
            <a:r>
              <a:t>截图展示运行结果。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3: 文件系统功能扩展 (35分)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3.1 文件追加写入 (15分)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实现函数：bool FAT16::appendFile(const char *name, const char *data, uint32 size)</a:t>
            </a:r>
            <a:br/>
            <a:r>
              <a:t>功能要求：</a:t>
            </a:r>
            <a:br/>
            <a:r>
              <a:t>1. 文件不存在时，行为与 writeFile 相同（创建并写入）</a:t>
            </a:r>
            <a:br/>
            <a:r>
              <a:t>2. 文件已存在时，在末尾追加数据：</a:t>
            </a:r>
            <a:br/>
            <a:r>
              <a:t>   • 找到FAT链的最后一个簇</a:t>
            </a:r>
            <a:br/>
            <a:r>
              <a:t>   • 如果最后簇还有剩余空间，先填满它</a:t>
            </a:r>
            <a:br/>
            <a:r>
              <a:t>   • 分配新簇并链接到FAT链末尾</a:t>
            </a:r>
            <a:br/>
            <a:r>
              <a:t>   • 更新目录条目中的 fileSize</a:t>
            </a:r>
            <a:br/>
            <a:r>
              <a:t>3. 在 runDemo() 中测试：对同一文件多次追加写入，然后读取验证内容完整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3.2 磁盘空间统计 (8分)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实现功能函数：</a:t>
            </a:r>
            <a:br/>
            <a:r>
              <a:t>1. int FAT16::getFileClusterCount(const char *name); // 返回指定文件占用的簇数</a:t>
            </a:r>
            <a:br/>
            <a:r>
              <a:t>2. float FAT16::getFragmentation(); // 返回文件系统碎片率(0.0~1.0)</a:t>
            </a:r>
            <a:br/>
            <a:r>
              <a:t>   碎片率 = 不连续的簇分配次数 / 总簇分配次数</a:t>
            </a:r>
            <a:br/>
            <a:r>
              <a:t>在演示中创建多个文件、删除部分、再创建新文件，展示碎片率变化。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3.3 文件重命名 (12分)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实现文件重命名：bool FAT16::renameFile(const char *oldName, const char *newName)</a:t>
            </a:r>
            <a:br/>
            <a:r>
              <a:t>功能要求：</a:t>
            </a:r>
            <a:br/>
            <a:r>
              <a:t>1. 验证旧文件存在且新文件名不冲突</a:t>
            </a:r>
            <a:br/>
            <a:r>
              <a:t>2. 修改目录条目中的文件名和扩展名</a:t>
            </a:r>
            <a:br/>
            <a:r>
              <a:t>3. 不需要移动文件数据或修改FAT链</a:t>
            </a:r>
            <a:br/>
            <a:r>
              <a:t>在演示中测试重命名功能。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4: 选做加分 (最高20分)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4.1 交互式Shell (10分)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实现交互式Shell（当前仅自动演示）：</a:t>
            </a:r>
            <a:br/>
            <a:r>
              <a:t>1. 添加键盘中断处理（IRQ 1），实现字符输入</a:t>
            </a:r>
            <a:br/>
            <a:r>
              <a:t>2. 实现命令行输入缓冲区和命令解析</a:t>
            </a:r>
            <a:br/>
            <a:r>
              <a:t>3. 支持命令：ls、cat &lt;file&gt;、touch &lt;file&gt;、write &lt;file&gt; &lt;content&gt;、</a:t>
            </a:r>
            <a:br/>
            <a:r>
              <a:t>   rm &lt;file&gt;、info、format、help</a:t>
            </a:r>
            <a:br/>
            <a:r>
              <a:t>提示：键盘中断参考8042 PS/2控制器，端口0x60/0x64，需要扫描码到ASCII转换表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4.2 子目录支持 (10分)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扩展平面目录为层次结构：</a:t>
            </a:r>
            <a:br/>
            <a:r>
              <a:t>1. 实现 mkdir / rmdir 操作</a:t>
            </a:r>
            <a:br/>
            <a:r>
              <a:t>2. 子目录使用FAT链分配簇存储目录条目</a:t>
            </a:r>
            <a:br/>
            <a:r>
              <a:t>3. 实现路径解析（如"dir1/file.txt"）</a:t>
            </a:r>
            <a:br/>
            <a:r>
              <a:t>4. 支持 . 和 .. 条目</a:t>
            </a:r>
            <a:br/>
            <a:r>
              <a:t>5. 修改 listFiles 支持列出指定目录内容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4.3 大文件与性能优化 (5分)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创建超过1个簇（512字节）的文件，验证跨簇读写正确性</a:t>
            </a:r>
            <a:br/>
            <a:r>
              <a:t>2. 实现多扇区批量读写优化：连续簇号相邻时，合并为一次多扇区I/O</a:t>
            </a:r>
            <a:br/>
            <a:r>
              <a:t>3. 对比优化前后性能（计数端口操作次数）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4.4 文件系统一致性检查 (5分)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实现 fsck() 功能：</a:t>
            </a:r>
            <a:br/>
            <a:r>
              <a:t>1. 检查文件引用的簇是否正确标记在FAT表</a:t>
            </a:r>
            <a:br/>
            <a:r>
              <a:t>2. 检查是否存在丢失的簇（FAT标记已用但无文件引用）</a:t>
            </a:r>
            <a:br/>
            <a:r>
              <a:t>3. 检查是否存在交叉链接（多个文件引用同一簇）</a:t>
            </a:r>
            <a:br/>
            <a:r>
              <a:t>4. 输出检查报告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33"/>
                </a:solidFill>
              </a:defRPr>
            </a:pPr>
            <a:r>
              <a:t>本次实验总结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理解文件系统的作用（组织文件、目录、权限）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掌握 FAT16 文件系统结构（DBR、FAT、根目录、数据区）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实现 ATA PIO 磁盘驱动（读写扇区）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实现文件操作（open / read / write / close）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理解 FAT 链式存储原理（簇链）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完成 Assignment 1-3（磁盘驱动、FAT16 解析、文件操作）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中山大学计算机学院 陈鹏飞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