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200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BB88"/>
                </a:solidFill>
              </a:defRPr>
            </a:pPr>
            <a:r>
              <a:t>中山大学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操作系统实验课程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Lab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AA"/>
                </a:solidFill>
              </a:defRPr>
            </a:pPr>
            <a:r>
              <a:t>从内核态到用户态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授课教师：陈鹏飞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2025-2026 学年 春季学期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006633"/>
                </a:solidFill>
              </a:defRPr>
            </a:pPr>
            <a:r>
              <a:t>Lab 系统调用与进程管理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用户进程与系统调用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本实验学习目标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理解特权级（Ring 0 内核态 / Ring 3 用户态）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实现进程创建（fork 系统调用）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 TSS（Task State Segment）与栈切换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实现系统调用机制（int 0x80）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实现进程等待与退出（wait / exit）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理解进程状态转换（RUNNING → BLOCKED → READY）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特权级保护机制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Ring 0 vs Ring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x86 特权级：4 个 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x86 CPU 提供 4 个特权级（Ring 0 ~ Ring 3）：</a:t>
            </a:r>
            <a:br/>
            <a:br/>
            <a:r>
              <a:t>Ring 0（内核态）：</a:t>
            </a:r>
            <a:br/>
            <a:r>
              <a:t>- 可以执行所有指令（包括特权指令：in/out、lgdt、lidt、hlt、cli/sti）</a:t>
            </a:r>
            <a:br/>
            <a:r>
              <a:t>- 可以访问所有内存（包括内核内存）</a:t>
            </a:r>
            <a:br/>
            <a:r>
              <a:t>- 操作系统内核运行在 Ring 0</a:t>
            </a:r>
            <a:br/>
            <a:br/>
            <a:r>
              <a:t>Ring 3（用户态）：</a:t>
            </a:r>
            <a:br/>
            <a:r>
              <a:t>- 无法执行特权指令（如 hlt 会触发 #GP 异常）</a:t>
            </a:r>
            <a:br/>
            <a:r>
              <a:t>- 无法直接访问内核内存（页表项的 US 位控制）</a:t>
            </a:r>
            <a:br/>
            <a:r>
              <a:t>- 用户程序运行在 Ring 3</a:t>
            </a:r>
            <a:br/>
            <a:br/>
            <a:r>
              <a:t>Ring 1 和 Ring 2：</a:t>
            </a:r>
            <a:br/>
            <a:r>
              <a:t>- 原本设计给设备驱动程序</a:t>
            </a:r>
            <a:br/>
            <a:r>
              <a:t>- 现代操作系统很少使用（Linux/Windows 只用 Ring 0 和 Ring 3）</a:t>
            </a:r>
            <a:br/>
            <a:br/>
            <a:r>
              <a:t>特权级存储在哪里？</a:t>
            </a:r>
            <a:br/>
            <a:r>
              <a:t>1) CS 段选择子的 RPL（Requested Privilege Level，低 2 位）</a:t>
            </a:r>
            <a:br/>
            <a:r>
              <a:t>2) 段描述符的 DPL（Descriptor Privilege Level）</a:t>
            </a:r>
            <a:br/>
            <a:r>
              <a:t>3) 当前特权级（CPL）= CS.RPL</a:t>
            </a:r>
            <a:br/>
            <a:br/>
            <a:r>
              <a:t>特权级检查：</a:t>
            </a:r>
            <a:br/>
            <a:r>
              <a:t>CPU 访问段时，检查 CPL ≤ DPL（数值越小，特权级越高）</a:t>
            </a:r>
            <a:br/>
            <a:r>
              <a:t>例如：用户态（CPL=3）无法访问内核段（DPL=0） → #GP 异常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只用 Ring 0 和 Ring 3（简化）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x86_64 取消了分段机制的保护，只保留了 Ring 0/3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ARM 有 8 个异常级别（EL0-EL3）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用户态 vs 内核态的区别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为什么需要特权级？</a:t>
            </a:r>
            <a:br/>
            <a:r>
              <a:t>1) 保护内核：防止用户程序破坏操作系统（修改内核代码/数据）</a:t>
            </a:r>
            <a:br/>
            <a:r>
              <a:t>2) 资源隔离：用户程序只能通过系统调用访问硬件（文件、网络、内存）</a:t>
            </a:r>
            <a:br/>
            <a:r>
              <a:t>3) 稳定性：用户程序崩溃不会影响内核和其他进程</a:t>
            </a:r>
            <a:br/>
            <a:br/>
            <a:r>
              <a:t>用户态 → 内核态的切换途径：</a:t>
            </a:r>
            <a:br/>
            <a:r>
              <a:t>1) 系统调用（int 0x80）：用户程序主动请求内核服务</a:t>
            </a:r>
            <a:br/>
            <a:r>
              <a:t>2) 中断：硬件中断（时钟、键盘）→ CPU 自动切换到 Ring 0</a:t>
            </a:r>
            <a:br/>
            <a:r>
              <a:t>3) 异常：非法指令、缺页、除零 → CPU 自动切换到 Ring 0</a:t>
            </a:r>
            <a:br/>
            <a:br/>
            <a:r>
              <a:t>内核态 → 用户态的切换：</a:t>
            </a:r>
            <a:br/>
            <a:r>
              <a:t>通过 iret 指令（中断返回），从栈中弹出 CS、EIP、EFLAGS</a:t>
            </a:r>
            <a:br/>
            <a:r>
              <a:t>CPU 检查 CS.RPL = 3 → 自动切换到用户态</a:t>
            </a:r>
            <a:br/>
            <a:br/>
            <a:r>
              <a:t>栈切换问题：</a:t>
            </a:r>
            <a:br/>
            <a:r>
              <a:t>用户态和内核态使用不同的栈（用户栈 vs 内核栈）。</a:t>
            </a:r>
            <a:br/>
            <a:r>
              <a:t>进入内核态时，CPU 自动从 TSS（Task State Segment）中加载内核栈指针（ESP0）。</a:t>
            </a:r>
            <a:br/>
            <a:r>
              <a:t>返回用户态时，CPU 自动恢复用户栈指针（从内核栈中弹出）。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的系统调用：通过软中断（int 0x80 或 syscall 指令）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Windows 的系统调用：通过 sysenter 指令（快速系统调用）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ARM64 的系统调用：通过 svc 指令（Supervisor Call）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TSS 与栈切换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Task State Segment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TSS：任务状态段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TSS（Task State Segment）是 x86 架构用于任务切换的数据结构（104 字节）。现代操作系统不用它做任务切换，只用它存储内核栈地址。</a:t>
            </a:r>
            <a:br/>
            <a:br/>
            <a:r>
              <a:t>TSS 的关键字段：</a:t>
            </a:r>
            <a:br/>
            <a:r>
              <a:t>1) ESP0（偏移 4）：Ring 0 的栈顶指针（内核栈）</a:t>
            </a:r>
            <a:br/>
            <a:r>
              <a:t>2) SS0（偏移 8）：Ring 0 的栈段选择子</a:t>
            </a:r>
            <a:br/>
            <a:r>
              <a:t>3) ESP1、SS1、ESP2、SS2（Ring 1/2 的栈，通常不用）</a:t>
            </a:r>
            <a:br/>
            <a:r>
              <a:t>4) CR3（偏移 28）：页目录表基址（任务切换时自动加载）</a:t>
            </a:r>
            <a:br/>
            <a:r>
              <a:t>5) EIP、ESP、EBP、EAX、...（偏移 32+）：CPU 寄存器快照（任务切换用）</a:t>
            </a:r>
            <a:br/>
            <a:br/>
            <a:r>
              <a:t>为什么需要 TSS？</a:t>
            </a:r>
            <a:br/>
            <a:r>
              <a:t>用户态 → 内核态时，需要切换到内核栈（用户栈不可信）。CPU 自动从 TSS.ESP0 加载内核栈地址。</a:t>
            </a:r>
            <a:br/>
            <a:br/>
            <a:r>
              <a:t>TSS 的加载：</a:t>
            </a:r>
            <a:br/>
            <a:r>
              <a:t>1) 在 GDT 中定义 TSS 描述符（Type=0x89，Base=TSS 地址，Limit=103）</a:t>
            </a:r>
            <a:br/>
            <a:r>
              <a:t>2) 使用 ltr 指令加载 TSS：ltr [TSS选择子]</a:t>
            </a:r>
            <a:br/>
            <a:r>
              <a:t>3) TR 寄存器（Task Register）存储当前 TSS 的选择子</a:t>
            </a:r>
            <a:br/>
            <a:br/>
            <a:r>
              <a:t>进程切换时更新 TSS：</a:t>
            </a:r>
            <a:br/>
            <a:r>
              <a:t>每个进程有独立的内核栈。进程切换时，需要更新 TSS.ESP0 为新进程的内核栈地址。</a:t>
            </a:r>
            <a:br/>
            <a:r>
              <a:t>例如：tss.esp0 = next_thread-&gt;kernel_stack;</a:t>
            </a:r>
            <a:br/>
            <a:br/>
            <a:r>
              <a:t>注意：Linux 只有一个全局 TSS（所有 CPU 共享），每次进程切换更新 ESP0。</a:t>
            </a:r>
            <a:br/>
            <a:r>
              <a:t>Windows 每个进程有独立的 TSS（通过 ltr 切换）。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x86_64 已废弃 TSS 的任务切换功能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x86_64 的 TSS 只用于存储 RSP0（内核栈）和 IST（中断栈）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ARM 没有 TSS，通过软件切换栈（sp_el0/sp_el1）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用户态 → 内核态的栈切换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用户态执行 int 0x80（系统调用）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CPU 检测到特权级变化（CPL=3 → 0），自动执行：</a:t>
            </a:r>
            <a:br/>
            <a:r>
              <a:t>  1) 从 TSS.SS0 和 TSS.ESP0 加载内核栈</a:t>
            </a:r>
            <a:br/>
            <a:r>
              <a:t>  2) 将用户态的 SS、ESP、EFLAGS、CS、EIP 压入内核栈</a:t>
            </a:r>
            <a:br/>
            <a:r>
              <a:t>  3) 跳转到 IDT[0x80] 指定的中断处理程序（Ring 0）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内核栈布局（从低到高）：</a:t>
            </a:r>
            <a:br/>
            <a:r>
              <a:t>  +0: EIP（用户态的返回地址）</a:t>
            </a:r>
            <a:br/>
            <a:r>
              <a:t>  +4: CS（用户态的代码段）</a:t>
            </a:r>
            <a:br/>
            <a:r>
              <a:t>  +8: EFLAGS</a:t>
            </a:r>
            <a:br/>
            <a:r>
              <a:t>  +12: ESP（用户态的栈顶）</a:t>
            </a:r>
            <a:br/>
            <a:r>
              <a:t>  +16: SS（用户态的栈段）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系统调用处理完毕后，执行 iret：</a:t>
            </a:r>
            <a:br/>
            <a:r>
              <a:t>  从栈中弹出 EIP、CS、EFLAGS、ESP、SS</a:t>
            </a:r>
            <a:br/>
            <a:r>
              <a:t>  CPU 检测到 CS.RPL=3 → 自动切换回用户栈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特权级转移流程图（用户态 → 内核态）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从用户态（Ring 3）通过中断进入内核态（Ring 0）的完整过程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47426"/>
            <a:ext cx="308113" cy="308113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362485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362485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用户程序（Ring 3）执行 int 0x80 指令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282725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473615"/>
            <a:ext cx="308113" cy="308113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446429"/>
            <a:ext cx="64008" cy="36248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18488" y="2446429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CPU 查找 IDT[0x80] 中断描述符（DPL=3 允许用户态调用）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808915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2999804"/>
            <a:ext cx="308113" cy="308113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972618"/>
            <a:ext cx="64008" cy="36248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18488" y="2972618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CPU 检查特权级（CPL=3 → DPL=0，需要切换栈）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335104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3525994"/>
            <a:ext cx="308113" cy="308113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498807"/>
            <a:ext cx="64008" cy="362485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18488" y="3498807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CPU 从 TSS 中读取 Ring 0 栈地址（SS0、ESP0）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3861293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4052183"/>
            <a:ext cx="308113" cy="308113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024997"/>
            <a:ext cx="64008" cy="362485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618488" y="4024997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CPU 切换到内核栈，保存用户态现场（SS、ESP、EFLAGS、CS、EIP）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387482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4578372"/>
            <a:ext cx="308113" cy="308113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551186"/>
            <a:ext cx="64008" cy="362485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18488" y="4551186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CPL 变为 0（加载中断处理程序的代码段选择子到 CS）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4913672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4400" y="5104561"/>
            <a:ext cx="308113" cy="308113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077375"/>
            <a:ext cx="64008" cy="362485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618488" y="5077375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跳转到中断处理函数（asm_system_call_handler）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439861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4400" y="5630751"/>
            <a:ext cx="308113" cy="308113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5603564"/>
            <a:ext cx="64008" cy="36248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618488" y="5603564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内核态执行系统调用处理（访问硬件、修改页表等）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55080" y="5966050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14400" y="6156940"/>
            <a:ext cx="308113" cy="308113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6129754"/>
            <a:ext cx="64008" cy="36248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18488" y="6129754"/>
            <a:ext cx="9811512" cy="362485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iret 指令返回（从内核栈恢复用户态现场，CPL 变回 3）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系统调用机制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int 0x80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系统调用的实现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系统调用（System Call）是用户程序请求内核服务的接口。</a:t>
            </a:r>
            <a:br/>
            <a:br/>
            <a:r>
              <a:t>为什么需要系统调用？</a:t>
            </a:r>
            <a:br/>
            <a:r>
              <a:t>用户程序无法直接访问硬件（如文件、网络、显卡），必须通过内核（Ring 0）。</a:t>
            </a:r>
            <a:br/>
            <a:br/>
            <a:r>
              <a:t>Linux 系统调用机制（x86）：</a:t>
            </a:r>
            <a:br/>
            <a:r>
              <a:t>1) 用户程序设置系统调用号（eax）和参数（ebx, ecx, edx, esi, edi）</a:t>
            </a:r>
            <a:br/>
            <a:r>
              <a:t>2) 执行 int 0x80（软中断）</a:t>
            </a:r>
            <a:br/>
            <a:r>
              <a:t>3) CPU 切换到 Ring 0，跳转到系统调用处理程序（system_call）</a:t>
            </a:r>
            <a:br/>
            <a:r>
              <a:t>4) 根据 eax 查找系统调用表（sys_call_table），调用对应的内核函数</a:t>
            </a:r>
            <a:br/>
            <a:r>
              <a:t>5) 内核函数返回结果（eax）</a:t>
            </a:r>
            <a:br/>
            <a:r>
              <a:t>6) iret 返回用户态，用户程序从 eax 中获取返回值</a:t>
            </a:r>
            <a:br/>
            <a:br/>
            <a:r>
              <a:t>系统调用表示例：</a:t>
            </a:r>
            <a:br/>
            <a:r>
              <a:t>void *sys_call_table[] = {</a:t>
            </a:r>
            <a:br/>
            <a:r>
              <a:t>    sys_fork,    // 系统调用号 0</a:t>
            </a:r>
            <a:br/>
            <a:r>
              <a:t>    sys_exit,    // 系统调用号 1</a:t>
            </a:r>
            <a:br/>
            <a:r>
              <a:t>    sys_read,    // 系统调用号 2</a:t>
            </a:r>
            <a:br/>
            <a:r>
              <a:t>    sys_write,   // 系统调用号 3</a:t>
            </a:r>
            <a:br/>
            <a:r>
              <a:t>    ...</a:t>
            </a:r>
            <a:br/>
            <a:r>
              <a:t>};</a:t>
            </a:r>
            <a:br/>
            <a:br/>
            <a:r>
              <a:t>用户态封装示例：</a:t>
            </a:r>
            <a:br/>
            <a:r>
              <a:t>int fork() {</a:t>
            </a:r>
            <a:br/>
            <a:r>
              <a:t>    int ret;</a:t>
            </a:r>
            <a:br/>
            <a:r>
              <a:t>    asm volatile(</a:t>
            </a:r>
            <a:br/>
            <a:r>
              <a:t>        "mov eax, 0\n"  // 系统调用号 0 = fork</a:t>
            </a:r>
            <a:br/>
            <a:r>
              <a:t>        "int 0x80\n"     // 触发系统调用</a:t>
            </a:r>
            <a:br/>
            <a:r>
              <a:t>        "mov %0, eax"     // 返回值存入 ret</a:t>
            </a:r>
            <a:br/>
            <a:r>
              <a:t>        : "=r"(ret)</a:t>
            </a:r>
            <a:br/>
            <a:r>
              <a:t>    );</a:t>
            </a:r>
            <a:br/>
            <a:r>
              <a:t>    return ret;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有 300+ 个系统调用（unistd.h）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x86_64 使用 syscall 指令（更快，不用中断门）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Windows 的系统调用号不公开（通过 ntdll.dll 封装）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系统调用执行流程图（完整过程）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从用户调用到内核执行再返回的完整流程（约几微秒）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44620"/>
            <a:ext cx="276312" cy="276312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325073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325073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用户程序调用 asm_system_call(syscall_num, arg1, ...)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245313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416501"/>
            <a:ext cx="276312" cy="2763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392120"/>
            <a:ext cx="64008" cy="325073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18488" y="2392120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asm_system_call 将参数放入寄存器（eax=号, ebx/ecx/edx/esi/edi=参数）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717194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2888381"/>
            <a:ext cx="276312" cy="2763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864001"/>
            <a:ext cx="64008" cy="325073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18488" y="2864001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执行 int 0x80 触发系统调用中断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189074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3360262"/>
            <a:ext cx="276312" cy="276312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335882"/>
            <a:ext cx="64008" cy="325073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18488" y="3335882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CPU 切换到内核态（从 TSS 加载内核栈，保存用户态现场）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3660955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3832143"/>
            <a:ext cx="276312" cy="276312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807762"/>
            <a:ext cx="64008" cy="325073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618488" y="3807762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跳转到 asm_system_call_handler（中断处理函数）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132836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4304024"/>
            <a:ext cx="276312" cy="27631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279643"/>
            <a:ext cx="64008" cy="325073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18488" y="4279643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从 eax 读取系统调用号，查找 system_call_table[eax]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4604717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4400" y="4775904"/>
            <a:ext cx="276312" cy="276312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4751524"/>
            <a:ext cx="64008" cy="325073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618488" y="4751524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调用对应的系统调用函数（如 syscall_write）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076597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4400" y="5247785"/>
            <a:ext cx="276312" cy="27631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5223405"/>
            <a:ext cx="64008" cy="325073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618488" y="5223405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系统调用函数执行（访问硬件、修改数据结构等）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55080" y="5548478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14400" y="5719666"/>
            <a:ext cx="276312" cy="2763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5695285"/>
            <a:ext cx="64008" cy="325073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18488" y="5695285"/>
            <a:ext cx="9811512" cy="325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返回值存入 eax，执行 iret 返回用户态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6355080" y="6020359"/>
            <a:ext cx="274320" cy="146807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14400" y="6191547"/>
            <a:ext cx="276312" cy="276312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54480" y="6167166"/>
            <a:ext cx="64008" cy="325073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618488" y="6167166"/>
            <a:ext cx="9811512" cy="325073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用户程序从 eax 读取返回值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进程创建：fork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复制父进程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fork 系统调用的实现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fork() 创建子进程，子进程是父进程的副本：</a:t>
            </a:r>
            <a:br/>
            <a:br/>
            <a:r>
              <a:t>1) 分配新的 PCB（进程控制块）和 PID</a:t>
            </a:r>
            <a:br/>
            <a:r>
              <a:t>2) 复制父进程的内存空间（代码段、数据段、堆、栈）</a:t>
            </a:r>
            <a:br/>
            <a:r>
              <a:t>   - 实际上使用写时复制（Copy-On-Write, COW）：先共享物理页，写入时再复制</a:t>
            </a:r>
            <a:br/>
            <a:r>
              <a:t>3) 复制父进程的页表（虚拟地址 → 物理地址的映射）</a:t>
            </a:r>
            <a:br/>
            <a:r>
              <a:t>4) 复制父进程的文件描述符表（打开的文件）</a:t>
            </a:r>
            <a:br/>
            <a:r>
              <a:t>5) 设置子进程的初始寄存器状态（从父进程的中断栈复制）</a:t>
            </a:r>
            <a:br/>
            <a:r>
              <a:t>6) 将子进程加入就绪队列</a:t>
            </a:r>
            <a:br/>
            <a:br/>
            <a:r>
              <a:t>fork 的返回值：</a:t>
            </a:r>
            <a:br/>
            <a:r>
              <a:t>父进程：返回子进程的 PID（&gt; 0）</a:t>
            </a:r>
            <a:br/>
            <a:r>
              <a:t>子进程：返回 0</a:t>
            </a:r>
            <a:br/>
            <a:r>
              <a:t>出错：返回 -1</a:t>
            </a:r>
            <a:br/>
            <a:br/>
            <a:r>
              <a:t>为什么 fork 返回两次？</a:t>
            </a:r>
            <a:br/>
            <a:r>
              <a:t>fork 在内核态执行，完成后有两个进程：</a:t>
            </a:r>
            <a:br/>
            <a:r>
              <a:t>1) 父进程从 fork 返回（eax = 子进程 PID）</a:t>
            </a:r>
            <a:br/>
            <a:r>
              <a:t>2) 子进程从 fork 返回（eax = 0，由内核设置）</a:t>
            </a:r>
            <a:br/>
            <a:br/>
            <a:r>
              <a:t>两个进程的区别：</a:t>
            </a:r>
            <a:br/>
            <a:r>
              <a:t>1) PID 不同</a:t>
            </a:r>
            <a:br/>
            <a:r>
              <a:t>2) fork 返回值不同（父进程 &gt; 0，子进程 = 0）</a:t>
            </a:r>
            <a:br/>
            <a:r>
              <a:t>3) 父子进程的内存独立（修改不影响对方，COW）</a:t>
            </a:r>
            <a:br/>
            <a:br/>
            <a:r>
              <a:t>典型用法：</a:t>
            </a:r>
            <a:br/>
            <a:r>
              <a:t>int pid = fork();</a:t>
            </a:r>
            <a:br/>
            <a:r>
              <a:t>if (pid == 0) {</a:t>
            </a:r>
            <a:br/>
            <a:r>
              <a:t>    // 子进程代码</a:t>
            </a:r>
            <a:br/>
            <a:r>
              <a:t>    exec("/bin/ls"); // 加载新程序</a:t>
            </a:r>
            <a:br/>
            <a:r>
              <a:t>} else if (pid &gt; 0) {</a:t>
            </a:r>
            <a:br/>
            <a:r>
              <a:t>    // 父进程代码</a:t>
            </a:r>
            <a:br/>
            <a:r>
              <a:t>    wait(pid); // 等待子进程结束</a:t>
            </a:r>
            <a:br/>
            <a:r>
              <a:t>} else {</a:t>
            </a:r>
            <a:br/>
            <a:r>
              <a:t>    // 出错处理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的 fork：完全复制（COW 优化）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vfork：共享内存（子进程先执行，父进程阻塞）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clone：更灵活的进程/线程创建（可选择共享哪些资源）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fork 系统调用执行流程图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fork() 在内核态执行的完整过程：复制 → 设置 → 返回两次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55555"/>
            <a:ext cx="400239" cy="400239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47087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47087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分配新的 PCB（进程控制块）并设置子进程 PID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391110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639076"/>
            <a:ext cx="400239" cy="400239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603761"/>
            <a:ext cx="64008" cy="47087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18488" y="2603761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复制父进程的页目录表（3GB 以下映射）到子进程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3074632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322598"/>
            <a:ext cx="400239" cy="400239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287283"/>
            <a:ext cx="64008" cy="47087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18488" y="3287283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复制父进程的用户空间数据（代码段、数据段、堆、栈）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758153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4006120"/>
            <a:ext cx="400239" cy="400239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970804"/>
            <a:ext cx="64008" cy="47087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18488" y="3970804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设置子进程内核栈（复制父进程的中断栈帧）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4441675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4689641"/>
            <a:ext cx="400239" cy="400239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654326"/>
            <a:ext cx="64008" cy="47087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618488" y="4654326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设置子进程 eax=0（fork 返回值），父进程 eax=子进程 PID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5125196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5373163"/>
            <a:ext cx="400239" cy="400239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337847"/>
            <a:ext cx="64008" cy="47087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18488" y="5337847"/>
            <a:ext cx="9811512" cy="4708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将子进程加入就绪队列（状态 = READY）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5808718"/>
            <a:ext cx="274320" cy="212651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4400" y="6056684"/>
            <a:ext cx="400239" cy="400239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6021369"/>
            <a:ext cx="64008" cy="47087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618488" y="6021369"/>
            <a:ext cx="9811512" cy="47087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bIns="36576" rtlCol="0" anchor="ctr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父子进程分别从 fork 返回（各自的 eax 值不同）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进程状态转换图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进程从创建到回收的完整生命周期（含僵尸状态）</a:t>
            </a:r>
          </a:p>
        </p:txBody>
      </p:sp>
      <p:sp>
        <p:nvSpPr>
          <p:cNvPr id="8" name="Oval 7"/>
          <p:cNvSpPr/>
          <p:nvPr/>
        </p:nvSpPr>
        <p:spPr>
          <a:xfrm>
            <a:off x="1478127" y="2743200"/>
            <a:ext cx="1005840" cy="1005840"/>
          </a:xfrm>
          <a:prstGeom prst="ellipse">
            <a:avLst/>
          </a:prstGeom>
          <a:solidFill>
            <a:srgbClr val="1A73E8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NEW</a:t>
            </a:r>
          </a:p>
        </p:txBody>
      </p:sp>
      <p:sp>
        <p:nvSpPr>
          <p:cNvPr id="9" name="Oval 8"/>
          <p:cNvSpPr/>
          <p:nvPr/>
        </p:nvSpPr>
        <p:spPr>
          <a:xfrm>
            <a:off x="3124047" y="2743200"/>
            <a:ext cx="1005840" cy="1005840"/>
          </a:xfrm>
          <a:prstGeom prst="ellipse">
            <a:avLst/>
          </a:prstGeom>
          <a:solidFill>
            <a:srgbClr val="006633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READY</a:t>
            </a:r>
          </a:p>
        </p:txBody>
      </p:sp>
      <p:sp>
        <p:nvSpPr>
          <p:cNvPr id="10" name="Oval 9"/>
          <p:cNvSpPr/>
          <p:nvPr/>
        </p:nvSpPr>
        <p:spPr>
          <a:xfrm>
            <a:off x="4769967" y="2743200"/>
            <a:ext cx="1005840" cy="1005840"/>
          </a:xfrm>
          <a:prstGeom prst="ellipse">
            <a:avLst/>
          </a:prstGeom>
          <a:solidFill>
            <a:srgbClr val="009688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RUNNING</a:t>
            </a:r>
          </a:p>
        </p:txBody>
      </p:sp>
      <p:sp>
        <p:nvSpPr>
          <p:cNvPr id="11" name="Oval 10"/>
          <p:cNvSpPr/>
          <p:nvPr/>
        </p:nvSpPr>
        <p:spPr>
          <a:xfrm>
            <a:off x="6415887" y="2743200"/>
            <a:ext cx="1005840" cy="1005840"/>
          </a:xfrm>
          <a:prstGeom prst="ellipse">
            <a:avLst/>
          </a:prstGeom>
          <a:solidFill>
            <a:srgbClr val="E65C00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BLOCKED</a:t>
            </a:r>
          </a:p>
        </p:txBody>
      </p:sp>
      <p:sp>
        <p:nvSpPr>
          <p:cNvPr id="12" name="Oval 11"/>
          <p:cNvSpPr/>
          <p:nvPr/>
        </p:nvSpPr>
        <p:spPr>
          <a:xfrm>
            <a:off x="8061807" y="2743200"/>
            <a:ext cx="1005840" cy="1005840"/>
          </a:xfrm>
          <a:prstGeom prst="ellipse">
            <a:avLst/>
          </a:prstGeom>
          <a:solidFill>
            <a:srgbClr val="7B1FA2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ZOMBIE</a:t>
            </a:r>
          </a:p>
        </p:txBody>
      </p:sp>
      <p:sp>
        <p:nvSpPr>
          <p:cNvPr id="13" name="Oval 12"/>
          <p:cNvSpPr/>
          <p:nvPr/>
        </p:nvSpPr>
        <p:spPr>
          <a:xfrm>
            <a:off x="9707727" y="2743200"/>
            <a:ext cx="1005840" cy="100584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DEAD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83967" y="3136392"/>
            <a:ext cx="640080" cy="219456"/>
          </a:xfrm>
          <a:prstGeom prst="rightArrow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83967" y="28986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</a:defRPr>
            </a:pPr>
            <a:r>
              <a:t>fork/创建完成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29887" y="3136392"/>
            <a:ext cx="640080" cy="219456"/>
          </a:xfrm>
          <a:prstGeom prst="rightArrow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29887" y="28986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</a:defRPr>
            </a:pPr>
            <a:r>
              <a:t>schedule 调度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29887" y="3931920"/>
            <a:ext cx="64008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29887" y="39776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62828"/>
                </a:solidFill>
              </a:defRPr>
            </a:pPr>
            <a:r>
              <a:t>时间片用完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75807" y="3136392"/>
            <a:ext cx="640080" cy="219456"/>
          </a:xfrm>
          <a:prstGeom prst="rightArrow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75807" y="28986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</a:defRPr>
            </a:pPr>
            <a:r>
              <a:t>wait/IO等待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26967" y="4297680"/>
            <a:ext cx="3291840" cy="3657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26967" y="4343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5C00"/>
                </a:solidFill>
              </a:defRPr>
            </a:pPr>
            <a:r>
              <a:t>子进程exit/IO完成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2887" y="2194560"/>
            <a:ext cx="329184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2887" y="19202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</a:defRPr>
            </a:pPr>
            <a:r>
              <a:t>exit(status)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67647" y="3136392"/>
            <a:ext cx="640080" cy="219456"/>
          </a:xfrm>
          <a:prstGeom prst="rightArrow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67647" y="28986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</a:defRPr>
            </a:pPr>
            <a:r>
              <a:t>父进程 wait 回收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进程等待与退出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wait / exit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wait 与 exit 系统调用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88136"/>
            <a:ext cx="10515600" cy="547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rPr sz="1600" dirty="0"/>
              <a:t>wait(</a:t>
            </a:r>
            <a:r>
              <a:rPr sz="1600" dirty="0" err="1"/>
              <a:t>pid</a:t>
            </a:r>
            <a:r>
              <a:rPr sz="1600" dirty="0"/>
              <a:t>)：</a:t>
            </a:r>
            <a:r>
              <a:rPr sz="1600" dirty="0" err="1"/>
              <a:t>等待子进程结束</a:t>
            </a:r>
            <a:br>
              <a:rPr sz="1600" dirty="0"/>
            </a:br>
            <a:r>
              <a:rPr sz="1600" dirty="0"/>
              <a:t>  1) </a:t>
            </a:r>
            <a:r>
              <a:rPr sz="1600" dirty="0" err="1"/>
              <a:t>父进程调用</a:t>
            </a:r>
            <a:r>
              <a:rPr sz="1600" dirty="0"/>
              <a:t> wait(</a:t>
            </a:r>
            <a:r>
              <a:rPr sz="1600" dirty="0" err="1"/>
              <a:t>子进程PID</a:t>
            </a:r>
            <a:r>
              <a:rPr sz="1600" dirty="0"/>
              <a:t>)</a:t>
            </a:r>
            <a:br>
              <a:rPr sz="1600" dirty="0"/>
            </a:br>
            <a:r>
              <a:rPr sz="1600" dirty="0"/>
              <a:t>  2) </a:t>
            </a:r>
            <a:r>
              <a:rPr sz="1600" dirty="0" err="1"/>
              <a:t>如果子进程已结束（ZOMBIE</a:t>
            </a:r>
            <a:r>
              <a:rPr sz="1600" dirty="0"/>
              <a:t> </a:t>
            </a:r>
            <a:r>
              <a:rPr sz="1600" dirty="0" err="1"/>
              <a:t>状态</a:t>
            </a:r>
            <a:r>
              <a:rPr sz="1600" dirty="0"/>
              <a:t>），</a:t>
            </a:r>
            <a:r>
              <a:rPr sz="1600" dirty="0" err="1"/>
              <a:t>回收资源并返回</a:t>
            </a:r>
            <a:br>
              <a:rPr sz="1600" dirty="0"/>
            </a:br>
            <a:r>
              <a:rPr sz="1600" dirty="0"/>
              <a:t>  3) </a:t>
            </a:r>
            <a:r>
              <a:rPr sz="1600" dirty="0" err="1"/>
              <a:t>如果子进程未结束，父进程阻塞（状态</a:t>
            </a:r>
            <a:r>
              <a:rPr sz="1600" dirty="0"/>
              <a:t> = BLOCKED），</a:t>
            </a:r>
            <a:r>
              <a:rPr sz="1600" dirty="0" err="1"/>
              <a:t>加入等待队列</a:t>
            </a:r>
            <a:br>
              <a:rPr sz="1600" dirty="0"/>
            </a:br>
            <a:r>
              <a:rPr sz="1600" dirty="0"/>
              <a:t>  4) </a:t>
            </a:r>
            <a:r>
              <a:rPr sz="1600" dirty="0" err="1"/>
              <a:t>子进程结束时（调用</a:t>
            </a:r>
            <a:r>
              <a:rPr sz="1600" dirty="0"/>
              <a:t> exit），</a:t>
            </a:r>
            <a:r>
              <a:rPr sz="1600" dirty="0" err="1"/>
              <a:t>唤醒父进程</a:t>
            </a:r>
            <a:endParaRPr sz="16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rPr sz="1600" dirty="0"/>
              <a:t>exit(status)：</a:t>
            </a:r>
            <a:r>
              <a:rPr sz="1600" dirty="0" err="1"/>
              <a:t>进程退出</a:t>
            </a:r>
            <a:br>
              <a:rPr sz="1600" dirty="0"/>
            </a:br>
            <a:r>
              <a:rPr sz="1600" dirty="0"/>
              <a:t>  1) </a:t>
            </a:r>
            <a:r>
              <a:rPr sz="1600" dirty="0" err="1"/>
              <a:t>设置进程状态为</a:t>
            </a:r>
            <a:r>
              <a:rPr sz="1600" dirty="0"/>
              <a:t> DEAD</a:t>
            </a:r>
            <a:br>
              <a:rPr sz="1600" dirty="0"/>
            </a:br>
            <a:r>
              <a:rPr sz="1600" dirty="0"/>
              <a:t>  2) </a:t>
            </a:r>
            <a:r>
              <a:rPr sz="1600" dirty="0" err="1"/>
              <a:t>释放内存（代码段、数据段、堆、栈、页表</a:t>
            </a:r>
            <a:r>
              <a:rPr sz="1600" dirty="0"/>
              <a:t>）</a:t>
            </a:r>
            <a:br>
              <a:rPr sz="1600" dirty="0"/>
            </a:br>
            <a:r>
              <a:rPr sz="1600" dirty="0"/>
              <a:t>  3) </a:t>
            </a:r>
            <a:r>
              <a:rPr sz="1600" dirty="0" err="1"/>
              <a:t>关闭所有打开的文件</a:t>
            </a:r>
            <a:br>
              <a:rPr sz="1600" dirty="0"/>
            </a:br>
            <a:r>
              <a:rPr sz="1600" dirty="0"/>
              <a:t>  4) </a:t>
            </a:r>
            <a:r>
              <a:rPr sz="1600" dirty="0" err="1"/>
              <a:t>如果有父进程在</a:t>
            </a:r>
            <a:r>
              <a:rPr sz="1600" dirty="0"/>
              <a:t> </a:t>
            </a:r>
            <a:r>
              <a:rPr sz="1600" dirty="0" err="1"/>
              <a:t>wait，唤醒父进程</a:t>
            </a:r>
            <a:br>
              <a:rPr sz="1600" dirty="0"/>
            </a:br>
            <a:r>
              <a:rPr sz="1600" dirty="0"/>
              <a:t>  5) </a:t>
            </a:r>
            <a:r>
              <a:rPr sz="1600" dirty="0" err="1"/>
              <a:t>如果没有父进程，进入</a:t>
            </a:r>
            <a:r>
              <a:rPr sz="1600" dirty="0"/>
              <a:t> ZOMBIE </a:t>
            </a:r>
            <a:r>
              <a:rPr sz="1600" dirty="0" err="1"/>
              <a:t>状态（等待</a:t>
            </a:r>
            <a:r>
              <a:rPr sz="1600" dirty="0"/>
              <a:t> </a:t>
            </a:r>
            <a:r>
              <a:rPr sz="1600" dirty="0" err="1"/>
              <a:t>init</a:t>
            </a:r>
            <a:r>
              <a:rPr sz="1600" dirty="0"/>
              <a:t> </a:t>
            </a:r>
            <a:r>
              <a:rPr sz="1600" dirty="0" err="1"/>
              <a:t>进程回收</a:t>
            </a:r>
            <a:r>
              <a:rPr sz="1600" dirty="0"/>
              <a:t>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rPr sz="1600" dirty="0" err="1"/>
              <a:t>僵尸进程（Zombie</a:t>
            </a:r>
            <a:r>
              <a:rPr sz="1600" dirty="0"/>
              <a:t> Process）：</a:t>
            </a:r>
            <a:br>
              <a:rPr sz="1600" dirty="0"/>
            </a:br>
            <a:r>
              <a:rPr sz="1600" dirty="0"/>
              <a:t>  </a:t>
            </a:r>
            <a:r>
              <a:rPr sz="1600" dirty="0" err="1"/>
              <a:t>进程已结束，但</a:t>
            </a:r>
            <a:r>
              <a:rPr sz="1600" dirty="0"/>
              <a:t> PCB </a:t>
            </a:r>
            <a:r>
              <a:rPr sz="1600" dirty="0" err="1"/>
              <a:t>未被回收（等待父进程调用</a:t>
            </a:r>
            <a:r>
              <a:rPr sz="1600" dirty="0"/>
              <a:t> wait）</a:t>
            </a:r>
            <a:br>
              <a:rPr sz="1600" dirty="0"/>
            </a:br>
            <a:r>
              <a:rPr sz="1600" dirty="0"/>
              <a:t>  </a:t>
            </a:r>
            <a:r>
              <a:rPr sz="1600" dirty="0" err="1"/>
              <a:t>如果父进程不调用</a:t>
            </a:r>
            <a:r>
              <a:rPr sz="1600" dirty="0"/>
              <a:t> </a:t>
            </a:r>
            <a:r>
              <a:rPr sz="1600" dirty="0" err="1"/>
              <a:t>wait，僵尸进程一直存在（占用</a:t>
            </a:r>
            <a:r>
              <a:rPr sz="1600" dirty="0"/>
              <a:t> PID）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rPr sz="1600" dirty="0" err="1"/>
              <a:t>孤儿进程（Orphan</a:t>
            </a:r>
            <a:r>
              <a:rPr sz="1600" dirty="0"/>
              <a:t> Process）：</a:t>
            </a:r>
            <a:br>
              <a:rPr sz="1600" dirty="0"/>
            </a:br>
            <a:r>
              <a:rPr sz="1600" dirty="0"/>
              <a:t>  </a:t>
            </a:r>
            <a:r>
              <a:rPr sz="1600" dirty="0" err="1"/>
              <a:t>父进程先于子进程结束</a:t>
            </a:r>
            <a:r>
              <a:rPr sz="1600" dirty="0"/>
              <a:t> → </a:t>
            </a:r>
            <a:r>
              <a:rPr sz="1600" dirty="0" err="1"/>
              <a:t>子进程成为孤儿</a:t>
            </a:r>
            <a:br>
              <a:rPr sz="1600" dirty="0"/>
            </a:br>
            <a:r>
              <a:rPr sz="1600" dirty="0"/>
              <a:t>  </a:t>
            </a:r>
            <a:r>
              <a:rPr sz="1600" dirty="0" err="1"/>
              <a:t>init</a:t>
            </a:r>
            <a:r>
              <a:rPr sz="1600" dirty="0"/>
              <a:t> </a:t>
            </a:r>
            <a:r>
              <a:rPr sz="1600" dirty="0" err="1"/>
              <a:t>进程（PID</a:t>
            </a:r>
            <a:r>
              <a:rPr sz="1600" dirty="0"/>
              <a:t>=1）自动成为孤儿进程的父进程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用户态与内核态地址空间架构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Linux 经典 3GB/1GB 虚拟地址空间划分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093976"/>
            <a:ext cx="9144000" cy="822960"/>
          </a:xfrm>
          <a:prstGeom prst="roundRect">
            <a:avLst/>
          </a:prstGeom>
          <a:solidFill>
            <a:srgbClr val="1A73E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用户空间（0x00000000 ~ 0xBFFFFFFF，3GB）</a:t>
            </a:r>
          </a:p>
          <a:p>
            <a:pPr algn="ctr">
              <a:spcBef>
                <a:spcPts val="200"/>
              </a:spcBef>
              <a:defRPr sz="1200">
                <a:solidFill>
                  <a:srgbClr val="E0E0E0"/>
                </a:solidFill>
              </a:defRPr>
            </a:pPr>
            <a:r>
              <a:t>代码段 / 数据段 / 堆 / 栈 —— 每个进程独立，通过页表隔离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2990088"/>
            <a:ext cx="9144000" cy="822960"/>
          </a:xfrm>
          <a:prstGeom prst="roundRect">
            <a:avLst/>
          </a:prstGeom>
          <a:solidFill>
            <a:srgbClr val="E65C0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系统调用接口（int 0x80 / syscall）</a:t>
            </a:r>
          </a:p>
          <a:p>
            <a:pPr algn="ctr">
              <a:spcBef>
                <a:spcPts val="200"/>
              </a:spcBef>
              <a:defRPr sz="1200">
                <a:solidFill>
                  <a:srgbClr val="E0E0E0"/>
                </a:solidFill>
              </a:defRPr>
            </a:pPr>
            <a:r>
              <a:t>参数通过寄存器传递（eax=调用号, ebx/ecx/edx=参数）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886200"/>
            <a:ext cx="9144000" cy="822960"/>
          </a:xfrm>
          <a:prstGeom prst="roundRect">
            <a:avLst/>
          </a:prstGeom>
          <a:solidFill>
            <a:srgbClr val="006633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内核空间（0xC0000000 ~ 0xFFFFFFFF，1GB）</a:t>
            </a:r>
          </a:p>
          <a:p>
            <a:pPr algn="ctr">
              <a:spcBef>
                <a:spcPts val="200"/>
              </a:spcBef>
              <a:defRPr sz="1200">
                <a:solidFill>
                  <a:srgbClr val="E0E0E0"/>
                </a:solidFill>
              </a:defRPr>
            </a:pPr>
            <a:r>
              <a:t>所有进程共享 —— 内核代码 / 内核数据 / 内核栈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782312"/>
            <a:ext cx="9144000" cy="822960"/>
          </a:xfrm>
          <a:prstGeom prst="roundRect">
            <a:avLst/>
          </a:prstGeom>
          <a:solidFill>
            <a:srgbClr val="00968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进程管理子系统</a:t>
            </a:r>
          </a:p>
          <a:p>
            <a:pPr algn="ctr">
              <a:spcBef>
                <a:spcPts val="200"/>
              </a:spcBef>
              <a:defRPr sz="1200">
                <a:solidFill>
                  <a:srgbClr val="E0E0E0"/>
                </a:solidFill>
              </a:defRPr>
            </a:pPr>
            <a:r>
              <a:t>PCB / 就绪队列 / 调度器 / fork / wait / exit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5678424"/>
            <a:ext cx="9144000" cy="822960"/>
          </a:xfrm>
          <a:prstGeom prst="roundRect">
            <a:avLst/>
          </a:prstGeom>
          <a:solidFill>
            <a:srgbClr val="7B1FA2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硬件抽象层（HAL）</a:t>
            </a:r>
          </a:p>
          <a:p>
            <a:pPr algn="ctr">
              <a:spcBef>
                <a:spcPts val="200"/>
              </a:spcBef>
              <a:defRPr sz="1200">
                <a:solidFill>
                  <a:srgbClr val="E0E0E0"/>
                </a:solidFill>
              </a:defRPr>
            </a:pPr>
            <a:r>
              <a:t>TSS / GDT / IDT / 页表 / I/O 端口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实验任务 (Assignment)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DDL: 2026.06.10 23:59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实验环境与提交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DDL: 2026.06.10 23:59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提交内容：4个Assignment代码 + 实验报告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压缩包命名：lab8-姓名-学号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Assignment 1-3 为必做（共100分），Assignment 4 为选做加分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实验不限：语言（C/C++/Rust）、平台（含银河麒麟ARM64）、CPU架构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1: 系统调用与特权级转换（35分）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1.1 复现系统调用并分析特权级机制（20分）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复现src/1或src/2的系统调用代码，编写至少2个自定义系统调用（不含已有的syscall_0）：</a:t>
            </a:r>
            <a:br/>
            <a:r>
              <a:t>• 例如：一个返回两个整数的最大值，一个计算阶乘</a:t>
            </a:r>
            <a:br/>
            <a:r>
              <a:t>在进程中调用并打印参数和返回值，截图展示正确性。</a:t>
            </a:r>
            <a:br/>
            <a:r>
              <a:t>结合代码逐步分析系统调用的完整执行流程：</a:t>
            </a:r>
            <a:br/>
            <a:r>
              <a:t>• 用户态：asm_system_call如何将参数放入寄存器并执行int 0x80</a:t>
            </a:r>
            <a:br/>
            <a:r>
              <a:t>• 特权级转移：CPU如何从TSS获取内核栈地址，如何切换SS/ESP</a:t>
            </a:r>
            <a:br/>
            <a:r>
              <a:t>• 内核态：asm_system_call_handler如何根据eax查找系统调用表并调用</a:t>
            </a:r>
            <a:br/>
            <a:r>
              <a:t>• 返回：iret如何恢复用户态的CS/EIP/SS/ESP/EFLAGS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1.2 GDB分析栈与段寄存器变化（15分）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使用GDB调试src/3（第一个进程），在int 0x80前后设置断点，回答：</a:t>
            </a:r>
            <a:br/>
            <a:r>
              <a:t>1) 执行int 0x80之前，CS、SS、ESP、EIP的值？CPL是多少？</a:t>
            </a:r>
            <a:br/>
            <a:r>
              <a:t>2) 进入asm_system_call_handler后，CS、SS、ESP如何变化？新的SS和ESP来自哪里？</a:t>
            </a:r>
            <a:br/>
            <a:r>
              <a:t>3) 执行iret之后，CS、SS、ESP恢复为什么值？这些值保存在哪里？</a:t>
            </a:r>
            <a:br/>
            <a:r>
              <a:t>4) 解释TSS中esp0和ss0字段在上述过程中的具体作用</a:t>
            </a:r>
            <a:br/>
            <a:r>
              <a:t>银河麒麟ARM64：使用QEMU Monitor（make monitor + info registers）代替GDB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2: 进程创建与Fork（35分）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2.1 进程的创建过程分析（15分）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复现src/3，在内核线程中创建多个用户进程（至少3个），截图展示运行结果。</a:t>
            </a:r>
            <a:br/>
            <a:r>
              <a:t>结合代码分析进程创建的三步方案：</a:t>
            </a:r>
            <a:br/>
            <a:r>
              <a:t>• 第一步：如何在线程PCB基础上扩展进程PCB（分配虚拟地址空间、页目录表）</a:t>
            </a:r>
            <a:br/>
            <a:r>
              <a:t>• 第二步：如何设置ProcessStartStack使asm_start_process能通过iret跳转到用户态</a:t>
            </a:r>
            <a:br/>
            <a:r>
              <a:t>• 第三步：schedule中如何实现页目录表切换（CR3切换）</a:t>
            </a:r>
            <a:br/>
            <a:r>
              <a:t>解释为什么线程的pageDirectoryAddress为0而进程的不为0。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2.2 Fork的实现与分析（20分）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复现src/4，编写进程调用fork()，父子进程分别打印不同信息（含pid和fork返回值）。</a:t>
            </a:r>
            <a:br/>
            <a:r>
              <a:t>结合代码分析fork如何解决四个关键问题：</a:t>
            </a:r>
            <a:br/>
            <a:r>
              <a:t>• 如何为子进程创建独立的虚拟地址空间（页目录表复制）</a:t>
            </a:r>
            <a:br/>
            <a:r>
              <a:t>• 如何复制父进程的用户空间数据到子进程</a:t>
            </a:r>
            <a:br/>
            <a:r>
              <a:t>• 如何设置子进程的内核栈，使其第一次被调度时能正确运行</a:t>
            </a:r>
            <a:br/>
            <a:r>
              <a:t>• 如何保证父进程fork返回子进程pid，子进程fork返回0</a:t>
            </a:r>
            <a:br/>
            <a:r>
              <a:t>使用GDB/QEMU Monitor跟踪子进程第一次被调度执行的过程。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3: Wait/Exit与进程生命周期（30分）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3.1 Exit的实现与分析（12分）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复现src/5，子进程显式调用exit(42)。结合代码分析exit完整执行过程：</a:t>
            </a:r>
            <a:br/>
            <a:r>
              <a:t>• 进程资源（物理页、虚拟页、页目录表）如何被释放</a:t>
            </a:r>
            <a:br/>
            <a:r>
              <a:t>• 进程状态如何从RUNNING变为DEAD</a:t>
            </a:r>
            <a:br/>
            <a:r>
              <a:t>• 为什么exit最后调用schedule后该进程不会再被调度</a:t>
            </a:r>
            <a:br/>
            <a:r>
              <a:t>解释first_process正常返回时为什么会隐式调用exit（提示：ProcessStartStack的返回地址）。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3.2 Wait的实现与父子进程同步（10分）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复现src/6，创建父进程fork出至少2个子进程，每个子进程以不同返回值调用exit。</a:t>
            </a:r>
            <a:br/>
            <a:r>
              <a:t>父进程循环调用wait收集所有子进程退出状态，验证wait返回的pid和退出值是否正确。</a:t>
            </a:r>
            <a:br/>
            <a:r>
              <a:t>结合代码分析：父进程如何遍历子进程列表寻找DEAD状态子进程，</a:t>
            </a:r>
            <a:br/>
            <a:r>
              <a:t>找到后如何回收PCB资源，未找到时如何进入阻塞等待。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3.3 僵尸进程与孤儿进程处理（8分）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对代码做出修改，实现至少一种方案：</a:t>
            </a:r>
            <a:br/>
            <a:r>
              <a:t>• 方案A：实现init进程（pid=1），所有孤儿进程自动托管给init回收</a:t>
            </a:r>
            <a:br/>
            <a:r>
              <a:t>• 方案B：父进程退出时自动回收DEAD子进程，存活子进程托管给其他进程</a:t>
            </a:r>
            <a:br/>
            <a:r>
              <a:t>• 方案C：其他合理的僵尸进程回收方案</a:t>
            </a:r>
            <a:br/>
            <a:r>
              <a:t>自行测试并截图展示结果，说明实现思路。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4: 选做加分（最高15分）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4.1 新增系统调用：getpid和sleep（5分）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实现两个新的系统调用：</a:t>
            </a:r>
            <a:br/>
            <a:r>
              <a:t>• int getpid()：返回当前进程的pid</a:t>
            </a:r>
            <a:br/>
            <a:r>
              <a:t>• void sleep(int ticks)：使当前进程阻塞指定时钟周期数后自动唤醒</a:t>
            </a:r>
            <a:br/>
            <a:r>
              <a:t>在用户进程中测试，打印各进程pid，通过sleep实现进程间简单同步。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4.2 进程调度策略改进（5分）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实现以下调度策略之一：</a:t>
            </a:r>
            <a:br/>
            <a:r>
              <a:t>• 优先级调度：选择优先级最高的就绪进程</a:t>
            </a:r>
            <a:br/>
            <a:r>
              <a:t>• 多级反馈队列：2-3个优先级队列，时间片用完降级</a:t>
            </a:r>
            <a:br/>
            <a:r>
              <a:t>• 短作业优先（SJF）模拟：根据历史执行时间估计</a:t>
            </a:r>
            <a:br/>
            <a:r>
              <a:t>在用户进程中演示效果，对比改进前后的调度行为。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4.3 Shell功能增强（5分）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在src/7的Shell基础上，增加以下功能中的至少两个：</a:t>
            </a:r>
            <a:br/>
            <a:r>
              <a:t>• ps命令：显示所有进程/线程的pid、状态、优先级</a:t>
            </a:r>
            <a:br/>
            <a:r>
              <a:t>• kill &lt;pid&gt;：向指定进程发送终止信号</a:t>
            </a:r>
            <a:br/>
            <a:r>
              <a:t>• exec &lt;name&gt;：执行预定义的'程序'（函数指针映射）</a:t>
            </a:r>
            <a:br/>
            <a:r>
              <a:t>• 命令历史记录：支持上下键浏览历史命令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思考题（写在实验报告中）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1. 为什么系统调用使用寄存器传递参数而不是使用栈？如果要支持超过5个参数，应如何设计？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2. 在schedule中切换进程页目录表（CR3）时，为什么不会导致代码执行出错？</a:t>
            </a:r>
            <a:br/>
            <a:r>
              <a:t>   提示：考虑3GB以上的内核共享空间。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3. Fork出的子进程与父进程共享代码段。如果实现Copy-on-Write（写时复制），</a:t>
            </a:r>
            <a:br/>
            <a:r>
              <a:t>   需要修改哪些数据结构和函数？大致描述实现思路。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4. 在Linux中，fork+exec是创建新进程并运行新程序的标准方式。</a:t>
            </a:r>
            <a:br/>
            <a:r>
              <a:t>   为什么不直接提供一个spawn系统调用，而是分成两步？这种设计有什么优势？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33"/>
                </a:solidFill>
              </a:defRPr>
            </a:pPr>
            <a:r>
              <a:t>本次实验总结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理解特权级（Ring 0 内核态 / Ring 3 用户态）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 TSS（Task State Segment）与栈切换原理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实现系统调用机制（int 0x80）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实现进程创建（fork 系统调用）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实现进程等待与退出（wait / exit）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完成 Assignment 1-3（系统调用、进程创建、wait/exit）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中山大学计算机学院 陈鹏飞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1057</Words>
  <Application>Microsoft Macintosh PowerPoint</Application>
  <PresentationFormat>宽屏</PresentationFormat>
  <Paragraphs>219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2026-02-09T03:58:02Z</dcterms:modified>
  <cp:category/>
</cp:coreProperties>
</file>