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BB88"/>
                </a:solidFill>
              </a:defRPr>
            </a:pPr>
            <a:r>
              <a:t>中山大学 计算机学院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操作系统实验课程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Lab 2：实验入门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AAAA"/>
                </a:solidFill>
              </a:defRPr>
            </a:pPr>
            <a:r>
              <a:t>IA-32 处理器架构 · x86 汇编基础 · MBR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授课教师：陈鹏飞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2025-2026 学年 春季学期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0292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000" b="1">
                <a:solidFill>
                  <a:srgbClr val="006633"/>
                </a:solidFill>
              </a:defRPr>
            </a:pPr>
            <a:r>
              <a:t>Lab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为什么学习汇编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从机器语言到高级语言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编程语言的演化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机器语言（0101 二进制）→ 汇编语言（ADD、MOV 助记符）→ 高级语言（C/Python/Rust）</a:t>
            </a:r>
            <a:br/>
            <a:br/>
            <a:r>
              <a:t>为什么操作系统必须用汇编？</a:t>
            </a:r>
            <a:br/>
            <a:r>
              <a:t>1) 特权指令：in/out（I/O 端口访问）、cli/sti（中断开关）、lgdt/lidt（加载描述符表）只能由汇编实现，C 语言无法生成这些指令</a:t>
            </a:r>
            <a:br/>
            <a:r>
              <a:t>2) 精确控制硬件：直接操作寄存器、内存地址、硬件端口，C 语言的抽象层次太高</a:t>
            </a:r>
            <a:br/>
            <a:r>
              <a:t>3) 启动代码：CPU 上电后从实模式（16位）开始，必须用汇编跳转到保护模式（32位）</a:t>
            </a:r>
            <a:br/>
            <a:r>
              <a:t>4) 性能关键路径：中断处理、上下文切换等性能敏感代码需要汇编优化</a:t>
            </a:r>
            <a:br/>
            <a:br/>
            <a:r>
              <a:t>汇编是硬件与软件的桥梁，是理解 OS 底层原理的钥匙。编译器（gcc）最终也是将 C 代码翻译为汇编代码。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汇编 = CPU 指令的助记符（人类可读）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特权指令无法由 C 语言实现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编译器最终生成汇编代码（gcc -S 可查看）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IA-32 处理器架构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Intel Architecture 32-bit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IA-32 的历史地位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IA-32 始于 Intel 80386（1985年），定义了 32 位 x86 架构。它引入了保护模式、虚拟内存、多任务支持，是现代操作系统的基石。</a:t>
            </a:r>
            <a:br/>
            <a:br/>
            <a:r>
              <a:t>尽管现在主流是 x86-64（AMD64，64位），但 IA-32 的核心概念（分段、分页、特权级、中断）仍被保留。学习 IA-32 = 掌握 x86 架构的根基。</a:t>
            </a:r>
            <a:br/>
            <a:br/>
            <a:r>
              <a:t>实模式（16位，兼容 8086）→ 保护模式（32位，IA-32）→ 长模式（64位，x86-64），IA-32 是承上启下的关键环节。</a:t>
            </a:r>
            <a:br/>
            <a:br/>
            <a:r>
              <a:t>为什么 CPU 上电后默认实模式？向后兼容 1978 年的 Intel 8086，确保老软件能在新CPU上运行。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80386：首款32位x86处理器（1985年）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兼容性：x86-64 向下兼容 IA-32 和 16位实模式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实模式：为兼容 8086（1978年）的历史包袱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实模式 vs 保护模式对比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28654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特性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实模式 (Real Mode)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保护模式 (Protected Mode)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寻址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16位，最大1MB内存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32位，最大4GB内存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地址计算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段地址*16+偏移（20位物理地址）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通过GDT查表获取段基址（32位）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特权级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无保护，程序可直接访问硬件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Ring 0-3，内核与用户隔离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虚拟内存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无，物理地址=逻辑地址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支持虚拟内存（分页机制）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启动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CPU上电后默认模式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需手动切换（GDT+A20+CR0.PE=1）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段寄存器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存放16位段基址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存放16位段选择子（索引）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IA-32 通用寄存器详解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EAX（累加器 Accumulator）：乘除法运算、函数返回值（C调用约定）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EBX（基址 Base）：内存寻址基址，常用于数组访问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ECX（计数器 Counter）：循环计数（loop 指令自动递减 ECX）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EDX（数据 Data）：I/O 端口地址、乘除法高位结果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ESI/EDI（源/目标索引 Source/Destination Index）：字符串操作（movs、cmps）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ESP（栈指针 Stack Pointer）：指向栈顶（绝对不可随意修改！会破坏栈结构）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EBP（基址指针 Base Pointer）：函数栈帧基址，用于访问局部变量和参数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• EIP（指令指针 Instruction Pointer）：下一条指令地址（CPU 自动维护，不能直接修改）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IA-32 寄存器访问模式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寄存器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32位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16位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高8位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低8位</a:t>
                      </a:r>
                    </a:p>
                  </a:txBody>
                  <a:tcPr>
                    <a:solidFill>
                      <a:srgbClr val="0066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EBX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ebx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ECX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ecx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cl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ESI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esi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ESP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esp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sp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bp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实地址模式寻址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段地址:偏移地址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实模式寻址的历史包袱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Intel 8086（1978年）只有 20 根地址线（最大 1MB 寻址），但寄存器只有 16 位。为了用 16 位寄存器访问 20 位地址空间，Intel 设计了 '段地址*16+偏移' 的方案：</a:t>
            </a:r>
            <a:br/>
            <a:br/>
            <a:r>
              <a:t>物理地址 = (段地址 &lt;&lt; 4) + 偏移地址</a:t>
            </a:r>
            <a:br/>
            <a:br/>
            <a:r>
              <a:t>左移 4 位 = 乘以 16。段地址和偏移地址均为 16 位，理论最大地址 = 0xFFFF0 + 0xFFFF = 0x10FFEF &gt; 1MB（超出 20 位）。</a:t>
            </a:r>
            <a:br/>
            <a:br/>
            <a:r>
              <a:t>这个设计虽然巧妙，但引入了地址重叠问题：同一物理地址可由多个'段:偏移'表示，成为后续保护模式改进的动力。</a:t>
            </a:r>
            <a:br/>
            <a:br/>
            <a:r>
              <a:t>示例：0x1000:0x0000 = 0x10000，0x0FFF:0x0010 = 0x10000（两种表示相同物理地址）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为什么 *16？ 左移 4 位 = 乘 16（二进制运算高效）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64KB 段限制：偏移地址最大 0xFFFF（16位）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地址重叠：同一物理地址可由多种'段:偏移'表示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实模式物理地址计算示例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公式：物理地址 = 段地址 * 16 + 偏移地址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示例1：CS=0x0700, IP=0x0100</a:t>
            </a:r>
            <a:br/>
            <a:r>
              <a:t>  物理地址 = 0x0700 * 16 + 0x0100 = 0x7000 + 0x0100 = 0x7100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示例2：DS=0xB800, SI=0x0000（VGA文本显存）</a:t>
            </a:r>
            <a:br/>
            <a:r>
              <a:t>  物理地址 = 0xB800 * 16 + 0x0000 = 0xB8000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最大地址：0xFFFF * 16 + 0xFFFF = 0xFFFF0 + 0xFFFF = 0x10FFEF</a:t>
            </a:r>
            <a:br/>
            <a:r>
              <a:t>  但 20 根地址线只能访问 0x00000~0xFFFFF（1MB）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注意：段地址不是真实的物理地址，需要乘以 16 后才是段基址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计算机启动过程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从上电到操作系统运行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BIOS POST：Power-On Self-Test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计算机上电后，CPU 从固定地址 0xFFFF0（BIOS ROM 入口）开始执行。这是 CPU 的硬件设计，无法修改。</a:t>
            </a:r>
            <a:br/>
            <a:br/>
            <a:r>
              <a:t>BIOS（Basic Input/Output System）进行 POST 自检：</a:t>
            </a:r>
            <a:br/>
            <a:r>
              <a:t>1) 检测内存大小（通过读写测试）</a:t>
            </a:r>
            <a:br/>
            <a:r>
              <a:t>2) 检测硬盘、软盘、光驱（枚举存储设备）</a:t>
            </a:r>
            <a:br/>
            <a:r>
              <a:t>3) 检测显卡、键盘、鼠标（初始化I/O设备）</a:t>
            </a:r>
            <a:br/>
            <a:r>
              <a:t>4) 初始化硬件（设置中断向量表 IVT，0x00000~0x003FF）</a:t>
            </a:r>
            <a:br/>
            <a:br/>
            <a:r>
              <a:t>自检完成后，BIOS 按启动顺序（硬盘、光盘、U盘、网络）查找引导设备，读取第 0 扇区（主引导记录 MBR，512字节）到内存 0x7C00，然后跳转执行。</a:t>
            </a:r>
            <a:br/>
            <a:br/>
            <a:r>
              <a:t>为什么是 0x7C00？约定俗成，IBM PC 时代（1981年）定下的规矩。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0xFFFF0：BIOS 入口地址（实模式最顶端）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IVT：中断向量表（0x00000~0x003FF，256个中断向量）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0x7C00：MBR 加载地址（历史约定）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x86 启动流程（五阶段）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阶段1：上电 RESET</a:t>
            </a:r>
            <a:br/>
            <a:r>
              <a:t>  CPU 从 0xFFFF0 开始执行（BIOS 入口）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阶段2：BIOS POST 自检</a:t>
            </a:r>
            <a:br/>
            <a:r>
              <a:t>  检测内存、硬盘、显卡等硬件，初始化中断向量表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阶段3：加载 MBR</a:t>
            </a:r>
            <a:br/>
            <a:r>
              <a:t>  读取硬盘第 0 扇区（512B）到内存 0x7C00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阶段4：MBR 执行引导程序</a:t>
            </a:r>
            <a:br/>
            <a:r>
              <a:t>  MBR 加载更大的 Bootloader（如 GRUB）到内存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阶段5：Bootloader 加载操作系统</a:t>
            </a:r>
            <a:br/>
            <a:r>
              <a:t>  加载内核镜像（bzImage）到内存，切换到保护模式，跳转到内核入口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计算机启动流程图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66666"/>
                </a:solidFill>
              </a:defRPr>
            </a:pPr>
            <a:r>
              <a:t>从按下电源键到操作系统启动的完整过程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1950962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20240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18488" y="1920240"/>
            <a:ext cx="9811512" cy="409630"/>
          </a:xfrm>
          <a:prstGeom prst="rect">
            <a:avLst/>
          </a:prstGeom>
          <a:solidFill>
            <a:srgbClr val="E8F5E9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上电 → CPU 从 0xFFFF0 开始执行（BIOS 入口）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355080" y="2329870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45586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514864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8488" y="2514864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BIOS POST 自检 → 检测内存、硬盘、初始化 IVT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355080" y="2924494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140210"/>
            <a:ext cx="348185" cy="348185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109488"/>
            <a:ext cx="64008" cy="40963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8488" y="3109488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BIOS 读取硬盘第 0 扇区（MBR）到 0x7C00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355080" y="3519118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734835"/>
            <a:ext cx="348185" cy="348185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54480" y="3704112"/>
            <a:ext cx="64008" cy="40963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18488" y="3704112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跳转到 0x7C00 执行 MBR 代码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6355080" y="4113742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329459"/>
            <a:ext cx="348185" cy="348185"/>
          </a:xfrm>
          <a:prstGeom prst="ellipse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298737"/>
            <a:ext cx="64008" cy="40963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8488" y="4298737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MBR 加载 Bootloader（第 1~N 扇区）到内存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355080" y="4708367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4924083"/>
            <a:ext cx="348185" cy="348185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4893361"/>
            <a:ext cx="64008" cy="40963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18488" y="4893361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Bootloader 切换到保护模式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355080" y="5302991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4400" y="5518707"/>
            <a:ext cx="348185" cy="348185"/>
          </a:xfrm>
          <a:prstGeom prst="ellipse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54480" y="5487985"/>
            <a:ext cx="64008" cy="40963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18488" y="5487985"/>
            <a:ext cx="9811512" cy="40963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0">
                <a:solidFill>
                  <a:srgbClr val="333333"/>
                </a:solidFill>
              </a:defRPr>
            </a:pPr>
            <a:r>
              <a:t>Bootloader 加载内核（bzImage）到内存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6355080" y="5897615"/>
            <a:ext cx="274320" cy="184994"/>
          </a:xfrm>
          <a:prstGeom prst="downArrow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6113332"/>
            <a:ext cx="348185" cy="348185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6082609"/>
            <a:ext cx="64008" cy="40963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18488" y="6082609"/>
            <a:ext cx="9811512" cy="409630"/>
          </a:xfrm>
          <a:prstGeom prst="rect">
            <a:avLst/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137160"/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跳转到内核入口 → 操作系统开始运行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实模式 1MB 内存布局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0xF0000 - 0xFFFFF (64KB)：BIOS ROM（只读）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0xA0000 - 0xEFFFF (320KB)：显存 + 设备 ROM</a:t>
            </a:r>
            <a:br/>
            <a:r>
              <a:t>  - 0xB8000 - 0xB8FA0：VGA 文本显存（4KB，80*25*2）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0x07E00 - 0x9FFFF (~608KB)：自由内存区（可用于加载程序）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0x07C00 - 0x07DFF (512B)：MBR 加载位置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0x00400 - 0x004FF (256B)：BIOS 数据区（存储硬件信息）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0x00000 - 0x003FF (1KB)：中断向量表 IVT（256个中断向量，每个4字节）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MBR 编程实战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你的第一个引导程序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MBR 的约束与挑战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主引导记录（Master Boot Record）是硬盘第 0 扇区，仅 512 字节，包括：</a:t>
            </a:r>
            <a:br/>
            <a:r>
              <a:t>1) 引导代码（446B）：你的程序</a:t>
            </a:r>
            <a:br/>
            <a:r>
              <a:t>2) 分区表（64B = 4*16B）：4个分区描述符（起始扇区、大小、类型）</a:t>
            </a:r>
            <a:br/>
            <a:r>
              <a:t>3) 魔数 0x55AA（2B）：BIOS 校验签名（Little Endian：55在前，AA在后）</a:t>
            </a:r>
            <a:br/>
            <a:br/>
            <a:r>
              <a:t>挑战：</a:t>
            </a:r>
            <a:br/>
            <a:r>
              <a:t>1) 512B 限制：无法容纳复杂逻辑，通常只负责加载更大的 Bootloader</a:t>
            </a:r>
            <a:br/>
            <a:r>
              <a:t>2) 无标准库：无法使用 printf、malloc，需要直接操作硬件（显存、端口）</a:t>
            </a:r>
            <a:br/>
            <a:r>
              <a:t>3) 实模式环境：16 位寻址，最大 1MB 内存</a:t>
            </a:r>
            <a:br/>
            <a:br/>
            <a:r>
              <a:t>MBR 的任务：1) 显示欢迎信息 2) 读取硬盘加载 Bootloader 3) 跳转到 Bootloader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446B 引导代码 = 约100条16位指令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0x55AA：BIOS 引导签名（最后2字节）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035040"/>
            <a:ext cx="10515600" cy="38404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333333"/>
                </a:solidFill>
              </a:defRPr>
            </a:pPr>
            <a:r>
              <a:t>• org 0x7C00：告诉汇编器代码加载地址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VGA 字符属性字节（8 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VGA 文本模式：80列*25行 = 2000 个字符，每个字符占 2 字节（ASCII + 属性）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字符格式：低字节 = ASCII 码，高字节 = 颜色属性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颜色属性字节（从低到高）：</a:t>
            </a:r>
            <a:br/>
            <a:r>
              <a:t>  Bit 0-2：前景色（R/G/B）</a:t>
            </a:r>
            <a:br/>
            <a:r>
              <a:t>  Bit 3：高亮（前景）</a:t>
            </a:r>
            <a:br/>
            <a:r>
              <a:t>  Bit 4-6：背景色（R/G/B）</a:t>
            </a:r>
            <a:br/>
            <a:r>
              <a:t>  Bit 7：闪烁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常用颜色：</a:t>
            </a:r>
            <a:br/>
            <a:r>
              <a:t>  0x07 = 黑底白字（默认）</a:t>
            </a:r>
            <a:br/>
            <a:r>
              <a:t>  0x0A = 黑底绿字</a:t>
            </a:r>
            <a:br/>
            <a:r>
              <a:t>  0x0C = 黑底红字</a:t>
            </a:r>
            <a:br/>
            <a:r>
              <a:t>  0x1F = 蓝底高亮白字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显存地址计算：</a:t>
            </a:r>
            <a:br/>
            <a:r>
              <a:t>  地址 = 0xB8000 + (行 * 80 + 列) *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MBR Hello World（NASM 汇编）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109728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</a:defRPr>
            </a:pPr>
            <a:r>
              <a:t>nasm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[org 0x7c00]          ; 告诉汇编器代码加载到 0x7C00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ax, 0xb800        ; VGA 文本显存段地址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gs, ax            ; 使用 gs 段寄存器访问显存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byte [gs:0x00], 'H'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byte [gs:0x01], 0x07  ; 黑底白字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byte [gs:0x02], 'e'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mov byte [gs:0x03], 0x07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; ... 继续输出 'l', 'l', 'o'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jmp $                 ; 死循环（$ = 当前地址）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times 510-($-$$) db 0 ; 填充到 510 字节（$ = 当前位置，$$ = 起始位置）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0E0E0"/>
                </a:solidFill>
                <a:latin typeface="Courier New"/>
              </a:defRPr>
            </a:pPr>
            <a:r>
              <a:t>db 0x55, 0xaa         ; MBR 魔数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MBR 扇区结构（512 字节）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字节 0-445 (446B)：引导代码</a:t>
            </a:r>
            <a:br/>
            <a:r>
              <a:t>  - 机器指令（你的程序）</a:t>
            </a:r>
            <a:br/>
            <a:r>
              <a:t>  - 约100条16位指令的空间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字节 446-509 (64B)：分区表</a:t>
            </a:r>
            <a:br/>
            <a:r>
              <a:t>  - 4 个分区描述符（每个16字节）</a:t>
            </a:r>
            <a:br/>
            <a:r>
              <a:t>  - 包含：起始扇区、扇区数、分区类型（FAT32/NTFS/ext4）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字节 510-511 (2B)：魔数 0x55AA</a:t>
            </a:r>
            <a:br/>
            <a:r>
              <a:t>  - BIOS 校验标志（Little Endian：55在前，AA在后）</a:t>
            </a:r>
            <a:br/>
            <a:r>
              <a:t>  - 如果不是 0x55AA，BIOS 认为不是有效引导扇区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DDAA"/>
                </a:solidFill>
              </a:defRPr>
            </a:pPr>
            <a: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实验任务 (Assignment)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DEEDD"/>
                </a:solidFill>
              </a:defRPr>
            </a:pPr>
            <a:r>
              <a:t>DDL: 2026.03.24 23:59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实验环境与提交要求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实验环境：</a:t>
            </a:r>
            <a:br/>
            <a:r>
              <a:t>  • Ubuntu: sudo apt install nasm qemu-system-x86 gdb make</a:t>
            </a:r>
            <a:br/>
            <a:r>
              <a:t>  • 麒麟OS: sudo yum install nasm qemu-system-x86_64 gdb make</a:t>
            </a:r>
            <a:br/>
            <a:r>
              <a:t>  • ARM64 架构可使用 NASM 跨平台编译 x86 汇编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提交内容：</a:t>
            </a:r>
            <a:br/>
            <a:r>
              <a:t>  • 压缩包命名：lab2-姓名-学号</a:t>
            </a:r>
            <a:br/>
            <a:r>
              <a:t>  • 包含：4个 Assignment 的代码 + 实验报告</a:t>
            </a:r>
            <a:br/>
            <a:r>
              <a:t>  • 报告注明：实验环境（操作系统版本、CPU架构）</a:t>
            </a:r>
            <a:br/>
            <a:r>
              <a:t>  • 每个 Assignment 附：实现思路 + 结果截图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 sz="2000">
                <a:solidFill>
                  <a:srgbClr val="333333"/>
                </a:solidFill>
              </a:defRPr>
            </a:pPr>
            <a:r>
              <a:t>注意事项：</a:t>
            </a:r>
            <a:br/>
            <a:r>
              <a:t>  • 今年实验有部分改动，请勿抄袭往年代码</a:t>
            </a:r>
            <a:br/>
            <a:r>
              <a:t>  • 使用大模型生成的代码务必标注</a:t>
            </a:r>
            <a:br/>
            <a:r>
              <a:t>  • 老师和助教会进行查重检查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1: MBR 编程（16位寄存器）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1.1 复现 Example 1 (必做)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复现 Hello World 程序。说明：编译（nasm -f bin）、写入磁盘（dd）、启动 QEMU（qemu-system-i386 -hda）的完整步骤。麒麟OS用户可用 qemu-system-x86_64 代替。截图结果。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1.2 自定义输出 (必做)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修改代码，在 (16, 10) 处开始输出你的学号。</a:t>
            </a:r>
            <a:br/>
            <a:r>
              <a:t>要求：前景色和背景色必须与教程不同。</a:t>
            </a:r>
            <a:br/>
            <a:r>
              <a:t>提示：显存地址 = 0xB8000 + 2*(80*行+列)。截图说明。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1.3 循环输出 (新增)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使用循环和数据标号改写1.2，将学号字符串存储在数据标号中，通过循环依次输出每个字符（而非逐个手动赋值）。</a:t>
            </a:r>
            <a:br/>
            <a:r>
              <a:t>提示：参考课后思考题第15题的代码结构，思考 org 0x7c00 对标号地址的影响。截图说明。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2: 实模式中断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2.1 光标中断 (必做)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探索实模式下的光标中断（int 10h），利用中断实现光标的位置获取和移动。</a:t>
            </a:r>
            <a:br/>
            <a:r>
              <a:t>功能号：AH=02H（设置光标位置，BH=页码，DH=行，DL=列）</a:t>
            </a:r>
            <a:br/>
            <a:r>
              <a:t>         AH=03H（获取光标位置，BX=页码，返回DH=行，DL=列）</a:t>
            </a:r>
            <a:br/>
            <a:r>
              <a:t>页码均设置为0。截图说明。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2.2 中断输出学号 (必做)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修改1.2的代码，使用实模式中断来输出学号。</a:t>
            </a:r>
            <a:br/>
            <a:r>
              <a:t>功能号：AH=09H（在当前光标位置写字符和属性）</a:t>
            </a:r>
            <a:br/>
            <a:r>
              <a:t>参数：AL=字符，BH=页码(0)，BL=颜色，CX=输出字符个数。截图说明。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2.3 键盘中断 (必做)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探索实模式的键盘中断，利用键盘中断实现键盘输入并回显。</a:t>
            </a:r>
            <a:br/>
            <a:r>
              <a:t>参考：BIOS int 16h 键盘服务、键盘扫描码资料。</a:t>
            </a:r>
            <a:br/>
            <a:r>
              <a:t>提示：int 16h, AH=00h 等待按键，AL返回ASCII码。截图说明。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3: 汇编编程（32位寄存器）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环境说明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代码文件：assignment/student.asm</a:t>
            </a:r>
            <a:br/>
            <a:r>
              <a:t>编译测试：在 assignment 目录下执行 make run（无需放到MBR中）</a:t>
            </a:r>
            <a:br/>
            <a:r>
              <a:t>环境安装：</a:t>
            </a:r>
            <a:br/>
            <a:r>
              <a:t>  • Ubuntu x86_64: sudo apt install gcc-multilib g++-multilib</a:t>
            </a:r>
            <a:br/>
            <a:r>
              <a:t>  • 麒麟OS x86_64: sudo yum install gcc-c++ glibc-devel.i686</a:t>
            </a:r>
            <a:br/>
            <a:r>
              <a:t>  • ARM64 用户：见作业说明文档（远程编译/容器/仅编写汇编）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3.1 分支逻辑实现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将伪代码转换为汇编代码，放置在标号 your_if 之后：</a:t>
            </a:r>
            <a:br/>
            <a:r>
              <a:t>if a1 &gt;= 40 then if_flag = (a1+3)/5</a:t>
            </a:r>
            <a:br/>
            <a:r>
              <a:t>else if a1 &gt;= 18 then if_flag = 80-(a1*2)</a:t>
            </a:r>
            <a:br/>
            <a:r>
              <a:t>else if_flag = a1&lt;&lt;5</a:t>
            </a:r>
            <a:br/>
            <a:r>
              <a:t>注意：使用 idiv 前需用 cdq 指令对 edx:eax 进行符号扩展。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3.2 循环逻辑实现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将伪代码转换为汇编代码，放置在标号 your_while 之后：</a:t>
            </a:r>
            <a:br/>
            <a:r>
              <a:t>while a2 &lt; 25:</a:t>
            </a:r>
            <a:br/>
            <a:r>
              <a:t>  call my_random  # 返回值在 eax</a:t>
            </a:r>
            <a:br/>
            <a:r>
              <a:t>  while_flag[a2*2] = eax</a:t>
            </a:r>
            <a:br/>
            <a:r>
              <a:t>  ++a2</a:t>
            </a:r>
            <a:br/>
            <a:r>
              <a:t>提示：可修改 test.cpp 中的 student_setting 测试多组样例。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3.3 函数实现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编写函数 your_function 并调用，遍历字符数组 your_string：</a:t>
            </a:r>
            <a:br/>
            <a:r>
              <a:t>for i=0; your_string[i]!='\0'; ++i:</a:t>
            </a:r>
            <a:br/>
            <a:r>
              <a:t>  pushad</a:t>
            </a:r>
            <a:br/>
            <a:r>
              <a:t>  push (your_string[i]+9)</a:t>
            </a:r>
            <a:br/>
            <a:r>
              <a:t>  call print_a_char</a:t>
            </a:r>
            <a:br/>
            <a:r>
              <a:t>  pop stack; popad</a:t>
            </a:r>
            <a:br/>
            <a:r>
              <a:t>附上 make run 截图，说明实现思路。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92240"/>
            <a:ext cx="11277295" cy="2743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</a:defRPr>
            </a:pPr>
            <a:r>
              <a:t>中山大学计算机学院 操作系统实验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D26"/>
                </a:solidFill>
              </a:defRPr>
            </a:pPr>
            <a:r>
              <a:t>Assignment 4: 汇编小程序（MBR运行）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8288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必做：字符回旋程序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用汇编实现字符回旋程序，在 QEMU 显示屏上以不同颜色、字符内容顺时针绕圈。</a:t>
            </a:r>
            <a:br/>
            <a:r>
              <a:t>要求：控制运动速度（不要过快）。</a:t>
            </a:r>
            <a:br/>
            <a:r>
              <a:t>提示延时方法：</a:t>
            </a:r>
            <a:br/>
            <a:r>
              <a:t>  1) BIOS 时间中断 int 15h (AH=86h) 微秒延时</a:t>
            </a:r>
            <a:br/>
            <a:r>
              <a:t>  2) 端口 I/O 读取 CMOS 时钟 (0x70/0x71)</a:t>
            </a:r>
            <a:br/>
            <a:r>
              <a:t>  3) 空循环消耗 CPU（最简单但不精确）</a:t>
            </a:r>
            <a:br/>
            <a:r>
              <a:t>代码不超过510字节，使用QEMU启动。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选做1：向内绕圈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实现不断向内绕圈的字符。注意设置期限，防止无休止向内导致访问非法内存。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2000" b="1">
                <a:solidFill>
                  <a:srgbClr val="C62828"/>
                </a:solidFill>
              </a:defRPr>
            </a:pPr>
            <a:r>
              <a:t>选做2：贪吃蛇</a:t>
            </a:r>
          </a:p>
          <a:p>
            <a:pPr>
              <a:lnSpc>
                <a:spcPct val="120000"/>
              </a:lnSpc>
              <a:spcBef>
                <a:spcPts val="2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结合 Assignment 2 的键盘输入，实现简单的贪吃蛇。不必做糖果，只需绘制会根据用户输入上下左右运动的蛇。</a:t>
            </a:r>
            <a:br/>
            <a:r>
              <a:t>思考题：面临寄存器不足问题时，可以通过什么方法解决？（可作为额外思考题写到报告）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33"/>
                </a:solidFill>
              </a:defRPr>
            </a:pPr>
            <a:r>
              <a:t>本次实验总结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 IA-32 实模式与保护模式的核心差异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掌握 NASM 汇编基本语法（mov, in/out, jmp, loop）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理解实模式段地址寻址（段*16+偏移）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了解 x86 启动过程（BIOS → MBR → Bootloader → Kernel）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编写并运行 MBR 程序（Hello World）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CCDDCC"/>
                </a:solidFill>
              </a:defRPr>
            </a:pPr>
            <a:r>
              <a:t>✓  完成 Assignment 1-3（MBR编程、中断、汇编函数）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中山大学计算机学院 陈鹏飞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