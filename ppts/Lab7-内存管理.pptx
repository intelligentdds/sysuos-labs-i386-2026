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1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548640"/>
          </a:xfrm>
          <a:prstGeom prst="rect">
            <a:avLst/>
          </a:prstGeom>
          <a:noFill/>
        </p:spPr>
        <p:txBody>
          <a:bodyPr wrap="square">
            <a:spAutoFit/>
          </a:bodyPr>
          <a:lstStyle/>
          <a:p>
            <a:pPr algn="l">
              <a:defRPr sz="2000" b="0">
                <a:solidFill>
                  <a:srgbClr val="88BB88"/>
                </a:solidFill>
              </a:defRPr>
            </a:pPr>
            <a:r>
              <a:t>中山大学 计算机学院</a:t>
            </a:r>
          </a:p>
        </p:txBody>
      </p:sp>
      <p:sp>
        <p:nvSpPr>
          <p:cNvPr id="4" name="TextBox 3"/>
          <p:cNvSpPr txBox="1"/>
          <p:nvPr/>
        </p:nvSpPr>
        <p:spPr>
          <a:xfrm>
            <a:off x="914400" y="1463040"/>
            <a:ext cx="10058400" cy="548640"/>
          </a:xfrm>
          <a:prstGeom prst="rect">
            <a:avLst/>
          </a:prstGeom>
          <a:noFill/>
        </p:spPr>
        <p:txBody>
          <a:bodyPr wrap="square">
            <a:spAutoFit/>
          </a:bodyPr>
          <a:lstStyle/>
          <a:p>
            <a:pPr algn="l">
              <a:defRPr sz="1800" b="0">
                <a:solidFill>
                  <a:srgbClr val="666666"/>
                </a:solidFill>
              </a:defRPr>
            </a:pPr>
            <a:r>
              <a:t>操作系统实验课程</a:t>
            </a:r>
          </a:p>
        </p:txBody>
      </p:sp>
      <p:sp>
        <p:nvSpPr>
          <p:cNvPr id="5" name="TextBox 4"/>
          <p:cNvSpPr txBox="1"/>
          <p:nvPr/>
        </p:nvSpPr>
        <p:spPr>
          <a:xfrm>
            <a:off x="914400" y="2377440"/>
            <a:ext cx="10058400" cy="1371600"/>
          </a:xfrm>
          <a:prstGeom prst="rect">
            <a:avLst/>
          </a:prstGeom>
          <a:noFill/>
        </p:spPr>
        <p:txBody>
          <a:bodyPr wrap="square">
            <a:spAutoFit/>
          </a:bodyPr>
          <a:lstStyle/>
          <a:p>
            <a:pPr algn="l">
              <a:defRPr sz="4400" b="1">
                <a:solidFill>
                  <a:srgbClr val="FFFFFF"/>
                </a:solidFill>
              </a:defRPr>
            </a:pPr>
            <a:r>
              <a:t>Lab 7</a:t>
            </a:r>
          </a:p>
        </p:txBody>
      </p:sp>
      <p:sp>
        <p:nvSpPr>
          <p:cNvPr id="6" name="TextBox 5"/>
          <p:cNvSpPr txBox="1"/>
          <p:nvPr/>
        </p:nvSpPr>
        <p:spPr>
          <a:xfrm>
            <a:off x="914400" y="3840480"/>
            <a:ext cx="10058400" cy="914400"/>
          </a:xfrm>
          <a:prstGeom prst="rect">
            <a:avLst/>
          </a:prstGeom>
          <a:noFill/>
        </p:spPr>
        <p:txBody>
          <a:bodyPr wrap="square">
            <a:spAutoFit/>
          </a:bodyPr>
          <a:lstStyle/>
          <a:p>
            <a:pPr algn="l">
              <a:defRPr sz="2200" b="0">
                <a:solidFill>
                  <a:srgbClr val="AAAAAA"/>
                </a:solidFill>
              </a:defRPr>
            </a:pPr>
            <a:r>
              <a:t>内存管理</a:t>
            </a:r>
          </a:p>
        </p:txBody>
      </p:sp>
      <p:sp>
        <p:nvSpPr>
          <p:cNvPr id="7" name="TextBox 6"/>
          <p:cNvSpPr txBox="1"/>
          <p:nvPr/>
        </p:nvSpPr>
        <p:spPr>
          <a:xfrm>
            <a:off x="914400" y="5303520"/>
            <a:ext cx="4572000" cy="457200"/>
          </a:xfrm>
          <a:prstGeom prst="rect">
            <a:avLst/>
          </a:prstGeom>
          <a:noFill/>
        </p:spPr>
        <p:txBody>
          <a:bodyPr wrap="square">
            <a:spAutoFit/>
          </a:bodyPr>
          <a:lstStyle/>
          <a:p>
            <a:pPr algn="l">
              <a:defRPr sz="1800" b="0">
                <a:solidFill>
                  <a:srgbClr val="CCCCCC"/>
                </a:solidFill>
              </a:defRPr>
            </a:pPr>
            <a:r>
              <a:t>授课教师：陈鹏飞</a:t>
            </a:r>
          </a:p>
        </p:txBody>
      </p:sp>
      <p:sp>
        <p:nvSpPr>
          <p:cNvPr id="8" name="TextBox 7"/>
          <p:cNvSpPr txBox="1"/>
          <p:nvPr/>
        </p:nvSpPr>
        <p:spPr>
          <a:xfrm>
            <a:off x="914400" y="5760720"/>
            <a:ext cx="4572000" cy="457200"/>
          </a:xfrm>
          <a:prstGeom prst="rect">
            <a:avLst/>
          </a:prstGeom>
          <a:noFill/>
        </p:spPr>
        <p:txBody>
          <a:bodyPr wrap="square">
            <a:spAutoFit/>
          </a:bodyPr>
          <a:lstStyle/>
          <a:p>
            <a:pPr algn="l">
              <a:defRPr sz="1600" b="0">
                <a:solidFill>
                  <a:srgbClr val="666666"/>
                </a:solidFill>
              </a:defRPr>
            </a:pPr>
            <a:r>
              <a:t>2025-2026 学年 春季学期</a:t>
            </a:r>
          </a:p>
        </p:txBody>
      </p:sp>
      <p:sp>
        <p:nvSpPr>
          <p:cNvPr id="9" name="TextBox 8"/>
          <p:cNvSpPr txBox="1"/>
          <p:nvPr/>
        </p:nvSpPr>
        <p:spPr>
          <a:xfrm>
            <a:off x="8686800" y="5029200"/>
            <a:ext cx="2743200" cy="1371600"/>
          </a:xfrm>
          <a:prstGeom prst="rect">
            <a:avLst/>
          </a:prstGeom>
          <a:noFill/>
        </p:spPr>
        <p:txBody>
          <a:bodyPr wrap="none">
            <a:spAutoFit/>
          </a:bodyPr>
          <a:lstStyle/>
          <a:p>
            <a:pPr algn="r">
              <a:defRPr sz="6000" b="1">
                <a:solidFill>
                  <a:srgbClr val="006633"/>
                </a:solidFill>
              </a:defRPr>
            </a:pPr>
            <a:r>
              <a:t>Lab 物理页、分页机制与虚拟内存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6633"/>
        </a:solidFill>
        <a:effectLst/>
      </p:bgPr>
    </p:bg>
    <p:spTree>
      <p:nvGrpSpPr>
        <p:cNvPr id="1" name=""/>
        <p:cNvGrpSpPr/>
        <p:nvPr/>
      </p:nvGrpSpPr>
      <p:grpSpPr/>
      <p:sp>
        <p:nvSpPr>
          <p:cNvPr id="2" name="TextBox 1"/>
          <p:cNvSpPr txBox="1"/>
          <p:nvPr/>
        </p:nvSpPr>
        <p:spPr>
          <a:xfrm>
            <a:off x="914400" y="1828800"/>
            <a:ext cx="10058400" cy="914400"/>
          </a:xfrm>
          <a:prstGeom prst="rect">
            <a:avLst/>
          </a:prstGeom>
          <a:noFill/>
        </p:spPr>
        <p:txBody>
          <a:bodyPr wrap="square">
            <a:spAutoFit/>
          </a:bodyPr>
          <a:lstStyle/>
          <a:p>
            <a:pPr algn="l">
              <a:defRPr sz="2400" b="0">
                <a:solidFill>
                  <a:srgbClr val="AADDAA"/>
                </a:solidFill>
              </a:defRPr>
            </a:pPr>
            <a:r>
              <a:t>Part 01</a:t>
            </a:r>
          </a:p>
        </p:txBody>
      </p:sp>
      <p:sp>
        <p:nvSpPr>
          <p:cNvPr id="3" name="TextBox 2"/>
          <p:cNvSpPr txBox="1"/>
          <p:nvPr/>
        </p:nvSpPr>
        <p:spPr>
          <a:xfrm>
            <a:off x="914400" y="2560320"/>
            <a:ext cx="10058400" cy="1371600"/>
          </a:xfrm>
          <a:prstGeom prst="rect">
            <a:avLst/>
          </a:prstGeom>
          <a:noFill/>
        </p:spPr>
        <p:txBody>
          <a:bodyPr wrap="square">
            <a:spAutoFit/>
          </a:bodyPr>
          <a:lstStyle/>
          <a:p>
            <a:pPr algn="l">
              <a:defRPr sz="4000" b="1">
                <a:solidFill>
                  <a:srgbClr val="FFFFFF"/>
                </a:solidFill>
              </a:defRPr>
            </a:pPr>
            <a:r>
              <a:t>实验概述</a:t>
            </a:r>
          </a:p>
        </p:txBody>
      </p:sp>
      <p:sp>
        <p:nvSpPr>
          <p:cNvPr id="4" name="TextBox 3"/>
          <p:cNvSpPr txBox="1"/>
          <p:nvPr/>
        </p:nvSpPr>
        <p:spPr>
          <a:xfrm>
            <a:off x="914400" y="4023360"/>
            <a:ext cx="10058400" cy="731520"/>
          </a:xfrm>
          <a:prstGeom prst="rect">
            <a:avLst/>
          </a:prstGeom>
          <a:noFill/>
        </p:spPr>
        <p:txBody>
          <a:bodyPr wrap="square">
            <a:spAutoFit/>
          </a:bodyPr>
          <a:lstStyle/>
          <a:p>
            <a:pPr algn="l">
              <a:defRPr sz="2000" b="0">
                <a:solidFill>
                  <a:srgbClr val="DDEEDD"/>
                </a:solidFill>
              </a:defRPr>
            </a:pPr>
            <a:r>
              <a:t>从物理内存到虚拟内存</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92240"/>
            <a:ext cx="11277295" cy="27432"/>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510528"/>
            <a:ext cx="11277295" cy="320040"/>
          </a:xfrm>
          <a:prstGeom prst="rect">
            <a:avLst/>
          </a:prstGeom>
          <a:noFill/>
        </p:spPr>
        <p:txBody>
          <a:bodyPr wrap="square">
            <a:spAutoFit/>
          </a:bodyPr>
          <a:lstStyle/>
          <a:p>
            <a:pPr algn="r">
              <a:defRPr sz="1000" b="0">
                <a:solidFill>
                  <a:srgbClr val="666666"/>
                </a:solidFill>
              </a:defRPr>
            </a:pPr>
            <a:r>
              <a:t>中山大学计算机学院 操作系统实验</a:t>
            </a:r>
          </a:p>
        </p:txBody>
      </p:sp>
      <p:sp>
        <p:nvSpPr>
          <p:cNvPr id="5" name="TextBox 4"/>
          <p:cNvSpPr txBox="1"/>
          <p:nvPr/>
        </p:nvSpPr>
        <p:spPr>
          <a:xfrm>
            <a:off x="548640" y="274320"/>
            <a:ext cx="10972800" cy="731520"/>
          </a:xfrm>
          <a:prstGeom prst="rect">
            <a:avLst/>
          </a:prstGeom>
          <a:noFill/>
        </p:spPr>
        <p:txBody>
          <a:bodyPr wrap="none">
            <a:spAutoFit/>
          </a:bodyPr>
          <a:lstStyle/>
          <a:p>
            <a:pPr>
              <a:defRPr sz="3200" b="1">
                <a:solidFill>
                  <a:srgbClr val="004D26"/>
                </a:solidFill>
              </a:defRPr>
            </a:pPr>
            <a:r>
              <a:t>本实验学习目标</a:t>
            </a:r>
          </a:p>
        </p:txBody>
      </p:sp>
      <p:sp>
        <p:nvSpPr>
          <p:cNvPr id="6" name="Rectangle 5"/>
          <p:cNvSpPr/>
          <p:nvPr/>
        </p:nvSpPr>
        <p:spPr>
          <a:xfrm>
            <a:off x="548640" y="1051560"/>
            <a:ext cx="1828800" cy="36576"/>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10515600" cy="5029200"/>
          </a:xfrm>
          <a:prstGeom prst="rect">
            <a:avLst/>
          </a:prstGeom>
          <a:noFill/>
        </p:spPr>
        <p:txBody>
          <a:bodyPr wrap="square">
            <a:spAutoFit/>
          </a:bodyPr>
          <a:lstStyle/>
          <a:p>
            <a:pPr>
              <a:lnSpc>
                <a:spcPct val="120000"/>
              </a:lnSpc>
              <a:spcBef>
                <a:spcPts val="600"/>
              </a:spcBef>
              <a:spcAft>
                <a:spcPts val="400"/>
              </a:spcAft>
              <a:defRPr sz="2000">
                <a:solidFill>
                  <a:srgbClr val="333333"/>
                </a:solidFill>
              </a:defRPr>
            </a:pPr>
            <a:r>
              <a:t>理解物理内存管理（BitMap、AddressPool、MemoryManager 三层结构）</a:t>
            </a:r>
          </a:p>
          <a:p>
            <a:pPr>
              <a:lnSpc>
                <a:spcPct val="120000"/>
              </a:lnSpc>
              <a:spcBef>
                <a:spcPts val="600"/>
              </a:spcBef>
              <a:spcAft>
                <a:spcPts val="400"/>
              </a:spcAft>
              <a:defRPr sz="2000">
                <a:solidFill>
                  <a:srgbClr val="333333"/>
                </a:solidFill>
              </a:defRPr>
            </a:pPr>
            <a:r>
              <a:t>掌握二级分页机制（页目录表 PDE、页表 PTE）</a:t>
            </a:r>
          </a:p>
          <a:p>
            <a:pPr>
              <a:lnSpc>
                <a:spcPct val="120000"/>
              </a:lnSpc>
              <a:spcBef>
                <a:spcPts val="600"/>
              </a:spcBef>
              <a:spcAft>
                <a:spcPts val="400"/>
              </a:spcAft>
              <a:defRPr sz="2000">
                <a:solidFill>
                  <a:srgbClr val="333333"/>
                </a:solidFill>
              </a:defRPr>
            </a:pPr>
            <a:r>
              <a:t>实现物理页分配与释放（内核/用户地址池）</a:t>
            </a:r>
          </a:p>
          <a:p>
            <a:pPr>
              <a:lnSpc>
                <a:spcPct val="120000"/>
              </a:lnSpc>
              <a:spcBef>
                <a:spcPts val="600"/>
              </a:spcBef>
              <a:spcAft>
                <a:spcPts val="400"/>
              </a:spcAft>
              <a:defRPr sz="2000">
                <a:solidFill>
                  <a:srgbClr val="333333"/>
                </a:solidFill>
              </a:defRPr>
            </a:pPr>
            <a:r>
              <a:t>开启分页机制（初始化页表、设置 CR3、CR0.PG）</a:t>
            </a:r>
          </a:p>
          <a:p>
            <a:pPr>
              <a:lnSpc>
                <a:spcPct val="120000"/>
              </a:lnSpc>
              <a:spcBef>
                <a:spcPts val="600"/>
              </a:spcBef>
              <a:spcAft>
                <a:spcPts val="400"/>
              </a:spcAft>
              <a:defRPr sz="2000">
                <a:solidFill>
                  <a:srgbClr val="333333"/>
                </a:solidFill>
              </a:defRPr>
            </a:pPr>
            <a:r>
              <a:t>实现虚拟内存管理（虚拟地址池、地址映射）</a:t>
            </a:r>
          </a:p>
          <a:p>
            <a:pPr>
              <a:lnSpc>
                <a:spcPct val="120000"/>
              </a:lnSpc>
              <a:spcBef>
                <a:spcPts val="600"/>
              </a:spcBef>
              <a:spcAft>
                <a:spcPts val="400"/>
              </a:spcAft>
              <a:defRPr sz="2000">
                <a:solidFill>
                  <a:srgbClr val="333333"/>
                </a:solidFill>
              </a:defRPr>
            </a:pPr>
            <a:r>
              <a:t>理解地址变换（虚拟地址 → 物理地址）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6633"/>
        </a:solidFill>
        <a:effectLst/>
      </p:bgPr>
    </p:bg>
    <p:spTree>
      <p:nvGrpSpPr>
        <p:cNvPr id="1" name=""/>
        <p:cNvGrpSpPr/>
        <p:nvPr/>
      </p:nvGrpSpPr>
      <p:grpSpPr/>
      <p:sp>
        <p:nvSpPr>
          <p:cNvPr id="2" name="TextBox 1"/>
          <p:cNvSpPr txBox="1"/>
          <p:nvPr/>
        </p:nvSpPr>
        <p:spPr>
          <a:xfrm>
            <a:off x="914400" y="1828800"/>
            <a:ext cx="10058400" cy="914400"/>
          </a:xfrm>
          <a:prstGeom prst="rect">
            <a:avLst/>
          </a:prstGeom>
          <a:noFill/>
        </p:spPr>
        <p:txBody>
          <a:bodyPr wrap="square">
            <a:spAutoFit/>
          </a:bodyPr>
          <a:lstStyle/>
          <a:p>
            <a:pPr algn="l">
              <a:defRPr sz="2400" b="0">
                <a:solidFill>
                  <a:srgbClr val="AADDAA"/>
                </a:solidFill>
              </a:defRPr>
            </a:pPr>
            <a:r>
              <a:t>Part 02</a:t>
            </a:r>
          </a:p>
        </p:txBody>
      </p:sp>
      <p:sp>
        <p:nvSpPr>
          <p:cNvPr id="3" name="TextBox 2"/>
          <p:cNvSpPr txBox="1"/>
          <p:nvPr/>
        </p:nvSpPr>
        <p:spPr>
          <a:xfrm>
            <a:off x="914400" y="2560320"/>
            <a:ext cx="10058400" cy="1371600"/>
          </a:xfrm>
          <a:prstGeom prst="rect">
            <a:avLst/>
          </a:prstGeom>
          <a:noFill/>
        </p:spPr>
        <p:txBody>
          <a:bodyPr wrap="square">
            <a:spAutoFit/>
          </a:bodyPr>
          <a:lstStyle/>
          <a:p>
            <a:pPr algn="l">
              <a:defRPr sz="4000" b="1">
                <a:solidFill>
                  <a:srgbClr val="FFFFFF"/>
                </a:solidFill>
              </a:defRPr>
            </a:pPr>
            <a:r>
              <a:t>物理页内存管理</a:t>
            </a:r>
          </a:p>
        </p:txBody>
      </p:sp>
      <p:sp>
        <p:nvSpPr>
          <p:cNvPr id="4" name="TextBox 3"/>
          <p:cNvSpPr txBox="1"/>
          <p:nvPr/>
        </p:nvSpPr>
        <p:spPr>
          <a:xfrm>
            <a:off x="914400" y="4023360"/>
            <a:ext cx="10058400" cy="731520"/>
          </a:xfrm>
          <a:prstGeom prst="rect">
            <a:avLst/>
          </a:prstGeom>
          <a:noFill/>
        </p:spPr>
        <p:txBody>
          <a:bodyPr wrap="square">
            <a:spAutoFit/>
          </a:bodyPr>
          <a:lstStyle/>
          <a:p>
            <a:pPr algn="l">
              <a:defRPr sz="2000" b="0">
                <a:solidFill>
                  <a:srgbClr val="DDEEDD"/>
                </a:solidFill>
              </a:defRPr>
            </a:pPr>
            <a:r>
              <a:t>BitMap → AddressPool → MemoryManager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92240"/>
            <a:ext cx="11277295" cy="27432"/>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510528"/>
            <a:ext cx="11277295" cy="320040"/>
          </a:xfrm>
          <a:prstGeom prst="rect">
            <a:avLst/>
          </a:prstGeom>
          <a:noFill/>
        </p:spPr>
        <p:txBody>
          <a:bodyPr wrap="square">
            <a:spAutoFit/>
          </a:bodyPr>
          <a:lstStyle/>
          <a:p>
            <a:pPr algn="r">
              <a:defRPr sz="1000" b="0">
                <a:solidFill>
                  <a:srgbClr val="666666"/>
                </a:solidFill>
              </a:defRPr>
            </a:pPr>
            <a:r>
              <a:t>中山大学计算机学院 操作系统实验</a:t>
            </a:r>
          </a:p>
        </p:txBody>
      </p:sp>
      <p:sp>
        <p:nvSpPr>
          <p:cNvPr id="5" name="TextBox 4"/>
          <p:cNvSpPr txBox="1"/>
          <p:nvPr/>
        </p:nvSpPr>
        <p:spPr>
          <a:xfrm>
            <a:off x="548640" y="274320"/>
            <a:ext cx="10972800" cy="731520"/>
          </a:xfrm>
          <a:prstGeom prst="rect">
            <a:avLst/>
          </a:prstGeom>
          <a:noFill/>
        </p:spPr>
        <p:txBody>
          <a:bodyPr wrap="none">
            <a:spAutoFit/>
          </a:bodyPr>
          <a:lstStyle/>
          <a:p>
            <a:pPr>
              <a:defRPr sz="3200" b="1">
                <a:solidFill>
                  <a:srgbClr val="004D26"/>
                </a:solidFill>
              </a:defRPr>
            </a:pPr>
            <a:r>
              <a:t>三层内存管理结构</a:t>
            </a:r>
          </a:p>
        </p:txBody>
      </p:sp>
      <p:sp>
        <p:nvSpPr>
          <p:cNvPr id="6" name="Rectangle 5"/>
          <p:cNvSpPr/>
          <p:nvPr/>
        </p:nvSpPr>
        <p:spPr>
          <a:xfrm>
            <a:off x="548640" y="1051560"/>
            <a:ext cx="1828800" cy="36576"/>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10515600" cy="3657600"/>
          </a:xfrm>
          <a:prstGeom prst="rect">
            <a:avLst/>
          </a:prstGeom>
          <a:noFill/>
        </p:spPr>
        <p:txBody>
          <a:bodyPr wrap="square">
            <a:spAutoFit/>
          </a:bodyPr>
          <a:lstStyle/>
          <a:p>
            <a:pPr>
              <a:lnSpc>
                <a:spcPct val="130000"/>
              </a:lnSpc>
              <a:spcBef>
                <a:spcPts val="400"/>
              </a:spcBef>
              <a:spcAft>
                <a:spcPts val="600"/>
              </a:spcAft>
              <a:defRPr sz="1700">
                <a:solidFill>
                  <a:srgbClr val="333333"/>
                </a:solidFill>
              </a:defRPr>
            </a:pPr>
            <a:r>
              <a:t>操作系统将物理内存划分为页（Page，通常 4KB）进行管理。三层结构：</a:t>
            </a:r>
            <a:br/>
            <a:br/>
            <a:r>
              <a:t>1) BitMap（位图）：</a:t>
            </a:r>
            <a:br/>
            <a:r>
              <a:t>   - 每个 bit 表示一个页的状态（0=空闲，1=已分配）</a:t>
            </a:r>
            <a:br/>
            <a:r>
              <a:t>   - 假设内存 16MB，页大小 4KB，则需要 16MB/4KB = 4096 页 = 512 字节的位图</a:t>
            </a:r>
            <a:br/>
            <a:r>
              <a:t>   - 优点：紧凑（1bit=1页）；缺点：需要连续内存存储位图</a:t>
            </a:r>
            <a:br/>
            <a:br/>
            <a:r>
              <a:t>2) AddressPool（地址池）：</a:t>
            </a:r>
            <a:br/>
            <a:r>
              <a:t>   - 管理一段连续的物理地址空间（起始地址 + 大小）</a:t>
            </a:r>
            <a:br/>
            <a:r>
              <a:t>   - 包含一个 BitMap 用于跟踪空闲页</a:t>
            </a:r>
            <a:br/>
            <a:r>
              <a:t>   - 内核地址池（0-1MB）和用户地址池（1MB 以上）分开管理</a:t>
            </a:r>
            <a:br/>
            <a:br/>
            <a:r>
              <a:t>3) MemoryManager（内存管理器）：</a:t>
            </a:r>
            <a:br/>
            <a:r>
              <a:t>   - 统一管理内核和用户地址池</a:t>
            </a:r>
            <a:br/>
            <a:r>
              <a:t>   - 提供分配/释放接口：allocatePage() / freePage()</a:t>
            </a:r>
            <a:br/>
            <a:br/>
            <a:r>
              <a:t>内存初始化流程：</a:t>
            </a:r>
            <a:br/>
            <a:r>
              <a:t>1) 通过 BIOS int 0x15 (eax=0xe801) 获取物理内存大小</a:t>
            </a:r>
            <a:br/>
            <a:r>
              <a:t>2) 划分内核/用户地址池（0-1MB 留给内核，1MB 以上给用户）</a:t>
            </a:r>
            <a:br/>
            <a:r>
              <a:t>3) 为每个地址池分配 BitMap（位图本身也占内存）</a:t>
            </a:r>
            <a:br/>
            <a:r>
              <a:t>4) 初始化 BitMap（所有 bit 设为 0，表示空闲）</a:t>
            </a:r>
          </a:p>
        </p:txBody>
      </p:sp>
      <p:sp>
        <p:nvSpPr>
          <p:cNvPr id="8" name="Rounded Rectangle 7"/>
          <p:cNvSpPr/>
          <p:nvPr/>
        </p:nvSpPr>
        <p:spPr>
          <a:xfrm>
            <a:off x="731520" y="5120640"/>
            <a:ext cx="10515600" cy="384048"/>
          </a:xfrm>
          <a:prstGeom prst="roundRect">
            <a:avLst/>
          </a:prstGeom>
          <a:solidFill>
            <a:srgbClr val="E8F5E9"/>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a:solidFill>
                  <a:srgbClr val="333333"/>
                </a:solidFill>
              </a:defRPr>
            </a:pPr>
            <a:r>
              <a:t>• Linux 使用 Buddy System（伙伴系统）管理物理页</a:t>
            </a:r>
          </a:p>
        </p:txBody>
      </p:sp>
      <p:sp>
        <p:nvSpPr>
          <p:cNvPr id="9" name="Rounded Rectangle 8"/>
          <p:cNvSpPr/>
          <p:nvPr/>
        </p:nvSpPr>
        <p:spPr>
          <a:xfrm>
            <a:off x="731520" y="5577840"/>
            <a:ext cx="10515600" cy="384048"/>
          </a:xfrm>
          <a:prstGeom prst="roundRect">
            <a:avLst/>
          </a:prstGeom>
          <a:solidFill>
            <a:srgbClr val="E8F5E9"/>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a:solidFill>
                  <a:srgbClr val="333333"/>
                </a:solidFill>
              </a:defRPr>
            </a:pPr>
            <a:r>
              <a:t>• Slab Allocator：管理小对象（避免内部碎片）</a:t>
            </a:r>
          </a:p>
        </p:txBody>
      </p:sp>
      <p:sp>
        <p:nvSpPr>
          <p:cNvPr id="10" name="Rounded Rectangle 9"/>
          <p:cNvSpPr/>
          <p:nvPr/>
        </p:nvSpPr>
        <p:spPr>
          <a:xfrm>
            <a:off x="731520" y="6035040"/>
            <a:ext cx="10515600" cy="384048"/>
          </a:xfrm>
          <a:prstGeom prst="roundRect">
            <a:avLst/>
          </a:prstGeom>
          <a:solidFill>
            <a:srgbClr val="E8F5E9"/>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a:solidFill>
                  <a:srgbClr val="333333"/>
                </a:solidFill>
              </a:defRPr>
            </a:pPr>
            <a:r>
              <a:t>• Windows 使用 PFN 数据库（Page Frame Number Database）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92240"/>
            <a:ext cx="11277295" cy="27432"/>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510528"/>
            <a:ext cx="11277295" cy="320040"/>
          </a:xfrm>
          <a:prstGeom prst="rect">
            <a:avLst/>
          </a:prstGeom>
          <a:noFill/>
        </p:spPr>
        <p:txBody>
          <a:bodyPr wrap="square">
            <a:spAutoFit/>
          </a:bodyPr>
          <a:lstStyle/>
          <a:p>
            <a:pPr algn="r">
              <a:defRPr sz="1000" b="0">
                <a:solidFill>
                  <a:srgbClr val="666666"/>
                </a:solidFill>
              </a:defRPr>
            </a:pPr>
            <a:r>
              <a:t>中山大学计算机学院 操作系统实验</a:t>
            </a:r>
          </a:p>
        </p:txBody>
      </p:sp>
      <p:sp>
        <p:nvSpPr>
          <p:cNvPr id="5" name="TextBox 4"/>
          <p:cNvSpPr txBox="1"/>
          <p:nvPr/>
        </p:nvSpPr>
        <p:spPr>
          <a:xfrm>
            <a:off x="548640" y="274320"/>
            <a:ext cx="10972800" cy="731520"/>
          </a:xfrm>
          <a:prstGeom prst="rect">
            <a:avLst/>
          </a:prstGeom>
          <a:noFill/>
        </p:spPr>
        <p:txBody>
          <a:bodyPr wrap="none">
            <a:spAutoFit/>
          </a:bodyPr>
          <a:lstStyle/>
          <a:p>
            <a:pPr>
              <a:defRPr sz="3200" b="1">
                <a:solidFill>
                  <a:srgbClr val="004D26"/>
                </a:solidFill>
              </a:defRPr>
            </a:pPr>
            <a:r>
              <a:t>物理页分配流程</a:t>
            </a:r>
          </a:p>
        </p:txBody>
      </p:sp>
      <p:sp>
        <p:nvSpPr>
          <p:cNvPr id="6" name="Rectangle 5"/>
          <p:cNvSpPr/>
          <p:nvPr/>
        </p:nvSpPr>
        <p:spPr>
          <a:xfrm>
            <a:off x="548640" y="1051560"/>
            <a:ext cx="1828800" cy="36576"/>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10515600" cy="5029200"/>
          </a:xfrm>
          <a:prstGeom prst="rect">
            <a:avLst/>
          </a:prstGeom>
          <a:noFill/>
        </p:spPr>
        <p:txBody>
          <a:bodyPr wrap="square">
            <a:spAutoFit/>
          </a:bodyPr>
          <a:lstStyle/>
          <a:p>
            <a:pPr>
              <a:lnSpc>
                <a:spcPct val="120000"/>
              </a:lnSpc>
              <a:spcBef>
                <a:spcPts val="600"/>
              </a:spcBef>
              <a:spcAft>
                <a:spcPts val="400"/>
              </a:spcAft>
              <a:defRPr sz="2000">
                <a:solidFill>
                  <a:srgbClr val="333333"/>
                </a:solidFill>
              </a:defRPr>
            </a:pPr>
            <a:r>
              <a:t>allocatePages(uint32 count) // 分配 count 个连续物理页</a:t>
            </a:r>
          </a:p>
          <a:p>
            <a:pPr>
              <a:lnSpc>
                <a:spcPct val="120000"/>
              </a:lnSpc>
              <a:spcBef>
                <a:spcPts val="600"/>
              </a:spcBef>
              <a:spcAft>
                <a:spcPts val="400"/>
              </a:spcAft>
              <a:defRPr sz="2000">
                <a:solidFill>
                  <a:srgbClr val="333333"/>
                </a:solidFill>
              </a:defRPr>
            </a:pPr>
            <a:r>
              <a:t>第1步：在 BitMap 中查找连续的 count 个空闲 bit</a:t>
            </a:r>
          </a:p>
          <a:p>
            <a:pPr>
              <a:lnSpc>
                <a:spcPct val="120000"/>
              </a:lnSpc>
              <a:spcBef>
                <a:spcPts val="600"/>
              </a:spcBef>
              <a:spcAft>
                <a:spcPts val="400"/>
              </a:spcAft>
              <a:defRPr sz="2000">
                <a:solidFill>
                  <a:srgbClr val="333333"/>
                </a:solidFill>
              </a:defRPr>
            </a:pPr>
            <a:r>
              <a:t>第2步：将找到的 bit 设为 1（标记为已分配）</a:t>
            </a:r>
          </a:p>
          <a:p>
            <a:pPr>
              <a:lnSpc>
                <a:spcPct val="120000"/>
              </a:lnSpc>
              <a:spcBef>
                <a:spcPts val="600"/>
              </a:spcBef>
              <a:spcAft>
                <a:spcPts val="400"/>
              </a:spcAft>
              <a:defRPr sz="2000">
                <a:solidFill>
                  <a:srgbClr val="333333"/>
                </a:solidFill>
              </a:defRPr>
            </a:pPr>
            <a:r>
              <a:t>第3步：计算并返回起始物理地址：</a:t>
            </a:r>
            <a:br/>
            <a:r>
              <a:t>  起始地址 = 地址池起始地址 + (bit索引 * 页大小)</a:t>
            </a:r>
          </a:p>
          <a:p>
            <a:pPr>
              <a:lnSpc>
                <a:spcPct val="120000"/>
              </a:lnSpc>
              <a:spcBef>
                <a:spcPts val="600"/>
              </a:spcBef>
              <a:spcAft>
                <a:spcPts val="400"/>
              </a:spcAft>
              <a:defRPr sz="2000">
                <a:solidFill>
                  <a:srgbClr val="333333"/>
                </a:solidFill>
              </a:defRPr>
            </a:pPr>
            <a:r>
              <a:t>第4步：清零分配的页（防止信息泄露）</a:t>
            </a:r>
            <a:br/>
            <a:r>
              <a:t>  memset(起始地址, 0, count * 4096)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92240"/>
            <a:ext cx="11277295" cy="27432"/>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510528"/>
            <a:ext cx="11277295" cy="320040"/>
          </a:xfrm>
          <a:prstGeom prst="rect">
            <a:avLst/>
          </a:prstGeom>
          <a:noFill/>
        </p:spPr>
        <p:txBody>
          <a:bodyPr wrap="square">
            <a:spAutoFit/>
          </a:bodyPr>
          <a:lstStyle/>
          <a:p>
            <a:pPr algn="r">
              <a:defRPr sz="1000" b="0">
                <a:solidFill>
                  <a:srgbClr val="666666"/>
                </a:solidFill>
              </a:defRPr>
            </a:pPr>
            <a:r>
              <a:t>中山大学计算机学院 操作系统实验</a:t>
            </a:r>
          </a:p>
        </p:txBody>
      </p:sp>
      <p:sp>
        <p:nvSpPr>
          <p:cNvPr id="5" name="TextBox 4"/>
          <p:cNvSpPr txBox="1"/>
          <p:nvPr/>
        </p:nvSpPr>
        <p:spPr>
          <a:xfrm>
            <a:off x="548640" y="274320"/>
            <a:ext cx="10972800" cy="731520"/>
          </a:xfrm>
          <a:prstGeom prst="rect">
            <a:avLst/>
          </a:prstGeom>
          <a:noFill/>
        </p:spPr>
        <p:txBody>
          <a:bodyPr wrap="none">
            <a:spAutoFit/>
          </a:bodyPr>
          <a:lstStyle/>
          <a:p>
            <a:pPr>
              <a:defRPr sz="3200" b="1">
                <a:solidFill>
                  <a:srgbClr val="004D26"/>
                </a:solidFill>
              </a:defRPr>
            </a:pPr>
            <a:r>
              <a:t>三层内存管理架构</a:t>
            </a:r>
          </a:p>
        </p:txBody>
      </p:sp>
      <p:sp>
        <p:nvSpPr>
          <p:cNvPr id="6" name="Rectangle 5"/>
          <p:cNvSpPr/>
          <p:nvPr/>
        </p:nvSpPr>
        <p:spPr>
          <a:xfrm>
            <a:off x="548640" y="1051560"/>
            <a:ext cx="1828800" cy="36576"/>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10515600" cy="457200"/>
          </a:xfrm>
          <a:prstGeom prst="rect">
            <a:avLst/>
          </a:prstGeom>
          <a:noFill/>
        </p:spPr>
        <p:txBody>
          <a:bodyPr wrap="square">
            <a:spAutoFit/>
          </a:bodyPr>
          <a:lstStyle/>
          <a:p>
            <a:pPr>
              <a:defRPr sz="1400" i="1">
                <a:solidFill>
                  <a:srgbClr val="666666"/>
                </a:solidFill>
              </a:defRPr>
            </a:pPr>
            <a:r>
              <a:t>自上而下的调用关系：应用 → MemoryManager → AddressPool → BitMap → 物理内存</a:t>
            </a:r>
          </a:p>
        </p:txBody>
      </p:sp>
      <p:sp>
        <p:nvSpPr>
          <p:cNvPr id="8" name="Rounded Rectangle 7"/>
          <p:cNvSpPr/>
          <p:nvPr/>
        </p:nvSpPr>
        <p:spPr>
          <a:xfrm>
            <a:off x="1463040" y="2093976"/>
            <a:ext cx="9144000" cy="822960"/>
          </a:xfrm>
          <a:prstGeom prst="roundRect">
            <a:avLst/>
          </a:prstGeom>
          <a:solidFill>
            <a:srgbClr val="7B1FA2"/>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800" b="1">
                <a:solidFill>
                  <a:srgbClr val="FFFFFF"/>
                </a:solidFill>
              </a:defRPr>
            </a:pPr>
            <a:r>
              <a:t>应用程序 / 内核线程</a:t>
            </a:r>
          </a:p>
          <a:p>
            <a:pPr algn="ctr">
              <a:spcBef>
                <a:spcPts val="200"/>
              </a:spcBef>
              <a:defRPr sz="1200">
                <a:solidFill>
                  <a:srgbClr val="E0E0E0"/>
                </a:solidFill>
              </a:defRPr>
            </a:pPr>
            <a:r>
              <a:t>调用 allocatePages() / releasePages()</a:t>
            </a:r>
          </a:p>
        </p:txBody>
      </p:sp>
      <p:sp>
        <p:nvSpPr>
          <p:cNvPr id="9" name="Rounded Rectangle 8"/>
          <p:cNvSpPr/>
          <p:nvPr/>
        </p:nvSpPr>
        <p:spPr>
          <a:xfrm>
            <a:off x="1463040" y="2990088"/>
            <a:ext cx="9144000" cy="822960"/>
          </a:xfrm>
          <a:prstGeom prst="roundRect">
            <a:avLst/>
          </a:prstGeom>
          <a:solidFill>
            <a:srgbClr val="1A73E8"/>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800" b="1">
                <a:solidFill>
                  <a:srgbClr val="FFFFFF"/>
                </a:solidFill>
              </a:defRPr>
            </a:pPr>
            <a:r>
              <a:t>MemoryManager（内存管理器）</a:t>
            </a:r>
          </a:p>
          <a:p>
            <a:pPr algn="ctr">
              <a:spcBef>
                <a:spcPts val="200"/>
              </a:spcBef>
              <a:defRPr sz="1200">
                <a:solidFill>
                  <a:srgbClr val="E0E0E0"/>
                </a:solidFill>
              </a:defRPr>
            </a:pPr>
            <a:r>
              <a:t>统一管理内核/用户地址池，提供分配/释放接口</a:t>
            </a:r>
          </a:p>
        </p:txBody>
      </p:sp>
      <p:sp>
        <p:nvSpPr>
          <p:cNvPr id="10" name="Rounded Rectangle 9"/>
          <p:cNvSpPr/>
          <p:nvPr/>
        </p:nvSpPr>
        <p:spPr>
          <a:xfrm>
            <a:off x="1463040" y="3886200"/>
            <a:ext cx="9144000" cy="822960"/>
          </a:xfrm>
          <a:prstGeom prst="roundRect">
            <a:avLst/>
          </a:prstGeom>
          <a:solidFill>
            <a:srgbClr val="009688"/>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800" b="1">
                <a:solidFill>
                  <a:srgbClr val="FFFFFF"/>
                </a:solidFill>
              </a:defRPr>
            </a:pPr>
            <a:r>
              <a:t>AddressPool（地址池）</a:t>
            </a:r>
          </a:p>
          <a:p>
            <a:pPr algn="ctr">
              <a:spcBef>
                <a:spcPts val="200"/>
              </a:spcBef>
              <a:defRPr sz="1200">
                <a:solidFill>
                  <a:srgbClr val="E0E0E0"/>
                </a:solidFill>
              </a:defRPr>
            </a:pPr>
            <a:r>
              <a:t>管理一段连续地址空间：起始地址 + BitMap</a:t>
            </a:r>
          </a:p>
        </p:txBody>
      </p:sp>
      <p:sp>
        <p:nvSpPr>
          <p:cNvPr id="11" name="Rounded Rectangle 10"/>
          <p:cNvSpPr/>
          <p:nvPr/>
        </p:nvSpPr>
        <p:spPr>
          <a:xfrm>
            <a:off x="1463040" y="4782312"/>
            <a:ext cx="9144000" cy="822960"/>
          </a:xfrm>
          <a:prstGeom prst="roundRect">
            <a:avLst/>
          </a:prstGeom>
          <a:solidFill>
            <a:srgbClr val="006633"/>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800" b="1">
                <a:solidFill>
                  <a:srgbClr val="FFFFFF"/>
                </a:solidFill>
              </a:defRPr>
            </a:pPr>
            <a:r>
              <a:t>BitMap（位图）</a:t>
            </a:r>
          </a:p>
          <a:p>
            <a:pPr algn="ctr">
              <a:spcBef>
                <a:spcPts val="200"/>
              </a:spcBef>
              <a:defRPr sz="1200">
                <a:solidFill>
                  <a:srgbClr val="E0E0E0"/>
                </a:solidFill>
              </a:defRPr>
            </a:pPr>
            <a:r>
              <a:t>每 bit 表示一个 4KB 物理页：0=空闲，1=已分配</a:t>
            </a:r>
          </a:p>
        </p:txBody>
      </p:sp>
      <p:sp>
        <p:nvSpPr>
          <p:cNvPr id="12" name="Rounded Rectangle 11"/>
          <p:cNvSpPr/>
          <p:nvPr/>
        </p:nvSpPr>
        <p:spPr>
          <a:xfrm>
            <a:off x="1463040" y="5678424"/>
            <a:ext cx="9144000" cy="822960"/>
          </a:xfrm>
          <a:prstGeom prst="roundRect">
            <a:avLst/>
          </a:prstGeom>
          <a:solidFill>
            <a:srgbClr val="333333"/>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800" b="1">
                <a:solidFill>
                  <a:srgbClr val="FFFFFF"/>
                </a:solidFill>
              </a:defRPr>
            </a:pPr>
            <a:r>
              <a:t>物理内存（RAM）</a:t>
            </a:r>
          </a:p>
          <a:p>
            <a:pPr algn="ctr">
              <a:spcBef>
                <a:spcPts val="200"/>
              </a:spcBef>
              <a:defRPr sz="1200">
                <a:solidFill>
                  <a:srgbClr val="E0E0E0"/>
                </a:solidFill>
              </a:defRPr>
            </a:pPr>
            <a:r>
              <a:t>实际的 DRAM 硬件，由 BIOS 检测大小</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6633"/>
        </a:solidFill>
        <a:effectLst/>
      </p:bgPr>
    </p:bg>
    <p:spTree>
      <p:nvGrpSpPr>
        <p:cNvPr id="1" name=""/>
        <p:cNvGrpSpPr/>
        <p:nvPr/>
      </p:nvGrpSpPr>
      <p:grpSpPr/>
      <p:sp>
        <p:nvSpPr>
          <p:cNvPr id="2" name="TextBox 1"/>
          <p:cNvSpPr txBox="1"/>
          <p:nvPr/>
        </p:nvSpPr>
        <p:spPr>
          <a:xfrm>
            <a:off x="914400" y="1828800"/>
            <a:ext cx="10058400" cy="914400"/>
          </a:xfrm>
          <a:prstGeom prst="rect">
            <a:avLst/>
          </a:prstGeom>
          <a:noFill/>
        </p:spPr>
        <p:txBody>
          <a:bodyPr wrap="square">
            <a:spAutoFit/>
          </a:bodyPr>
          <a:lstStyle/>
          <a:p>
            <a:pPr algn="l">
              <a:defRPr sz="2400" b="0">
                <a:solidFill>
                  <a:srgbClr val="AADDAA"/>
                </a:solidFill>
              </a:defRPr>
            </a:pPr>
            <a:r>
              <a:t>Part 03</a:t>
            </a:r>
          </a:p>
        </p:txBody>
      </p:sp>
      <p:sp>
        <p:nvSpPr>
          <p:cNvPr id="3" name="TextBox 2"/>
          <p:cNvSpPr txBox="1"/>
          <p:nvPr/>
        </p:nvSpPr>
        <p:spPr>
          <a:xfrm>
            <a:off x="914400" y="2560320"/>
            <a:ext cx="10058400" cy="1371600"/>
          </a:xfrm>
          <a:prstGeom prst="rect">
            <a:avLst/>
          </a:prstGeom>
          <a:noFill/>
        </p:spPr>
        <p:txBody>
          <a:bodyPr wrap="square">
            <a:spAutoFit/>
          </a:bodyPr>
          <a:lstStyle/>
          <a:p>
            <a:pPr algn="l">
              <a:defRPr sz="4000" b="1">
                <a:solidFill>
                  <a:srgbClr val="FFFFFF"/>
                </a:solidFill>
              </a:defRPr>
            </a:pPr>
            <a:r>
              <a:t>二级分页机制</a:t>
            </a:r>
          </a:p>
        </p:txBody>
      </p:sp>
      <p:sp>
        <p:nvSpPr>
          <p:cNvPr id="4" name="TextBox 3"/>
          <p:cNvSpPr txBox="1"/>
          <p:nvPr/>
        </p:nvSpPr>
        <p:spPr>
          <a:xfrm>
            <a:off x="914400" y="4023360"/>
            <a:ext cx="10058400" cy="731520"/>
          </a:xfrm>
          <a:prstGeom prst="rect">
            <a:avLst/>
          </a:prstGeom>
          <a:noFill/>
        </p:spPr>
        <p:txBody>
          <a:bodyPr wrap="square">
            <a:spAutoFit/>
          </a:bodyPr>
          <a:lstStyle/>
          <a:p>
            <a:pPr algn="l">
              <a:defRPr sz="2000" b="0">
                <a:solidFill>
                  <a:srgbClr val="DDEEDD"/>
                </a:solidFill>
              </a:defRPr>
            </a:pPr>
            <a:r>
              <a:t>页目录表与页表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92240"/>
            <a:ext cx="11277295" cy="27432"/>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510528"/>
            <a:ext cx="11277295" cy="320040"/>
          </a:xfrm>
          <a:prstGeom prst="rect">
            <a:avLst/>
          </a:prstGeom>
          <a:noFill/>
        </p:spPr>
        <p:txBody>
          <a:bodyPr wrap="square">
            <a:spAutoFit/>
          </a:bodyPr>
          <a:lstStyle/>
          <a:p>
            <a:pPr algn="r">
              <a:defRPr sz="1000" b="0">
                <a:solidFill>
                  <a:srgbClr val="666666"/>
                </a:solidFill>
              </a:defRPr>
            </a:pPr>
            <a:r>
              <a:t>中山大学计算机学院 操作系统实验</a:t>
            </a:r>
          </a:p>
        </p:txBody>
      </p:sp>
      <p:sp>
        <p:nvSpPr>
          <p:cNvPr id="5" name="TextBox 4"/>
          <p:cNvSpPr txBox="1"/>
          <p:nvPr/>
        </p:nvSpPr>
        <p:spPr>
          <a:xfrm>
            <a:off x="548640" y="274320"/>
            <a:ext cx="10972800" cy="731520"/>
          </a:xfrm>
          <a:prstGeom prst="rect">
            <a:avLst/>
          </a:prstGeom>
          <a:noFill/>
        </p:spPr>
        <p:txBody>
          <a:bodyPr wrap="none">
            <a:spAutoFit/>
          </a:bodyPr>
          <a:lstStyle/>
          <a:p>
            <a:pPr>
              <a:defRPr sz="3200" b="1">
                <a:solidFill>
                  <a:srgbClr val="004D26"/>
                </a:solidFill>
              </a:defRPr>
            </a:pPr>
            <a:r>
              <a:t>二级分页机制原理</a:t>
            </a:r>
          </a:p>
        </p:txBody>
      </p:sp>
      <p:sp>
        <p:nvSpPr>
          <p:cNvPr id="6" name="Rectangle 5"/>
          <p:cNvSpPr/>
          <p:nvPr/>
        </p:nvSpPr>
        <p:spPr>
          <a:xfrm>
            <a:off x="548640" y="1051560"/>
            <a:ext cx="1828800" cy="36576"/>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10515600" cy="3657600"/>
          </a:xfrm>
          <a:prstGeom prst="rect">
            <a:avLst/>
          </a:prstGeom>
          <a:noFill/>
        </p:spPr>
        <p:txBody>
          <a:bodyPr wrap="square">
            <a:spAutoFit/>
          </a:bodyPr>
          <a:lstStyle/>
          <a:p>
            <a:pPr>
              <a:lnSpc>
                <a:spcPct val="130000"/>
              </a:lnSpc>
              <a:spcBef>
                <a:spcPts val="400"/>
              </a:spcBef>
              <a:spcAft>
                <a:spcPts val="600"/>
              </a:spcAft>
              <a:defRPr sz="1700">
                <a:solidFill>
                  <a:srgbClr val="333333"/>
                </a:solidFill>
              </a:defRPr>
            </a:pPr>
            <a:r>
              <a:t>为什么需要分页？</a:t>
            </a:r>
            <a:br/>
            <a:r>
              <a:t>实模式：1MB 内存限制</a:t>
            </a:r>
            <a:br/>
            <a:r>
              <a:t>保护模式：段机制复杂，难以实现进程隔离</a:t>
            </a:r>
            <a:br/>
            <a:r>
              <a:t>分页机制：每个进程有独立的虚拟地址空间（4GB），通过页表映射到物理地址。</a:t>
            </a:r>
            <a:br/>
            <a:br/>
            <a:r>
              <a:t>二级页表结构（x86 32位）：</a:t>
            </a:r>
            <a:br/>
            <a:r>
              <a:t>1) 页目录表（Page Directory，PD）：</a:t>
            </a:r>
            <a:br/>
            <a:r>
              <a:t>   - 1024 个页目录项（PDE），每个 4 字节，共 4KB</a:t>
            </a:r>
            <a:br/>
            <a:r>
              <a:t>   - 每个 PDE 指向一个页表（或表示该页表不存在）</a:t>
            </a:r>
            <a:br/>
            <a:br/>
            <a:r>
              <a:t>2) 页表（Page Table，PT）：</a:t>
            </a:r>
            <a:br/>
            <a:r>
              <a:t>   - 每个页表包含 1024 个页表项（PTE），每个 4 字节，共 4KB</a:t>
            </a:r>
            <a:br/>
            <a:r>
              <a:t>   - 每个 PTE 指向一个 4KB 的物理页</a:t>
            </a:r>
            <a:br/>
            <a:br/>
            <a:r>
              <a:t>地址翻译（虚拟地址 → 物理地址）：</a:t>
            </a:r>
            <a:br/>
            <a:r>
              <a:t>虚拟地址 32 位 = PDE索引（10位）+ PTE索引（10位）+ 页内偏移（12位）</a:t>
            </a:r>
            <a:br/>
            <a:br/>
            <a:r>
              <a:t>1) PDE索引（高10位）：定位页目录项 directory[PDE索引]</a:t>
            </a:r>
            <a:br/>
            <a:r>
              <a:t>2) 从 PDE 中获取页表的物理地址</a:t>
            </a:r>
            <a:br/>
            <a:r>
              <a:t>3) PTE索引（中10位）：定位页表项 page_table[PTE索引]</a:t>
            </a:r>
            <a:br/>
            <a:r>
              <a:t>4) 从 PTE 中获取物理页的基址</a:t>
            </a:r>
            <a:br/>
            <a:r>
              <a:t>5) 物理地址 = 物理页基址 + 页内偏移（低12位）</a:t>
            </a:r>
            <a:br/>
            <a:br/>
            <a:r>
              <a:t>CR3 寄存器：存储页目录表的物理地址</a:t>
            </a:r>
            <a:br/>
            <a:r>
              <a:t>CR0.PG 位：置 1 开启分页机制</a:t>
            </a:r>
          </a:p>
        </p:txBody>
      </p:sp>
      <p:sp>
        <p:nvSpPr>
          <p:cNvPr id="8" name="Rounded Rectangle 7"/>
          <p:cNvSpPr/>
          <p:nvPr/>
        </p:nvSpPr>
        <p:spPr>
          <a:xfrm>
            <a:off x="731520" y="5120640"/>
            <a:ext cx="10515600" cy="384048"/>
          </a:xfrm>
          <a:prstGeom prst="roundRect">
            <a:avLst/>
          </a:prstGeom>
          <a:solidFill>
            <a:srgbClr val="E8F5E9"/>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a:solidFill>
                  <a:srgbClr val="333333"/>
                </a:solidFill>
              </a:defRPr>
            </a:pPr>
            <a:r>
              <a:t>• 一级页表需要 4MB 连续内存（4GB/4KB*4B）</a:t>
            </a:r>
          </a:p>
        </p:txBody>
      </p:sp>
      <p:sp>
        <p:nvSpPr>
          <p:cNvPr id="9" name="Rounded Rectangle 8"/>
          <p:cNvSpPr/>
          <p:nvPr/>
        </p:nvSpPr>
        <p:spPr>
          <a:xfrm>
            <a:off x="731520" y="5577840"/>
            <a:ext cx="10515600" cy="384048"/>
          </a:xfrm>
          <a:prstGeom prst="roundRect">
            <a:avLst/>
          </a:prstGeom>
          <a:solidFill>
            <a:srgbClr val="E8F5E9"/>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a:solidFill>
                  <a:srgbClr val="333333"/>
                </a:solidFill>
              </a:defRPr>
            </a:pPr>
            <a:r>
              <a:t>• 二级页表：按需分配页表（节省内存）</a:t>
            </a:r>
          </a:p>
        </p:txBody>
      </p:sp>
      <p:sp>
        <p:nvSpPr>
          <p:cNvPr id="10" name="Rounded Rectangle 9"/>
          <p:cNvSpPr/>
          <p:nvPr/>
        </p:nvSpPr>
        <p:spPr>
          <a:xfrm>
            <a:off x="731520" y="6035040"/>
            <a:ext cx="10515600" cy="384048"/>
          </a:xfrm>
          <a:prstGeom prst="roundRect">
            <a:avLst/>
          </a:prstGeom>
          <a:solidFill>
            <a:srgbClr val="E8F5E9"/>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a:solidFill>
                  <a:srgbClr val="333333"/>
                </a:solidFill>
              </a:defRPr>
            </a:pPr>
            <a:r>
              <a:t>• 64 位 x86_64：四级页表（PML4, PDP, PD, PT）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92240"/>
            <a:ext cx="11277295" cy="27432"/>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510528"/>
            <a:ext cx="11277295" cy="320040"/>
          </a:xfrm>
          <a:prstGeom prst="rect">
            <a:avLst/>
          </a:prstGeom>
          <a:noFill/>
        </p:spPr>
        <p:txBody>
          <a:bodyPr wrap="square">
            <a:spAutoFit/>
          </a:bodyPr>
          <a:lstStyle/>
          <a:p>
            <a:pPr algn="r">
              <a:defRPr sz="1000" b="0">
                <a:solidFill>
                  <a:srgbClr val="666666"/>
                </a:solidFill>
              </a:defRPr>
            </a:pPr>
            <a:r>
              <a:t>中山大学计算机学院 操作系统实验</a:t>
            </a:r>
          </a:p>
        </p:txBody>
      </p:sp>
      <p:sp>
        <p:nvSpPr>
          <p:cNvPr id="5" name="TextBox 4"/>
          <p:cNvSpPr txBox="1"/>
          <p:nvPr/>
        </p:nvSpPr>
        <p:spPr>
          <a:xfrm>
            <a:off x="548640" y="274320"/>
            <a:ext cx="10972800" cy="731520"/>
          </a:xfrm>
          <a:prstGeom prst="rect">
            <a:avLst/>
          </a:prstGeom>
          <a:noFill/>
        </p:spPr>
        <p:txBody>
          <a:bodyPr wrap="none">
            <a:spAutoFit/>
          </a:bodyPr>
          <a:lstStyle/>
          <a:p>
            <a:pPr>
              <a:defRPr sz="3200" b="1">
                <a:solidFill>
                  <a:srgbClr val="004D26"/>
                </a:solidFill>
              </a:defRPr>
            </a:pPr>
            <a:r>
              <a:t>开启分页机制的 3 步</a:t>
            </a:r>
          </a:p>
        </p:txBody>
      </p:sp>
      <p:sp>
        <p:nvSpPr>
          <p:cNvPr id="6" name="Rectangle 5"/>
          <p:cNvSpPr/>
          <p:nvPr/>
        </p:nvSpPr>
        <p:spPr>
          <a:xfrm>
            <a:off x="548640" y="1051560"/>
            <a:ext cx="1828800" cy="36576"/>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10515600" cy="5029200"/>
          </a:xfrm>
          <a:prstGeom prst="rect">
            <a:avLst/>
          </a:prstGeom>
          <a:noFill/>
        </p:spPr>
        <p:txBody>
          <a:bodyPr wrap="square">
            <a:spAutoFit/>
          </a:bodyPr>
          <a:lstStyle/>
          <a:p>
            <a:pPr>
              <a:lnSpc>
                <a:spcPct val="120000"/>
              </a:lnSpc>
              <a:spcBef>
                <a:spcPts val="600"/>
              </a:spcBef>
              <a:spcAft>
                <a:spcPts val="400"/>
              </a:spcAft>
              <a:defRPr sz="2000">
                <a:solidFill>
                  <a:srgbClr val="333333"/>
                </a:solidFill>
              </a:defRPr>
            </a:pPr>
            <a:r>
              <a:t>第1步：初始化页目录表和页表</a:t>
            </a:r>
            <a:br/>
            <a:r>
              <a:t>  - 分配 1 页（4KB）作为页目录表</a:t>
            </a:r>
            <a:br/>
            <a:r>
              <a:t>  - 将目录项全部清零（表示页表不存在）</a:t>
            </a:r>
            <a:br/>
            <a:r>
              <a:t>  - 为 0-1MB 内存创建恒等映射（虚拟地址=物理地址）</a:t>
            </a:r>
          </a:p>
          <a:p>
            <a:pPr>
              <a:lnSpc>
                <a:spcPct val="120000"/>
              </a:lnSpc>
              <a:spcBef>
                <a:spcPts val="600"/>
              </a:spcBef>
              <a:spcAft>
                <a:spcPts val="400"/>
              </a:spcAft>
              <a:defRPr sz="2000">
                <a:solidFill>
                  <a:srgbClr val="333333"/>
                </a:solidFill>
              </a:defRPr>
            </a:pPr>
            <a:r>
              <a:t>第2步：将页目录表地址写入 CR3</a:t>
            </a:r>
            <a:br/>
            <a:r>
              <a:t>  mov eax, [页目录表物理地址]</a:t>
            </a:r>
            <a:br/>
            <a:r>
              <a:t>  mov cr3, eax</a:t>
            </a:r>
          </a:p>
          <a:p>
            <a:pPr>
              <a:lnSpc>
                <a:spcPct val="120000"/>
              </a:lnSpc>
              <a:spcBef>
                <a:spcPts val="600"/>
              </a:spcBef>
              <a:spcAft>
                <a:spcPts val="400"/>
              </a:spcAft>
              <a:defRPr sz="2000">
                <a:solidFill>
                  <a:srgbClr val="333333"/>
                </a:solidFill>
              </a:defRPr>
            </a:pPr>
            <a:r>
              <a:t>第3步：设置 CR0.PG = 1</a:t>
            </a:r>
            <a:br/>
            <a:r>
              <a:t>  mov eax, cr0</a:t>
            </a:r>
            <a:br/>
            <a:r>
              <a:t>  or eax, 0x80000000  # Bit 31 = PG</a:t>
            </a:r>
            <a:br/>
            <a:r>
              <a:t>  mov cr0, eax</a:t>
            </a:r>
            <a:br/>
            <a:r>
              <a:t>  # 现在CPU进入分页模式</a:t>
            </a:r>
          </a:p>
          <a:p>
            <a:pPr>
              <a:lnSpc>
                <a:spcPct val="120000"/>
              </a:lnSpc>
              <a:spcBef>
                <a:spcPts val="600"/>
              </a:spcBef>
              <a:spcAft>
                <a:spcPts val="400"/>
              </a:spcAft>
              <a:defRPr sz="2000">
                <a:solidFill>
                  <a:srgbClr val="333333"/>
                </a:solidFill>
              </a:defRPr>
            </a:pPr>
            <a:r>
              <a:t>注意：开启分页前必须建立恒等映射</a:t>
            </a:r>
            <a:br/>
            <a:r>
              <a:t>  否则 CPU 下一条指令的虚拟地址无法翻译 → 立即崩溃</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92240"/>
            <a:ext cx="11277295" cy="27432"/>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510528"/>
            <a:ext cx="11277295" cy="320040"/>
          </a:xfrm>
          <a:prstGeom prst="rect">
            <a:avLst/>
          </a:prstGeom>
          <a:noFill/>
        </p:spPr>
        <p:txBody>
          <a:bodyPr wrap="square">
            <a:spAutoFit/>
          </a:bodyPr>
          <a:lstStyle/>
          <a:p>
            <a:pPr algn="r">
              <a:defRPr sz="1000" b="0">
                <a:solidFill>
                  <a:srgbClr val="666666"/>
                </a:solidFill>
              </a:defRPr>
            </a:pPr>
            <a:r>
              <a:t>中山大学计算机学院 操作系统实验</a:t>
            </a:r>
          </a:p>
        </p:txBody>
      </p:sp>
      <p:sp>
        <p:nvSpPr>
          <p:cNvPr id="5" name="TextBox 4"/>
          <p:cNvSpPr txBox="1"/>
          <p:nvPr/>
        </p:nvSpPr>
        <p:spPr>
          <a:xfrm>
            <a:off x="548640" y="274320"/>
            <a:ext cx="10972800" cy="731520"/>
          </a:xfrm>
          <a:prstGeom prst="rect">
            <a:avLst/>
          </a:prstGeom>
          <a:noFill/>
        </p:spPr>
        <p:txBody>
          <a:bodyPr wrap="none">
            <a:spAutoFit/>
          </a:bodyPr>
          <a:lstStyle/>
          <a:p>
            <a:pPr>
              <a:defRPr sz="3200" b="1">
                <a:solidFill>
                  <a:srgbClr val="004D26"/>
                </a:solidFill>
              </a:defRPr>
            </a:pPr>
            <a:r>
              <a:t>二级页表地址翻译流程（虚拟地址 → 物理地址）</a:t>
            </a:r>
          </a:p>
        </p:txBody>
      </p:sp>
      <p:sp>
        <p:nvSpPr>
          <p:cNvPr id="6" name="Rectangle 5"/>
          <p:cNvSpPr/>
          <p:nvPr/>
        </p:nvSpPr>
        <p:spPr>
          <a:xfrm>
            <a:off x="548640" y="1051560"/>
            <a:ext cx="1828800" cy="36576"/>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10515600" cy="457200"/>
          </a:xfrm>
          <a:prstGeom prst="rect">
            <a:avLst/>
          </a:prstGeom>
          <a:noFill/>
        </p:spPr>
        <p:txBody>
          <a:bodyPr wrap="square">
            <a:spAutoFit/>
          </a:bodyPr>
          <a:lstStyle/>
          <a:p>
            <a:pPr>
              <a:defRPr sz="1400" i="1">
                <a:solidFill>
                  <a:srgbClr val="666666"/>
                </a:solidFill>
              </a:defRPr>
            </a:pPr>
            <a:r>
              <a:t>CPU 的 MMU 硬件自动完成此过程（TLB 缓存加速）</a:t>
            </a:r>
          </a:p>
        </p:txBody>
      </p:sp>
      <p:sp>
        <p:nvSpPr>
          <p:cNvPr id="8" name="Oval 7"/>
          <p:cNvSpPr/>
          <p:nvPr/>
        </p:nvSpPr>
        <p:spPr>
          <a:xfrm>
            <a:off x="914400" y="1947426"/>
            <a:ext cx="308113" cy="308113"/>
          </a:xfrm>
          <a:prstGeom prst="ellipse">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defRPr>
            </a:pPr>
            <a:r>
              <a:t>1</a:t>
            </a:r>
          </a:p>
        </p:txBody>
      </p:sp>
      <p:sp>
        <p:nvSpPr>
          <p:cNvPr id="9" name="Rectangle 8"/>
          <p:cNvSpPr/>
          <p:nvPr/>
        </p:nvSpPr>
        <p:spPr>
          <a:xfrm>
            <a:off x="1554480" y="1920240"/>
            <a:ext cx="64008" cy="362485"/>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18488" y="1920240"/>
            <a:ext cx="9811512" cy="362485"/>
          </a:xfrm>
          <a:prstGeom prst="rect">
            <a:avLst/>
          </a:prstGeom>
          <a:solidFill>
            <a:srgbClr val="E8F5E9"/>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137160"/>
          <a:lstStyle/>
          <a:p>
            <a:pPr algn="l">
              <a:defRPr sz="1500" b="1">
                <a:solidFill>
                  <a:srgbClr val="333333"/>
                </a:solidFill>
              </a:defRPr>
            </a:pPr>
            <a:r>
              <a:t>虚拟地址拆分为 3 段：PDE索引[31:22] + PTE索引[21:12] + 页内偏移[11:0]</a:t>
            </a:r>
          </a:p>
        </p:txBody>
      </p:sp>
      <p:sp>
        <p:nvSpPr>
          <p:cNvPr id="11" name="Down Arrow 10"/>
          <p:cNvSpPr/>
          <p:nvPr/>
        </p:nvSpPr>
        <p:spPr>
          <a:xfrm>
            <a:off x="6355080" y="2282725"/>
            <a:ext cx="274320" cy="163703"/>
          </a:xfrm>
          <a:prstGeom prst="downArrow">
            <a:avLst/>
          </a:prstGeom>
          <a:solidFill>
            <a:srgbClr val="BDBD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2473615"/>
            <a:ext cx="308113" cy="308113"/>
          </a:xfrm>
          <a:prstGeom prst="ellipse">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defRPr>
            </a:pPr>
            <a:r>
              <a:t>2</a:t>
            </a:r>
          </a:p>
        </p:txBody>
      </p:sp>
      <p:sp>
        <p:nvSpPr>
          <p:cNvPr id="13" name="Rectangle 12"/>
          <p:cNvSpPr/>
          <p:nvPr/>
        </p:nvSpPr>
        <p:spPr>
          <a:xfrm>
            <a:off x="1554480" y="2446429"/>
            <a:ext cx="64008" cy="362485"/>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18488" y="2446429"/>
            <a:ext cx="9811512" cy="362485"/>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137160"/>
          <a:lstStyle/>
          <a:p>
            <a:pPr algn="l">
              <a:defRPr sz="1500" b="0">
                <a:solidFill>
                  <a:srgbClr val="333333"/>
                </a:solidFill>
              </a:defRPr>
            </a:pPr>
            <a:r>
              <a:t>从 CR3 寄存器获取页目录表的物理基址</a:t>
            </a:r>
          </a:p>
        </p:txBody>
      </p:sp>
      <p:sp>
        <p:nvSpPr>
          <p:cNvPr id="15" name="Down Arrow 14"/>
          <p:cNvSpPr/>
          <p:nvPr/>
        </p:nvSpPr>
        <p:spPr>
          <a:xfrm>
            <a:off x="6355080" y="2808915"/>
            <a:ext cx="274320" cy="163703"/>
          </a:xfrm>
          <a:prstGeom prst="downArrow">
            <a:avLst/>
          </a:prstGeom>
          <a:solidFill>
            <a:srgbClr val="BDBD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4400" y="2999804"/>
            <a:ext cx="308113" cy="308113"/>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defRPr>
            </a:pPr>
            <a:r>
              <a:t>3</a:t>
            </a:r>
          </a:p>
        </p:txBody>
      </p:sp>
      <p:sp>
        <p:nvSpPr>
          <p:cNvPr id="17" name="Rectangle 16"/>
          <p:cNvSpPr/>
          <p:nvPr/>
        </p:nvSpPr>
        <p:spPr>
          <a:xfrm>
            <a:off x="1554480" y="2972618"/>
            <a:ext cx="64008" cy="362485"/>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618488" y="2972618"/>
            <a:ext cx="9811512" cy="362485"/>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137160"/>
          <a:lstStyle/>
          <a:p>
            <a:pPr algn="l">
              <a:defRPr sz="1500" b="0">
                <a:solidFill>
                  <a:srgbClr val="333333"/>
                </a:solidFill>
              </a:defRPr>
            </a:pPr>
            <a:r>
              <a:t>用 PDE索引 定位页目录项：PDE = Directory[PDE索引]</a:t>
            </a:r>
          </a:p>
        </p:txBody>
      </p:sp>
      <p:sp>
        <p:nvSpPr>
          <p:cNvPr id="19" name="Down Arrow 18"/>
          <p:cNvSpPr/>
          <p:nvPr/>
        </p:nvSpPr>
        <p:spPr>
          <a:xfrm>
            <a:off x="6355080" y="3335104"/>
            <a:ext cx="274320" cy="163703"/>
          </a:xfrm>
          <a:prstGeom prst="downArrow">
            <a:avLst/>
          </a:prstGeom>
          <a:solidFill>
            <a:srgbClr val="BDBD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525994"/>
            <a:ext cx="308113" cy="308113"/>
          </a:xfrm>
          <a:prstGeom prst="ellipse">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defRPr>
            </a:pPr>
            <a:r>
              <a:t>4</a:t>
            </a:r>
          </a:p>
        </p:txBody>
      </p:sp>
      <p:sp>
        <p:nvSpPr>
          <p:cNvPr id="21" name="Rectangle 20"/>
          <p:cNvSpPr/>
          <p:nvPr/>
        </p:nvSpPr>
        <p:spPr>
          <a:xfrm>
            <a:off x="1554480" y="3498807"/>
            <a:ext cx="64008" cy="362485"/>
          </a:xfrm>
          <a:prstGeom prst="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618488" y="3498807"/>
            <a:ext cx="9811512" cy="362485"/>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137160"/>
          <a:lstStyle/>
          <a:p>
            <a:pPr algn="l">
              <a:defRPr sz="1500" b="0">
                <a:solidFill>
                  <a:srgbClr val="333333"/>
                </a:solidFill>
              </a:defRPr>
            </a:pPr>
            <a:r>
              <a:t>检查 PDE.P 位：P=0 → 缺页异常（#PF），P=1 → 继续</a:t>
            </a:r>
          </a:p>
        </p:txBody>
      </p:sp>
      <p:sp>
        <p:nvSpPr>
          <p:cNvPr id="23" name="Down Arrow 22"/>
          <p:cNvSpPr/>
          <p:nvPr/>
        </p:nvSpPr>
        <p:spPr>
          <a:xfrm>
            <a:off x="6355080" y="3861293"/>
            <a:ext cx="274320" cy="163703"/>
          </a:xfrm>
          <a:prstGeom prst="downArrow">
            <a:avLst/>
          </a:prstGeom>
          <a:solidFill>
            <a:srgbClr val="BDBD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052183"/>
            <a:ext cx="308113" cy="308113"/>
          </a:xfrm>
          <a:prstGeom prst="ellipse">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defRPr>
            </a:pPr>
            <a:r>
              <a:t>5</a:t>
            </a:r>
          </a:p>
        </p:txBody>
      </p:sp>
      <p:sp>
        <p:nvSpPr>
          <p:cNvPr id="25" name="Rectangle 24"/>
          <p:cNvSpPr/>
          <p:nvPr/>
        </p:nvSpPr>
        <p:spPr>
          <a:xfrm>
            <a:off x="1554480" y="4024997"/>
            <a:ext cx="64008" cy="362485"/>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618488" y="4024997"/>
            <a:ext cx="9811512" cy="362485"/>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137160"/>
          <a:lstStyle/>
          <a:p>
            <a:pPr algn="l">
              <a:defRPr sz="1500" b="0">
                <a:solidFill>
                  <a:srgbClr val="333333"/>
                </a:solidFill>
              </a:defRPr>
            </a:pPr>
            <a:r>
              <a:t>从 PDE 获取页表的物理基址（PDE 的高 20 位）</a:t>
            </a:r>
          </a:p>
        </p:txBody>
      </p:sp>
      <p:sp>
        <p:nvSpPr>
          <p:cNvPr id="27" name="Down Arrow 26"/>
          <p:cNvSpPr/>
          <p:nvPr/>
        </p:nvSpPr>
        <p:spPr>
          <a:xfrm>
            <a:off x="6355080" y="4387482"/>
            <a:ext cx="274320" cy="163703"/>
          </a:xfrm>
          <a:prstGeom prst="downArrow">
            <a:avLst/>
          </a:prstGeom>
          <a:solidFill>
            <a:srgbClr val="BDBD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4578372"/>
            <a:ext cx="308113" cy="308113"/>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defRPr>
            </a:pPr>
            <a:r>
              <a:t>6</a:t>
            </a:r>
          </a:p>
        </p:txBody>
      </p:sp>
      <p:sp>
        <p:nvSpPr>
          <p:cNvPr id="29" name="Rectangle 28"/>
          <p:cNvSpPr/>
          <p:nvPr/>
        </p:nvSpPr>
        <p:spPr>
          <a:xfrm>
            <a:off x="1554480" y="4551186"/>
            <a:ext cx="64008" cy="362485"/>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618488" y="4551186"/>
            <a:ext cx="9811512" cy="362485"/>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137160"/>
          <a:lstStyle/>
          <a:p>
            <a:pPr algn="l">
              <a:defRPr sz="1500" b="0">
                <a:solidFill>
                  <a:srgbClr val="333333"/>
                </a:solidFill>
              </a:defRPr>
            </a:pPr>
            <a:r>
              <a:t>用 PTE索引 定位页表项：PTE = PageTable[PTE索引]</a:t>
            </a:r>
          </a:p>
        </p:txBody>
      </p:sp>
      <p:sp>
        <p:nvSpPr>
          <p:cNvPr id="31" name="Down Arrow 30"/>
          <p:cNvSpPr/>
          <p:nvPr/>
        </p:nvSpPr>
        <p:spPr>
          <a:xfrm>
            <a:off x="6355080" y="4913672"/>
            <a:ext cx="274320" cy="163703"/>
          </a:xfrm>
          <a:prstGeom prst="downArrow">
            <a:avLst/>
          </a:prstGeom>
          <a:solidFill>
            <a:srgbClr val="BDBD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104561"/>
            <a:ext cx="308113" cy="308113"/>
          </a:xfrm>
          <a:prstGeom prst="ellipse">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defRPr>
            </a:pPr>
            <a:r>
              <a:t>7</a:t>
            </a:r>
          </a:p>
        </p:txBody>
      </p:sp>
      <p:sp>
        <p:nvSpPr>
          <p:cNvPr id="33" name="Rectangle 32"/>
          <p:cNvSpPr/>
          <p:nvPr/>
        </p:nvSpPr>
        <p:spPr>
          <a:xfrm>
            <a:off x="1554480" y="5077375"/>
            <a:ext cx="64008" cy="362485"/>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618488" y="5077375"/>
            <a:ext cx="9811512" cy="362485"/>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137160"/>
          <a:lstStyle/>
          <a:p>
            <a:pPr algn="l">
              <a:defRPr sz="1500" b="0">
                <a:solidFill>
                  <a:srgbClr val="333333"/>
                </a:solidFill>
              </a:defRPr>
            </a:pPr>
            <a:r>
              <a:t>检查 PTE.P 位：P=0 → 缺页异常（#PF），P=1 → 继续</a:t>
            </a:r>
          </a:p>
        </p:txBody>
      </p:sp>
      <p:sp>
        <p:nvSpPr>
          <p:cNvPr id="35" name="Down Arrow 34"/>
          <p:cNvSpPr/>
          <p:nvPr/>
        </p:nvSpPr>
        <p:spPr>
          <a:xfrm>
            <a:off x="6355080" y="5439861"/>
            <a:ext cx="274320" cy="163703"/>
          </a:xfrm>
          <a:prstGeom prst="downArrow">
            <a:avLst/>
          </a:prstGeom>
          <a:solidFill>
            <a:srgbClr val="BDBD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630751"/>
            <a:ext cx="308113" cy="308113"/>
          </a:xfrm>
          <a:prstGeom prst="ellipse">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defRPr>
            </a:pPr>
            <a:r>
              <a:t>8</a:t>
            </a:r>
          </a:p>
        </p:txBody>
      </p:sp>
      <p:sp>
        <p:nvSpPr>
          <p:cNvPr id="37" name="Rectangle 36"/>
          <p:cNvSpPr/>
          <p:nvPr/>
        </p:nvSpPr>
        <p:spPr>
          <a:xfrm>
            <a:off x="1554480" y="5603564"/>
            <a:ext cx="64008" cy="362485"/>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618488" y="5603564"/>
            <a:ext cx="9811512" cy="362485"/>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137160"/>
          <a:lstStyle/>
          <a:p>
            <a:pPr algn="l">
              <a:defRPr sz="1500" b="0">
                <a:solidFill>
                  <a:srgbClr val="333333"/>
                </a:solidFill>
              </a:defRPr>
            </a:pPr>
            <a:r>
              <a:t>从 PTE 获取物理页基址（PTE 的高 20 位）</a:t>
            </a:r>
          </a:p>
        </p:txBody>
      </p:sp>
      <p:sp>
        <p:nvSpPr>
          <p:cNvPr id="39" name="Down Arrow 38"/>
          <p:cNvSpPr/>
          <p:nvPr/>
        </p:nvSpPr>
        <p:spPr>
          <a:xfrm>
            <a:off x="6355080" y="5966050"/>
            <a:ext cx="274320" cy="163703"/>
          </a:xfrm>
          <a:prstGeom prst="downArrow">
            <a:avLst/>
          </a:prstGeom>
          <a:solidFill>
            <a:srgbClr val="BDBD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14400" y="6156940"/>
            <a:ext cx="308113" cy="308113"/>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defRPr>
            </a:pPr>
            <a:r>
              <a:t>9</a:t>
            </a:r>
          </a:p>
        </p:txBody>
      </p:sp>
      <p:sp>
        <p:nvSpPr>
          <p:cNvPr id="41" name="Rectangle 40"/>
          <p:cNvSpPr/>
          <p:nvPr/>
        </p:nvSpPr>
        <p:spPr>
          <a:xfrm>
            <a:off x="1554480" y="6129754"/>
            <a:ext cx="64008" cy="362485"/>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618488" y="6129754"/>
            <a:ext cx="9811512" cy="362485"/>
          </a:xfrm>
          <a:prstGeom prst="rect">
            <a:avLst/>
          </a:prstGeom>
          <a:solidFill>
            <a:srgbClr val="E3F2FD"/>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137160"/>
          <a:lstStyle/>
          <a:p>
            <a:pPr algn="l">
              <a:defRPr sz="1500" b="1">
                <a:solidFill>
                  <a:srgbClr val="333333"/>
                </a:solidFill>
              </a:defRPr>
            </a:pPr>
            <a:r>
              <a:t>物理地址 = 物理页基址 + 页内偏移（低 12 位）</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6633"/>
        </a:solidFill>
        <a:effectLst/>
      </p:bgPr>
    </p:bg>
    <p:spTree>
      <p:nvGrpSpPr>
        <p:cNvPr id="1" name=""/>
        <p:cNvGrpSpPr/>
        <p:nvPr/>
      </p:nvGrpSpPr>
      <p:grpSpPr/>
      <p:sp>
        <p:nvSpPr>
          <p:cNvPr id="2" name="TextBox 1"/>
          <p:cNvSpPr txBox="1"/>
          <p:nvPr/>
        </p:nvSpPr>
        <p:spPr>
          <a:xfrm>
            <a:off x="914400" y="1828800"/>
            <a:ext cx="10058400" cy="914400"/>
          </a:xfrm>
          <a:prstGeom prst="rect">
            <a:avLst/>
          </a:prstGeom>
          <a:noFill/>
        </p:spPr>
        <p:txBody>
          <a:bodyPr wrap="square">
            <a:spAutoFit/>
          </a:bodyPr>
          <a:lstStyle/>
          <a:p>
            <a:pPr algn="l">
              <a:defRPr sz="2400" b="0">
                <a:solidFill>
                  <a:srgbClr val="AADDAA"/>
                </a:solidFill>
              </a:defRPr>
            </a:pPr>
            <a:r>
              <a:t>Part 04</a:t>
            </a:r>
          </a:p>
        </p:txBody>
      </p:sp>
      <p:sp>
        <p:nvSpPr>
          <p:cNvPr id="3" name="TextBox 2"/>
          <p:cNvSpPr txBox="1"/>
          <p:nvPr/>
        </p:nvSpPr>
        <p:spPr>
          <a:xfrm>
            <a:off x="914400" y="2560320"/>
            <a:ext cx="10058400" cy="1371600"/>
          </a:xfrm>
          <a:prstGeom prst="rect">
            <a:avLst/>
          </a:prstGeom>
          <a:noFill/>
        </p:spPr>
        <p:txBody>
          <a:bodyPr wrap="square">
            <a:spAutoFit/>
          </a:bodyPr>
          <a:lstStyle/>
          <a:p>
            <a:pPr algn="l">
              <a:defRPr sz="4000" b="1">
                <a:solidFill>
                  <a:srgbClr val="FFFFFF"/>
                </a:solidFill>
              </a:defRPr>
            </a:pPr>
            <a:r>
              <a:t>虚拟内存管理</a:t>
            </a:r>
          </a:p>
        </p:txBody>
      </p:sp>
      <p:sp>
        <p:nvSpPr>
          <p:cNvPr id="4" name="TextBox 3"/>
          <p:cNvSpPr txBox="1"/>
          <p:nvPr/>
        </p:nvSpPr>
        <p:spPr>
          <a:xfrm>
            <a:off x="914400" y="4023360"/>
            <a:ext cx="10058400" cy="731520"/>
          </a:xfrm>
          <a:prstGeom prst="rect">
            <a:avLst/>
          </a:prstGeom>
          <a:noFill/>
        </p:spPr>
        <p:txBody>
          <a:bodyPr wrap="square">
            <a:spAutoFit/>
          </a:bodyPr>
          <a:lstStyle/>
          <a:p>
            <a:pPr algn="l">
              <a:defRPr sz="2000" b="0">
                <a:solidFill>
                  <a:srgbClr val="DDEEDD"/>
                </a:solidFill>
              </a:defRPr>
            </a:pPr>
            <a:r>
              <a:t>虚拟地址池与地址映射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92240"/>
            <a:ext cx="11277295" cy="27432"/>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510528"/>
            <a:ext cx="11277295" cy="320040"/>
          </a:xfrm>
          <a:prstGeom prst="rect">
            <a:avLst/>
          </a:prstGeom>
          <a:noFill/>
        </p:spPr>
        <p:txBody>
          <a:bodyPr wrap="square">
            <a:spAutoFit/>
          </a:bodyPr>
          <a:lstStyle/>
          <a:p>
            <a:pPr algn="r">
              <a:defRPr sz="1000" b="0">
                <a:solidFill>
                  <a:srgbClr val="666666"/>
                </a:solidFill>
              </a:defRPr>
            </a:pPr>
            <a:r>
              <a:t>中山大学计算机学院 操作系统实验</a:t>
            </a:r>
          </a:p>
        </p:txBody>
      </p:sp>
      <p:sp>
        <p:nvSpPr>
          <p:cNvPr id="5" name="TextBox 4"/>
          <p:cNvSpPr txBox="1"/>
          <p:nvPr/>
        </p:nvSpPr>
        <p:spPr>
          <a:xfrm>
            <a:off x="548640" y="274320"/>
            <a:ext cx="10972800" cy="731520"/>
          </a:xfrm>
          <a:prstGeom prst="rect">
            <a:avLst/>
          </a:prstGeom>
          <a:noFill/>
        </p:spPr>
        <p:txBody>
          <a:bodyPr wrap="none">
            <a:spAutoFit/>
          </a:bodyPr>
          <a:lstStyle/>
          <a:p>
            <a:pPr>
              <a:defRPr sz="3200" b="1">
                <a:solidFill>
                  <a:srgbClr val="004D26"/>
                </a:solidFill>
              </a:defRPr>
            </a:pPr>
            <a:r>
              <a:t>虚拟内存分配流程</a:t>
            </a:r>
          </a:p>
        </p:txBody>
      </p:sp>
      <p:sp>
        <p:nvSpPr>
          <p:cNvPr id="6" name="Rectangle 5"/>
          <p:cNvSpPr/>
          <p:nvPr/>
        </p:nvSpPr>
        <p:spPr>
          <a:xfrm>
            <a:off x="548640" y="1051560"/>
            <a:ext cx="1828800" cy="36576"/>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10515600" cy="3657600"/>
          </a:xfrm>
          <a:prstGeom prst="rect">
            <a:avLst/>
          </a:prstGeom>
          <a:noFill/>
        </p:spPr>
        <p:txBody>
          <a:bodyPr wrap="square">
            <a:spAutoFit/>
          </a:bodyPr>
          <a:lstStyle/>
          <a:p>
            <a:pPr>
              <a:lnSpc>
                <a:spcPct val="130000"/>
              </a:lnSpc>
              <a:spcBef>
                <a:spcPts val="400"/>
              </a:spcBef>
              <a:spcAft>
                <a:spcPts val="600"/>
              </a:spcAft>
              <a:defRPr sz="1700">
                <a:solidFill>
                  <a:srgbClr val="333333"/>
                </a:solidFill>
              </a:defRPr>
            </a:pPr>
            <a:r>
              <a:t>虚拟内存分配比物理内存复杂，需要 3 步：</a:t>
            </a:r>
            <a:br/>
            <a:br/>
            <a:r>
              <a:t>1) 从虚拟地址池分配连续的虚拟页号（VPN）</a:t>
            </a:r>
            <a:br/>
            <a:r>
              <a:t>   - 内核虚拟地址池（0xC0000000~0xFFFFFFFF，1GB）</a:t>
            </a:r>
            <a:br/>
            <a:r>
              <a:t>   - 用户虚拟地址池（0x08048000~0xBFFFFFFF，约 3GB）</a:t>
            </a:r>
            <a:br/>
            <a:br/>
            <a:r>
              <a:t>2) 为每个虚拟页分配物理页（从物理地址池）</a:t>
            </a:r>
            <a:br/>
            <a:r>
              <a:t>   - 虚拟页和物理页不需要连续</a:t>
            </a:r>
            <a:br/>
            <a:r>
              <a:t>   - 例如：虚拟页 [0xC0000000, 0xC0001000] 可映射到物理页 [0x100000, 0x500000]</a:t>
            </a:r>
            <a:br/>
            <a:br/>
            <a:r>
              <a:t>3) 建立页目录项（PDE）和页表项（PTE）</a:t>
            </a:r>
            <a:br/>
            <a:r>
              <a:t>   - 将虚拟页号拆分为 PDE索引 + PTE索引</a:t>
            </a:r>
            <a:br/>
            <a:r>
              <a:t>   - 如果页表不存在，先分配页表</a:t>
            </a:r>
            <a:br/>
            <a:r>
              <a:t>   - 设置 PTE：物理页基址 + 标志位（P=1, RW=1, US=0/1）</a:t>
            </a:r>
            <a:br/>
            <a:br/>
            <a:r>
              <a:t>为什么需要虚拟内存？</a:t>
            </a:r>
            <a:br/>
            <a:r>
              <a:t>1) 进程隔离：每个进程有独立的 4GB 虚拟空间，互不干扰</a:t>
            </a:r>
            <a:br/>
            <a:r>
              <a:t>2) 内存保护：页表项的 US 位区分内核/用户（Ring 0/3），防止用户程序访问内核内存</a:t>
            </a:r>
            <a:br/>
            <a:r>
              <a:t>3) 内存共享：多个虚拟页可映射到同一物理页（共享库、父子进程）</a:t>
            </a:r>
            <a:br/>
            <a:r>
              <a:t>4) 延迟分配：先分配虚拟页，物理页在真正使用时再分配（缺页中断）</a:t>
            </a:r>
          </a:p>
        </p:txBody>
      </p:sp>
      <p:sp>
        <p:nvSpPr>
          <p:cNvPr id="8" name="Rounded Rectangle 7"/>
          <p:cNvSpPr/>
          <p:nvPr/>
        </p:nvSpPr>
        <p:spPr>
          <a:xfrm>
            <a:off x="731520" y="5120640"/>
            <a:ext cx="10515600" cy="384048"/>
          </a:xfrm>
          <a:prstGeom prst="roundRect">
            <a:avLst/>
          </a:prstGeom>
          <a:solidFill>
            <a:srgbClr val="E8F5E9"/>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a:solidFill>
                  <a:srgbClr val="333333"/>
                </a:solidFill>
              </a:defRPr>
            </a:pPr>
            <a:r>
              <a:t>• Linux 的 vmalloc()：分配虚拟连续但物理不连续的内存</a:t>
            </a:r>
          </a:p>
        </p:txBody>
      </p:sp>
      <p:sp>
        <p:nvSpPr>
          <p:cNvPr id="9" name="Rounded Rectangle 8"/>
          <p:cNvSpPr/>
          <p:nvPr/>
        </p:nvSpPr>
        <p:spPr>
          <a:xfrm>
            <a:off x="731520" y="5577840"/>
            <a:ext cx="10515600" cy="384048"/>
          </a:xfrm>
          <a:prstGeom prst="roundRect">
            <a:avLst/>
          </a:prstGeom>
          <a:solidFill>
            <a:srgbClr val="E8F5E9"/>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a:solidFill>
                  <a:srgbClr val="333333"/>
                </a:solidFill>
              </a:defRPr>
            </a:pPr>
            <a:r>
              <a:t>• Windows 的 VirtualAlloc()：预留虚拟地址空间</a:t>
            </a:r>
          </a:p>
        </p:txBody>
      </p:sp>
      <p:sp>
        <p:nvSpPr>
          <p:cNvPr id="10" name="Rounded Rectangle 9"/>
          <p:cNvSpPr/>
          <p:nvPr/>
        </p:nvSpPr>
        <p:spPr>
          <a:xfrm>
            <a:off x="731520" y="6035040"/>
            <a:ext cx="10515600" cy="384048"/>
          </a:xfrm>
          <a:prstGeom prst="roundRect">
            <a:avLst/>
          </a:prstGeom>
          <a:solidFill>
            <a:srgbClr val="E8F5E9"/>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a:solidFill>
                  <a:srgbClr val="333333"/>
                </a:solidFill>
              </a:defRPr>
            </a:pPr>
            <a:r>
              <a:t>• mmap()：将文件映射到虚拟内存</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6633"/>
        </a:solidFill>
        <a:effectLst/>
      </p:bgPr>
    </p:bg>
    <p:spTree>
      <p:nvGrpSpPr>
        <p:cNvPr id="1" name=""/>
        <p:cNvGrpSpPr/>
        <p:nvPr/>
      </p:nvGrpSpPr>
      <p:grpSpPr/>
      <p:sp>
        <p:nvSpPr>
          <p:cNvPr id="2" name="TextBox 1"/>
          <p:cNvSpPr txBox="1"/>
          <p:nvPr/>
        </p:nvSpPr>
        <p:spPr>
          <a:xfrm>
            <a:off x="914400" y="1828800"/>
            <a:ext cx="10058400" cy="914400"/>
          </a:xfrm>
          <a:prstGeom prst="rect">
            <a:avLst/>
          </a:prstGeom>
          <a:noFill/>
        </p:spPr>
        <p:txBody>
          <a:bodyPr wrap="square">
            <a:spAutoFit/>
          </a:bodyPr>
          <a:lstStyle/>
          <a:p>
            <a:pPr algn="l">
              <a:defRPr sz="2400" b="0">
                <a:solidFill>
                  <a:srgbClr val="AADDAA"/>
                </a:solidFill>
              </a:defRPr>
            </a:pPr>
            <a:r>
              <a:t>Part 05</a:t>
            </a:r>
          </a:p>
        </p:txBody>
      </p:sp>
      <p:sp>
        <p:nvSpPr>
          <p:cNvPr id="3" name="TextBox 2"/>
          <p:cNvSpPr txBox="1"/>
          <p:nvPr/>
        </p:nvSpPr>
        <p:spPr>
          <a:xfrm>
            <a:off x="914400" y="2560320"/>
            <a:ext cx="10058400" cy="1371600"/>
          </a:xfrm>
          <a:prstGeom prst="rect">
            <a:avLst/>
          </a:prstGeom>
          <a:noFill/>
        </p:spPr>
        <p:txBody>
          <a:bodyPr wrap="square">
            <a:spAutoFit/>
          </a:bodyPr>
          <a:lstStyle/>
          <a:p>
            <a:pPr algn="l">
              <a:defRPr sz="4000" b="1">
                <a:solidFill>
                  <a:srgbClr val="FFFFFF"/>
                </a:solidFill>
              </a:defRPr>
            </a:pPr>
            <a:r>
              <a:t>动态分区分配算法</a:t>
            </a:r>
          </a:p>
        </p:txBody>
      </p:sp>
      <p:sp>
        <p:nvSpPr>
          <p:cNvPr id="4" name="TextBox 3"/>
          <p:cNvSpPr txBox="1"/>
          <p:nvPr/>
        </p:nvSpPr>
        <p:spPr>
          <a:xfrm>
            <a:off x="914400" y="4023360"/>
            <a:ext cx="10058400" cy="731520"/>
          </a:xfrm>
          <a:prstGeom prst="rect">
            <a:avLst/>
          </a:prstGeom>
          <a:noFill/>
        </p:spPr>
        <p:txBody>
          <a:bodyPr wrap="square">
            <a:spAutoFit/>
          </a:bodyPr>
          <a:lstStyle/>
          <a:p>
            <a:pPr algn="l">
              <a:defRPr sz="2000" b="0">
                <a:solidFill>
                  <a:srgbClr val="DDEEDD"/>
                </a:solidFill>
              </a:defRPr>
            </a:pPr>
            <a:r>
              <a:t>First Fit / Best Fit / Worst Fit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92240"/>
            <a:ext cx="11277295" cy="27432"/>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510528"/>
            <a:ext cx="11277295" cy="320040"/>
          </a:xfrm>
          <a:prstGeom prst="rect">
            <a:avLst/>
          </a:prstGeom>
          <a:noFill/>
        </p:spPr>
        <p:txBody>
          <a:bodyPr wrap="square">
            <a:spAutoFit/>
          </a:bodyPr>
          <a:lstStyle/>
          <a:p>
            <a:pPr algn="r">
              <a:defRPr sz="1000" b="0">
                <a:solidFill>
                  <a:srgbClr val="666666"/>
                </a:solidFill>
              </a:defRPr>
            </a:pPr>
            <a:r>
              <a:t>中山大学计算机学院 操作系统实验</a:t>
            </a:r>
          </a:p>
        </p:txBody>
      </p:sp>
      <p:sp>
        <p:nvSpPr>
          <p:cNvPr id="5" name="TextBox 4"/>
          <p:cNvSpPr txBox="1"/>
          <p:nvPr/>
        </p:nvSpPr>
        <p:spPr>
          <a:xfrm>
            <a:off x="548640" y="274320"/>
            <a:ext cx="10972800" cy="731520"/>
          </a:xfrm>
          <a:prstGeom prst="rect">
            <a:avLst/>
          </a:prstGeom>
          <a:noFill/>
        </p:spPr>
        <p:txBody>
          <a:bodyPr wrap="none">
            <a:spAutoFit/>
          </a:bodyPr>
          <a:lstStyle/>
          <a:p>
            <a:pPr>
              <a:defRPr sz="3200" b="1">
                <a:solidFill>
                  <a:srgbClr val="004D26"/>
                </a:solidFill>
              </a:defRPr>
            </a:pPr>
            <a:r>
              <a:t>常见分配算法</a:t>
            </a:r>
          </a:p>
        </p:txBody>
      </p:sp>
      <p:sp>
        <p:nvSpPr>
          <p:cNvPr id="6" name="Rectangle 5"/>
          <p:cNvSpPr/>
          <p:nvPr/>
        </p:nvSpPr>
        <p:spPr>
          <a:xfrm>
            <a:off x="548640" y="1051560"/>
            <a:ext cx="1828800" cy="36576"/>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10515600" cy="5029200"/>
          </a:xfrm>
          <a:prstGeom prst="rect">
            <a:avLst/>
          </a:prstGeom>
          <a:noFill/>
        </p:spPr>
        <p:txBody>
          <a:bodyPr wrap="square">
            <a:spAutoFit/>
          </a:bodyPr>
          <a:lstStyle/>
          <a:p>
            <a:pPr>
              <a:lnSpc>
                <a:spcPct val="120000"/>
              </a:lnSpc>
              <a:spcBef>
                <a:spcPts val="600"/>
              </a:spcBef>
              <a:spcAft>
                <a:spcPts val="400"/>
              </a:spcAft>
              <a:defRPr sz="2000">
                <a:solidFill>
                  <a:srgbClr val="333333"/>
                </a:solidFill>
              </a:defRPr>
            </a:pPr>
            <a:r>
              <a:t>First Fit（首次适应）：</a:t>
            </a:r>
            <a:br/>
            <a:r>
              <a:t>  从头开始，找到第一个足够大的空闲分区</a:t>
            </a:r>
            <a:br/>
            <a:r>
              <a:t>  优点：简单快速；缺点：低地址碎片多</a:t>
            </a:r>
          </a:p>
          <a:p>
            <a:pPr>
              <a:lnSpc>
                <a:spcPct val="120000"/>
              </a:lnSpc>
              <a:spcBef>
                <a:spcPts val="600"/>
              </a:spcBef>
              <a:spcAft>
                <a:spcPts val="400"/>
              </a:spcAft>
              <a:defRPr sz="2000">
                <a:solidFill>
                  <a:srgbClr val="333333"/>
                </a:solidFill>
              </a:defRPr>
            </a:pPr>
            <a:r>
              <a:t>Best Fit（最佳适应）：</a:t>
            </a:r>
            <a:br/>
            <a:r>
              <a:t>  找到最小的足够大的空闲分区</a:t>
            </a:r>
            <a:br/>
            <a:r>
              <a:t>  优点：节省空间；缺点：产生大量小碎片，查找慢</a:t>
            </a:r>
          </a:p>
          <a:p>
            <a:pPr>
              <a:lnSpc>
                <a:spcPct val="120000"/>
              </a:lnSpc>
              <a:spcBef>
                <a:spcPts val="600"/>
              </a:spcBef>
              <a:spcAft>
                <a:spcPts val="400"/>
              </a:spcAft>
              <a:defRPr sz="2000">
                <a:solidFill>
                  <a:srgbClr val="333333"/>
                </a:solidFill>
              </a:defRPr>
            </a:pPr>
            <a:r>
              <a:t>Worst Fit（最坏适应）：</a:t>
            </a:r>
            <a:br/>
            <a:r>
              <a:t>  找到最大的空闲分区</a:t>
            </a:r>
            <a:br/>
            <a:r>
              <a:t>  优点：剩余碎片大（可继续分配）；缺点：大块被快速消耗</a:t>
            </a:r>
          </a:p>
          <a:p>
            <a:pPr>
              <a:lnSpc>
                <a:spcPct val="120000"/>
              </a:lnSpc>
              <a:spcBef>
                <a:spcPts val="600"/>
              </a:spcBef>
              <a:spcAft>
                <a:spcPts val="400"/>
              </a:spcAft>
              <a:defRPr sz="2000">
                <a:solidFill>
                  <a:srgbClr val="333333"/>
                </a:solidFill>
              </a:defRPr>
            </a:pPr>
            <a:r>
              <a:t>Next Fit（循环首次适应）：</a:t>
            </a:r>
            <a:br/>
            <a:r>
              <a:t>  从上次分配位置开始搜索</a:t>
            </a:r>
            <a:br/>
            <a:r>
              <a:t>  优点：均匀分布；缺点：高地址碎片多</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6633"/>
        </a:solidFill>
        <a:effectLst/>
      </p:bgPr>
    </p:bg>
    <p:spTree>
      <p:nvGrpSpPr>
        <p:cNvPr id="1" name=""/>
        <p:cNvGrpSpPr/>
        <p:nvPr/>
      </p:nvGrpSpPr>
      <p:grpSpPr/>
      <p:sp>
        <p:nvSpPr>
          <p:cNvPr id="2" name="TextBox 1"/>
          <p:cNvSpPr txBox="1"/>
          <p:nvPr/>
        </p:nvSpPr>
        <p:spPr>
          <a:xfrm>
            <a:off x="914400" y="1828800"/>
            <a:ext cx="10058400" cy="914400"/>
          </a:xfrm>
          <a:prstGeom prst="rect">
            <a:avLst/>
          </a:prstGeom>
          <a:noFill/>
        </p:spPr>
        <p:txBody>
          <a:bodyPr wrap="square">
            <a:spAutoFit/>
          </a:bodyPr>
          <a:lstStyle/>
          <a:p>
            <a:pPr algn="l">
              <a:defRPr sz="2400" b="0">
                <a:solidFill>
                  <a:srgbClr val="AADDAA"/>
                </a:solidFill>
              </a:defRPr>
            </a:pPr>
            <a:r>
              <a:t>Part 06</a:t>
            </a:r>
          </a:p>
        </p:txBody>
      </p:sp>
      <p:sp>
        <p:nvSpPr>
          <p:cNvPr id="3" name="TextBox 2"/>
          <p:cNvSpPr txBox="1"/>
          <p:nvPr/>
        </p:nvSpPr>
        <p:spPr>
          <a:xfrm>
            <a:off x="914400" y="2560320"/>
            <a:ext cx="10058400" cy="1371600"/>
          </a:xfrm>
          <a:prstGeom prst="rect">
            <a:avLst/>
          </a:prstGeom>
          <a:noFill/>
        </p:spPr>
        <p:txBody>
          <a:bodyPr wrap="square">
            <a:spAutoFit/>
          </a:bodyPr>
          <a:lstStyle/>
          <a:p>
            <a:pPr algn="l">
              <a:defRPr sz="4000" b="1">
                <a:solidFill>
                  <a:srgbClr val="FFFFFF"/>
                </a:solidFill>
              </a:defRPr>
            </a:pPr>
            <a:r>
              <a:t>实验任务 (Assignment)</a:t>
            </a:r>
          </a:p>
        </p:txBody>
      </p:sp>
      <p:sp>
        <p:nvSpPr>
          <p:cNvPr id="4" name="TextBox 3"/>
          <p:cNvSpPr txBox="1"/>
          <p:nvPr/>
        </p:nvSpPr>
        <p:spPr>
          <a:xfrm>
            <a:off x="914400" y="4023360"/>
            <a:ext cx="10058400" cy="731520"/>
          </a:xfrm>
          <a:prstGeom prst="rect">
            <a:avLst/>
          </a:prstGeom>
          <a:noFill/>
        </p:spPr>
        <p:txBody>
          <a:bodyPr wrap="square">
            <a:spAutoFit/>
          </a:bodyPr>
          <a:lstStyle/>
          <a:p>
            <a:pPr algn="l">
              <a:defRPr sz="2000" b="0">
                <a:solidFill>
                  <a:srgbClr val="DDEEDD"/>
                </a:solidFill>
              </a:defRPr>
            </a:pPr>
            <a:r>
              <a:t>DDL: 2026.05.27 23:59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92240"/>
            <a:ext cx="11277295" cy="27432"/>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510528"/>
            <a:ext cx="11277295" cy="320040"/>
          </a:xfrm>
          <a:prstGeom prst="rect">
            <a:avLst/>
          </a:prstGeom>
          <a:noFill/>
        </p:spPr>
        <p:txBody>
          <a:bodyPr wrap="square">
            <a:spAutoFit/>
          </a:bodyPr>
          <a:lstStyle/>
          <a:p>
            <a:pPr algn="r">
              <a:defRPr sz="1000" b="0">
                <a:solidFill>
                  <a:srgbClr val="666666"/>
                </a:solidFill>
              </a:defRPr>
            </a:pPr>
            <a:r>
              <a:t>中山大学计算机学院 操作系统实验</a:t>
            </a:r>
          </a:p>
        </p:txBody>
      </p:sp>
      <p:sp>
        <p:nvSpPr>
          <p:cNvPr id="5" name="TextBox 4"/>
          <p:cNvSpPr txBox="1"/>
          <p:nvPr/>
        </p:nvSpPr>
        <p:spPr>
          <a:xfrm>
            <a:off x="548640" y="274320"/>
            <a:ext cx="10972800" cy="731520"/>
          </a:xfrm>
          <a:prstGeom prst="rect">
            <a:avLst/>
          </a:prstGeom>
          <a:noFill/>
        </p:spPr>
        <p:txBody>
          <a:bodyPr wrap="none">
            <a:spAutoFit/>
          </a:bodyPr>
          <a:lstStyle/>
          <a:p>
            <a:pPr>
              <a:defRPr sz="3200" b="1">
                <a:solidFill>
                  <a:srgbClr val="004D26"/>
                </a:solidFill>
              </a:defRPr>
            </a:pPr>
            <a:r>
              <a:t>实验环境与提交</a:t>
            </a:r>
          </a:p>
        </p:txBody>
      </p:sp>
      <p:sp>
        <p:nvSpPr>
          <p:cNvPr id="6" name="Rectangle 5"/>
          <p:cNvSpPr/>
          <p:nvPr/>
        </p:nvSpPr>
        <p:spPr>
          <a:xfrm>
            <a:off x="548640" y="1051560"/>
            <a:ext cx="1828800" cy="36576"/>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10515600" cy="5029200"/>
          </a:xfrm>
          <a:prstGeom prst="rect">
            <a:avLst/>
          </a:prstGeom>
          <a:noFill/>
        </p:spPr>
        <p:txBody>
          <a:bodyPr wrap="square">
            <a:spAutoFit/>
          </a:bodyPr>
          <a:lstStyle/>
          <a:p>
            <a:pPr>
              <a:lnSpc>
                <a:spcPct val="120000"/>
              </a:lnSpc>
              <a:spcBef>
                <a:spcPts val="600"/>
              </a:spcBef>
              <a:spcAft>
                <a:spcPts val="400"/>
              </a:spcAft>
              <a:defRPr sz="2000">
                <a:solidFill>
                  <a:srgbClr val="333333"/>
                </a:solidFill>
              </a:defRPr>
            </a:pPr>
            <a:r>
              <a:t>DDL: 2026.05.27 23:59</a:t>
            </a:r>
          </a:p>
          <a:p>
            <a:pPr>
              <a:lnSpc>
                <a:spcPct val="120000"/>
              </a:lnSpc>
              <a:spcBef>
                <a:spcPts val="600"/>
              </a:spcBef>
              <a:spcAft>
                <a:spcPts val="400"/>
              </a:spcAft>
              <a:defRPr sz="2000">
                <a:solidFill>
                  <a:srgbClr val="333333"/>
                </a:solidFill>
              </a:defRPr>
            </a:pPr>
            <a:r>
              <a:t>提交内容：4个Assignment代码 + 实验报告</a:t>
            </a:r>
          </a:p>
          <a:p>
            <a:pPr>
              <a:lnSpc>
                <a:spcPct val="120000"/>
              </a:lnSpc>
              <a:spcBef>
                <a:spcPts val="600"/>
              </a:spcBef>
              <a:spcAft>
                <a:spcPts val="400"/>
              </a:spcAft>
              <a:defRPr sz="2000">
                <a:solidFill>
                  <a:srgbClr val="333333"/>
                </a:solidFill>
              </a:defRPr>
            </a:pPr>
            <a:r>
              <a:t>压缩包命名：lab7-姓名-学号</a:t>
            </a:r>
          </a:p>
          <a:p>
            <a:pPr>
              <a:lnSpc>
                <a:spcPct val="120000"/>
              </a:lnSpc>
              <a:spcBef>
                <a:spcPts val="600"/>
              </a:spcBef>
              <a:spcAft>
                <a:spcPts val="400"/>
              </a:spcAft>
              <a:defRPr sz="2000">
                <a:solidFill>
                  <a:srgbClr val="333333"/>
                </a:solidFill>
              </a:defRPr>
            </a:pPr>
            <a:r>
              <a:t>Assignment 1-3 为必做（共100分），Assignment 4 为选做加分</a:t>
            </a:r>
          </a:p>
          <a:p>
            <a:pPr>
              <a:lnSpc>
                <a:spcPct val="120000"/>
              </a:lnSpc>
              <a:spcBef>
                <a:spcPts val="600"/>
              </a:spcBef>
              <a:spcAft>
                <a:spcPts val="400"/>
              </a:spcAft>
              <a:defRPr sz="2000">
                <a:solidFill>
                  <a:srgbClr val="333333"/>
                </a:solidFill>
              </a:defRPr>
            </a:pPr>
            <a:r>
              <a:t>实验不限：语言（C/C++/Rust）、平台（含银河麒麟ARM64）、CPU架构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92240"/>
            <a:ext cx="11277295" cy="27432"/>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510528"/>
            <a:ext cx="11277295" cy="320040"/>
          </a:xfrm>
          <a:prstGeom prst="rect">
            <a:avLst/>
          </a:prstGeom>
          <a:noFill/>
        </p:spPr>
        <p:txBody>
          <a:bodyPr wrap="square">
            <a:spAutoFit/>
          </a:bodyPr>
          <a:lstStyle/>
          <a:p>
            <a:pPr algn="r">
              <a:defRPr sz="1000" b="0">
                <a:solidFill>
                  <a:srgbClr val="666666"/>
                </a:solidFill>
              </a:defRPr>
            </a:pPr>
            <a:r>
              <a:t>中山大学计算机学院 操作系统实验</a:t>
            </a:r>
          </a:p>
        </p:txBody>
      </p:sp>
      <p:sp>
        <p:nvSpPr>
          <p:cNvPr id="5" name="TextBox 4"/>
          <p:cNvSpPr txBox="1"/>
          <p:nvPr/>
        </p:nvSpPr>
        <p:spPr>
          <a:xfrm>
            <a:off x="548640" y="274320"/>
            <a:ext cx="10972800" cy="731520"/>
          </a:xfrm>
          <a:prstGeom prst="rect">
            <a:avLst/>
          </a:prstGeom>
          <a:noFill/>
        </p:spPr>
        <p:txBody>
          <a:bodyPr wrap="none">
            <a:spAutoFit/>
          </a:bodyPr>
          <a:lstStyle/>
          <a:p>
            <a:pPr>
              <a:defRPr sz="3200" b="1">
                <a:solidFill>
                  <a:srgbClr val="004D26"/>
                </a:solidFill>
              </a:defRPr>
            </a:pPr>
            <a:r>
              <a:t>Assignment 1: 物理页内存管理与分页机制（40分）</a:t>
            </a:r>
          </a:p>
        </p:txBody>
      </p:sp>
      <p:sp>
        <p:nvSpPr>
          <p:cNvPr id="6" name="Rectangle 5"/>
          <p:cNvSpPr/>
          <p:nvPr/>
        </p:nvSpPr>
        <p:spPr>
          <a:xfrm>
            <a:off x="548640" y="1051560"/>
            <a:ext cx="1828800" cy="36576"/>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10515600" cy="5029200"/>
          </a:xfrm>
          <a:prstGeom prst="rect">
            <a:avLst/>
          </a:prstGeom>
          <a:noFill/>
        </p:spPr>
        <p:txBody>
          <a:bodyPr wrap="square">
            <a:spAutoFit/>
          </a:bodyPr>
          <a:lstStyle/>
          <a:p>
            <a:pPr>
              <a:spcBef>
                <a:spcPts val="1000"/>
              </a:spcBef>
              <a:spcAft>
                <a:spcPts val="400"/>
              </a:spcAft>
              <a:defRPr sz="2000" b="1">
                <a:solidFill>
                  <a:srgbClr val="C62828"/>
                </a:solidFill>
              </a:defRPr>
            </a:pPr>
            <a:r>
              <a:t>1.1 复现物理页内存管理（15分）</a:t>
            </a:r>
          </a:p>
          <a:p>
            <a:pPr>
              <a:lnSpc>
                <a:spcPct val="120000"/>
              </a:lnSpc>
              <a:spcBef>
                <a:spcPts val="200"/>
              </a:spcBef>
              <a:spcAft>
                <a:spcPts val="600"/>
              </a:spcAft>
              <a:defRPr sz="1600">
                <a:solidFill>
                  <a:srgbClr val="333333"/>
                </a:solidFill>
              </a:defRPr>
            </a:pPr>
            <a:r>
              <a:t>复现src/3，在first_thread中编写测试代码：</a:t>
            </a:r>
            <a:br/>
            <a:r>
              <a:t>1) 分别从内核物理地址池和用户物理地址池中分配若干页（10/20/50页），打印分配的起始地址</a:t>
            </a:r>
            <a:br/>
            <a:r>
              <a:t>2) 释放部分页后再次分配，验证释放的空间是否可被复用</a:t>
            </a:r>
            <a:br/>
            <a:r>
              <a:t>3) 结合代码逐步分析BitMap→AddressPool→MemoryManager三层管理结构的初始化过程和分配/释放流程</a:t>
            </a:r>
          </a:p>
          <a:p>
            <a:pPr>
              <a:spcBef>
                <a:spcPts val="1000"/>
              </a:spcBef>
              <a:spcAft>
                <a:spcPts val="400"/>
              </a:spcAft>
              <a:defRPr sz="2000" b="1">
                <a:solidFill>
                  <a:srgbClr val="C62828"/>
                </a:solidFill>
              </a:defRPr>
            </a:pPr>
            <a:r>
              <a:t>1.2 开启二级分页机制（15分）</a:t>
            </a:r>
          </a:p>
          <a:p>
            <a:pPr>
              <a:lnSpc>
                <a:spcPct val="120000"/>
              </a:lnSpc>
              <a:spcBef>
                <a:spcPts val="200"/>
              </a:spcBef>
              <a:spcAft>
                <a:spcPts val="600"/>
              </a:spcAft>
              <a:defRPr sz="1600">
                <a:solidFill>
                  <a:srgbClr val="333333"/>
                </a:solidFill>
              </a:defRPr>
            </a:pPr>
            <a:r>
              <a:t>复现src/4，开启二级分页机制，完成：</a:t>
            </a:r>
            <a:br/>
            <a:r>
              <a:t>1) 结合代码分析开启分页的三步方案：(a)初始化页目录表和页表 (b)页目录表地址写入CR3 (c)CR0.PG置1</a:t>
            </a:r>
            <a:br/>
            <a:r>
              <a:t>2) 说明directory[0]、directory[768]、directory[1023]三个页目录项各自的作用及为什么这样设置</a:t>
            </a:r>
            <a:br/>
            <a:r>
              <a:t>3) 使用QEMU Monitor的info mem命令，截图验证0-1MB的恒等映射是否正确建立</a:t>
            </a:r>
          </a:p>
          <a:p>
            <a:pPr>
              <a:spcBef>
                <a:spcPts val="1000"/>
              </a:spcBef>
              <a:spcAft>
                <a:spcPts val="400"/>
              </a:spcAft>
              <a:defRPr sz="2000" b="1">
                <a:solidFill>
                  <a:srgbClr val="C62828"/>
                </a:solidFill>
              </a:defRPr>
            </a:pPr>
            <a:r>
              <a:t>1.3 Bug检测与修复（10分）</a:t>
            </a:r>
          </a:p>
          <a:p>
            <a:pPr>
              <a:lnSpc>
                <a:spcPct val="120000"/>
              </a:lnSpc>
              <a:spcBef>
                <a:spcPts val="200"/>
              </a:spcBef>
              <a:spcAft>
                <a:spcPts val="600"/>
              </a:spcAft>
              <a:defRPr sz="1600">
                <a:solidFill>
                  <a:srgbClr val="333333"/>
                </a:solidFill>
              </a:defRPr>
            </a:pPr>
            <a:r>
              <a:t>构造至少3组测试用例检测src/3或src/5的实现是否存在bug：</a:t>
            </a:r>
            <a:br/>
            <a:r>
              <a:t>• 边界情况：分配0页、分配超过总页数的页</a:t>
            </a:r>
            <a:br/>
            <a:r>
              <a:t>• 重复释放：对同一块内存连续释放两次</a:t>
            </a:r>
            <a:br/>
            <a:r>
              <a:t>• 碎片化测试：交替分配和释放，观察地址复用情况</a:t>
            </a:r>
            <a:br/>
            <a:r>
              <a:t>如果发现bug，尝试修复并说明方案；未发现则结合测例分析正确性。</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92240"/>
            <a:ext cx="11277295" cy="27432"/>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510528"/>
            <a:ext cx="11277295" cy="320040"/>
          </a:xfrm>
          <a:prstGeom prst="rect">
            <a:avLst/>
          </a:prstGeom>
          <a:noFill/>
        </p:spPr>
        <p:txBody>
          <a:bodyPr wrap="square">
            <a:spAutoFit/>
          </a:bodyPr>
          <a:lstStyle/>
          <a:p>
            <a:pPr algn="r">
              <a:defRPr sz="1000" b="0">
                <a:solidFill>
                  <a:srgbClr val="666666"/>
                </a:solidFill>
              </a:defRPr>
            </a:pPr>
            <a:r>
              <a:t>中山大学计算机学院 操作系统实验</a:t>
            </a:r>
          </a:p>
        </p:txBody>
      </p:sp>
      <p:sp>
        <p:nvSpPr>
          <p:cNvPr id="5" name="TextBox 4"/>
          <p:cNvSpPr txBox="1"/>
          <p:nvPr/>
        </p:nvSpPr>
        <p:spPr>
          <a:xfrm>
            <a:off x="548640" y="274320"/>
            <a:ext cx="10972800" cy="731520"/>
          </a:xfrm>
          <a:prstGeom prst="rect">
            <a:avLst/>
          </a:prstGeom>
          <a:noFill/>
        </p:spPr>
        <p:txBody>
          <a:bodyPr wrap="none">
            <a:spAutoFit/>
          </a:bodyPr>
          <a:lstStyle/>
          <a:p>
            <a:pPr>
              <a:defRPr sz="3200" b="1">
                <a:solidFill>
                  <a:srgbClr val="004D26"/>
                </a:solidFill>
              </a:defRPr>
            </a:pPr>
            <a:r>
              <a:t>Assignment 2: 动态分区分配算法（30分）</a:t>
            </a:r>
          </a:p>
        </p:txBody>
      </p:sp>
      <p:sp>
        <p:nvSpPr>
          <p:cNvPr id="6" name="Rectangle 5"/>
          <p:cNvSpPr/>
          <p:nvPr/>
        </p:nvSpPr>
        <p:spPr>
          <a:xfrm>
            <a:off x="548640" y="1051560"/>
            <a:ext cx="1828800" cy="36576"/>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10515600" cy="5029200"/>
          </a:xfrm>
          <a:prstGeom prst="rect">
            <a:avLst/>
          </a:prstGeom>
          <a:noFill/>
        </p:spPr>
        <p:txBody>
          <a:bodyPr wrap="square">
            <a:spAutoFit/>
          </a:bodyPr>
          <a:lstStyle/>
          <a:p>
            <a:pPr>
              <a:spcBef>
                <a:spcPts val="1000"/>
              </a:spcBef>
              <a:spcAft>
                <a:spcPts val="400"/>
              </a:spcAft>
              <a:defRPr sz="2000" b="1">
                <a:solidFill>
                  <a:srgbClr val="C62828"/>
                </a:solidFill>
              </a:defRPr>
            </a:pPr>
            <a:r>
              <a:t>2.1 实现至少两种分配算法（20分）</a:t>
            </a:r>
          </a:p>
          <a:p>
            <a:pPr>
              <a:lnSpc>
                <a:spcPct val="120000"/>
              </a:lnSpc>
              <a:spcBef>
                <a:spcPts val="200"/>
              </a:spcBef>
              <a:spcAft>
                <a:spcPts val="600"/>
              </a:spcAft>
              <a:defRPr sz="1600">
                <a:solidFill>
                  <a:srgbClr val="333333"/>
                </a:solidFill>
              </a:defRPr>
            </a:pPr>
            <a:r>
              <a:t>在内核中实现以下动态分区分配算法中的至少两种：</a:t>
            </a:r>
            <a:br/>
            <a:r>
              <a:t>• First Fit（首次适应）：从头开始，找到第一个足够大的空闲分区</a:t>
            </a:r>
            <a:br/>
            <a:r>
              <a:t>• Best Fit（最佳适应）：找到最小的足够大的空闲分区</a:t>
            </a:r>
            <a:br/>
            <a:r>
              <a:t>• Worst Fit（最坏适应）：找到最大的空闲分区</a:t>
            </a:r>
            <a:br/>
            <a:r>
              <a:t>• Next Fit（循环首次适应）：从上次分配位置开始搜索</a:t>
            </a:r>
            <a:br/>
            <a:r>
              <a:t>可修改BitMap/AddressPool的allocate函数或新建独立模块。</a:t>
            </a:r>
            <a:br/>
            <a:r>
              <a:t>在first_thread中多次分配/释放，打印起始地址和分区大小。</a:t>
            </a:r>
            <a:br/>
            <a:r>
              <a:t>对比两种算法在相同分配序列下的行为差异（地址分布、碎片）。</a:t>
            </a:r>
          </a:p>
          <a:p>
            <a:pPr>
              <a:spcBef>
                <a:spcPts val="1000"/>
              </a:spcBef>
              <a:spcAft>
                <a:spcPts val="400"/>
              </a:spcAft>
              <a:defRPr sz="2000" b="1">
                <a:solidFill>
                  <a:srgbClr val="C62828"/>
                </a:solidFill>
              </a:defRPr>
            </a:pPr>
            <a:r>
              <a:t>2.2 内存利用率分析（10分）</a:t>
            </a:r>
          </a:p>
          <a:p>
            <a:pPr>
              <a:lnSpc>
                <a:spcPct val="120000"/>
              </a:lnSpc>
              <a:spcBef>
                <a:spcPts val="200"/>
              </a:spcBef>
              <a:spcAft>
                <a:spcPts val="600"/>
              </a:spcAft>
              <a:defRPr sz="1600">
                <a:solidFill>
                  <a:srgbClr val="333333"/>
                </a:solidFill>
              </a:defRPr>
            </a:pPr>
            <a:r>
              <a:t>设计内存分配序列（至少8次分配+4次释放），每次操作后统计并打印：</a:t>
            </a:r>
            <a:br/>
            <a:r>
              <a:t>• 已分配页数/总页数</a:t>
            </a:r>
            <a:br/>
            <a:r>
              <a:t>• 最大连续空闲块大小（页数）</a:t>
            </a:r>
            <a:br/>
            <a:r>
              <a:t>• 空闲碎片数量（不连续的空闲块个数）</a:t>
            </a:r>
            <a:br/>
            <a:r>
              <a:t>对比两种算法的内存利用率和碎片情况，给出分析。</a:t>
            </a:r>
            <a:br/>
            <a:r>
              <a:t>提示：可在BitMap类中添加getUsedCount()、getMaxFreeBlock()、getFreeFragmentCount()等统计函数。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92240"/>
            <a:ext cx="11277295" cy="27432"/>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510528"/>
            <a:ext cx="11277295" cy="320040"/>
          </a:xfrm>
          <a:prstGeom prst="rect">
            <a:avLst/>
          </a:prstGeom>
          <a:noFill/>
        </p:spPr>
        <p:txBody>
          <a:bodyPr wrap="square">
            <a:spAutoFit/>
          </a:bodyPr>
          <a:lstStyle/>
          <a:p>
            <a:pPr algn="r">
              <a:defRPr sz="1000" b="0">
                <a:solidFill>
                  <a:srgbClr val="666666"/>
                </a:solidFill>
              </a:defRPr>
            </a:pPr>
            <a:r>
              <a:t>中山大学计算机学院 操作系统实验</a:t>
            </a:r>
          </a:p>
        </p:txBody>
      </p:sp>
      <p:sp>
        <p:nvSpPr>
          <p:cNvPr id="5" name="TextBox 4"/>
          <p:cNvSpPr txBox="1"/>
          <p:nvPr/>
        </p:nvSpPr>
        <p:spPr>
          <a:xfrm>
            <a:off x="548640" y="274320"/>
            <a:ext cx="10972800" cy="731520"/>
          </a:xfrm>
          <a:prstGeom prst="rect">
            <a:avLst/>
          </a:prstGeom>
          <a:noFill/>
        </p:spPr>
        <p:txBody>
          <a:bodyPr wrap="none">
            <a:spAutoFit/>
          </a:bodyPr>
          <a:lstStyle/>
          <a:p>
            <a:pPr>
              <a:defRPr sz="3200" b="1">
                <a:solidFill>
                  <a:srgbClr val="004D26"/>
                </a:solidFill>
              </a:defRPr>
            </a:pPr>
            <a:r>
              <a:t>Assignment 3: 虚拟页内存管理与地址变换（30分）</a:t>
            </a:r>
          </a:p>
        </p:txBody>
      </p:sp>
      <p:sp>
        <p:nvSpPr>
          <p:cNvPr id="6" name="Rectangle 5"/>
          <p:cNvSpPr/>
          <p:nvPr/>
        </p:nvSpPr>
        <p:spPr>
          <a:xfrm>
            <a:off x="548640" y="1051560"/>
            <a:ext cx="1828800" cy="36576"/>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10515600" cy="5029200"/>
          </a:xfrm>
          <a:prstGeom prst="rect">
            <a:avLst/>
          </a:prstGeom>
          <a:noFill/>
        </p:spPr>
        <p:txBody>
          <a:bodyPr wrap="square">
            <a:spAutoFit/>
          </a:bodyPr>
          <a:lstStyle/>
          <a:p>
            <a:pPr>
              <a:spcBef>
                <a:spcPts val="1000"/>
              </a:spcBef>
              <a:spcAft>
                <a:spcPts val="400"/>
              </a:spcAft>
              <a:defRPr sz="2000" b="1">
                <a:solidFill>
                  <a:srgbClr val="C62828"/>
                </a:solidFill>
              </a:defRPr>
            </a:pPr>
            <a:r>
              <a:t>3.1 复现虚拟页内存管理（10分）</a:t>
            </a:r>
          </a:p>
          <a:p>
            <a:pPr>
              <a:lnSpc>
                <a:spcPct val="120000"/>
              </a:lnSpc>
              <a:spcBef>
                <a:spcPts val="200"/>
              </a:spcBef>
              <a:spcAft>
                <a:spcPts val="600"/>
              </a:spcAft>
              <a:defRPr sz="1600">
                <a:solidFill>
                  <a:srgbClr val="333333"/>
                </a:solidFill>
              </a:defRPr>
            </a:pPr>
            <a:r>
              <a:t>复现src/5，结合代码分析虚拟页分配的三步过程：</a:t>
            </a:r>
            <a:br/>
            <a:r>
              <a:t>(a) 从虚拟地址池分配连续虚拟页 (b) 从物理地址池为每个虚拟页分配物理页 (c) 建立PDE和PTE</a:t>
            </a:r>
            <a:br/>
            <a:r>
              <a:t>在first_thread中分配多组虚拟页（100/10/100页），打印虚拟地址；释放中间10页后重新分配，观察变化。</a:t>
            </a:r>
          </a:p>
          <a:p>
            <a:pPr>
              <a:spcBef>
                <a:spcPts val="1000"/>
              </a:spcBef>
              <a:spcAft>
                <a:spcPts val="400"/>
              </a:spcAft>
              <a:defRPr sz="2000" b="1">
                <a:solidFill>
                  <a:srgbClr val="C62828"/>
                </a:solidFill>
              </a:defRPr>
            </a:pPr>
            <a:r>
              <a:t>3.2 PDE/PTE虚拟地址构造（10分）</a:t>
            </a:r>
          </a:p>
          <a:p>
            <a:pPr>
              <a:lnSpc>
                <a:spcPct val="120000"/>
              </a:lnSpc>
              <a:spcBef>
                <a:spcPts val="200"/>
              </a:spcBef>
              <a:spcAft>
                <a:spcPts val="600"/>
              </a:spcAft>
              <a:defRPr sz="1600">
                <a:solidFill>
                  <a:srgbClr val="333333"/>
                </a:solidFill>
              </a:defRPr>
            </a:pPr>
            <a:r>
              <a:t>在src/5的openPageMechanism中，第1023个页目录项指向页目录表本身。</a:t>
            </a:r>
            <a:br/>
            <a:r>
              <a:t>假设将指向页目录表的页目录项改为第1000个（而非1023），推导：</a:t>
            </a:r>
            <a:br/>
            <a:r>
              <a:t>1) 第141个页目录项的虚拟地址</a:t>
            </a:r>
            <a:br/>
            <a:r>
              <a:t>2) 第891个页目录项指向的页表中，第109个页表项的虚拟地址</a:t>
            </a:r>
            <a:br/>
            <a:r>
              <a:t>写出推导过程和最终结果（十六进制）。</a:t>
            </a:r>
          </a:p>
          <a:p>
            <a:pPr>
              <a:spcBef>
                <a:spcPts val="1000"/>
              </a:spcBef>
              <a:spcAft>
                <a:spcPts val="400"/>
              </a:spcAft>
              <a:defRPr sz="2000" b="1">
                <a:solidFill>
                  <a:srgbClr val="C62828"/>
                </a:solidFill>
              </a:defRPr>
            </a:pPr>
            <a:r>
              <a:t>3.3 虚拟地址到物理地址验证（10分）</a:t>
            </a:r>
          </a:p>
          <a:p>
            <a:pPr>
              <a:lnSpc>
                <a:spcPct val="120000"/>
              </a:lnSpc>
              <a:spcBef>
                <a:spcPts val="200"/>
              </a:spcBef>
              <a:spcAft>
                <a:spcPts val="600"/>
              </a:spcAft>
              <a:defRPr sz="1600">
                <a:solidFill>
                  <a:srgbClr val="333333"/>
                </a:solidFill>
              </a:defRPr>
            </a:pPr>
            <a:r>
              <a:t>在first_thread中：</a:t>
            </a:r>
            <a:br/>
            <a:r>
              <a:t>1) 使用allocatePages分配一段内核虚拟内存（如1页）</a:t>
            </a:r>
            <a:br/>
            <a:r>
              <a:t>2) 调用vaddr2paddr计算该虚拟地址对应的物理地址，打印两者</a:t>
            </a:r>
            <a:br/>
            <a:r>
              <a:t>3) 向该虚拟地址写入0xDEADBEEF</a:t>
            </a:r>
            <a:br/>
            <a:r>
              <a:t>4) 使用QEMU Monitor的xp命令查看物理地址处的值，验证映射正确</a:t>
            </a:r>
            <a:br/>
            <a:r>
              <a:t>截图展示程序输出和QEMU Monitor验证结果。</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92240"/>
            <a:ext cx="11277295" cy="27432"/>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510528"/>
            <a:ext cx="11277295" cy="320040"/>
          </a:xfrm>
          <a:prstGeom prst="rect">
            <a:avLst/>
          </a:prstGeom>
          <a:noFill/>
        </p:spPr>
        <p:txBody>
          <a:bodyPr wrap="square">
            <a:spAutoFit/>
          </a:bodyPr>
          <a:lstStyle/>
          <a:p>
            <a:pPr algn="r">
              <a:defRPr sz="1000" b="0">
                <a:solidFill>
                  <a:srgbClr val="666666"/>
                </a:solidFill>
              </a:defRPr>
            </a:pPr>
            <a:r>
              <a:t>中山大学计算机学院 操作系统实验</a:t>
            </a:r>
          </a:p>
        </p:txBody>
      </p:sp>
      <p:sp>
        <p:nvSpPr>
          <p:cNvPr id="5" name="TextBox 4"/>
          <p:cNvSpPr txBox="1"/>
          <p:nvPr/>
        </p:nvSpPr>
        <p:spPr>
          <a:xfrm>
            <a:off x="548640" y="274320"/>
            <a:ext cx="10972800" cy="731520"/>
          </a:xfrm>
          <a:prstGeom prst="rect">
            <a:avLst/>
          </a:prstGeom>
          <a:noFill/>
        </p:spPr>
        <p:txBody>
          <a:bodyPr wrap="none">
            <a:spAutoFit/>
          </a:bodyPr>
          <a:lstStyle/>
          <a:p>
            <a:pPr>
              <a:defRPr sz="3200" b="1">
                <a:solidFill>
                  <a:srgbClr val="004D26"/>
                </a:solidFill>
              </a:defRPr>
            </a:pPr>
            <a:r>
              <a:t>Assignment 4: 选做加分（最高15分）</a:t>
            </a:r>
          </a:p>
        </p:txBody>
      </p:sp>
      <p:sp>
        <p:nvSpPr>
          <p:cNvPr id="6" name="Rectangle 5"/>
          <p:cNvSpPr/>
          <p:nvPr/>
        </p:nvSpPr>
        <p:spPr>
          <a:xfrm>
            <a:off x="548640" y="1051560"/>
            <a:ext cx="1828800" cy="36576"/>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10515600" cy="5029200"/>
          </a:xfrm>
          <a:prstGeom prst="rect">
            <a:avLst/>
          </a:prstGeom>
          <a:noFill/>
        </p:spPr>
        <p:txBody>
          <a:bodyPr wrap="square">
            <a:spAutoFit/>
          </a:bodyPr>
          <a:lstStyle/>
          <a:p>
            <a:pPr>
              <a:spcBef>
                <a:spcPts val="1000"/>
              </a:spcBef>
              <a:spcAft>
                <a:spcPts val="400"/>
              </a:spcAft>
              <a:defRPr sz="2000" b="1">
                <a:solidFill>
                  <a:srgbClr val="C62828"/>
                </a:solidFill>
              </a:defRPr>
            </a:pPr>
            <a:r>
              <a:t>4.1 页面置换算法模拟（5分）</a:t>
            </a:r>
          </a:p>
          <a:p>
            <a:pPr>
              <a:lnSpc>
                <a:spcPct val="120000"/>
              </a:lnSpc>
              <a:spcBef>
                <a:spcPts val="200"/>
              </a:spcBef>
              <a:spcAft>
                <a:spcPts val="600"/>
              </a:spcAft>
              <a:defRPr sz="1600">
                <a:solidFill>
                  <a:srgbClr val="333333"/>
                </a:solidFill>
              </a:defRPr>
            </a:pPr>
            <a:r>
              <a:t>假设物理页帧有限（如8帧），实现FIFO/LRU/Clock算法之一。</a:t>
            </a:r>
            <a:br/>
            <a:r>
              <a:t>给定虚拟页访问序列，打印每次访问是否缺页、被淘汰的页号、当前帧内容。统计缺页率。</a:t>
            </a:r>
          </a:p>
          <a:p>
            <a:pPr>
              <a:spcBef>
                <a:spcPts val="1000"/>
              </a:spcBef>
              <a:spcAft>
                <a:spcPts val="400"/>
              </a:spcAft>
              <a:defRPr sz="2000" b="1">
                <a:solidFill>
                  <a:srgbClr val="C62828"/>
                </a:solidFill>
              </a:defRPr>
            </a:pPr>
            <a:r>
              <a:t>4.2 内存统计面板（5分）</a:t>
            </a:r>
          </a:p>
          <a:p>
            <a:pPr>
              <a:lnSpc>
                <a:spcPct val="120000"/>
              </a:lnSpc>
              <a:spcBef>
                <a:spcPts val="200"/>
              </a:spcBef>
              <a:spcAft>
                <a:spcPts val="600"/>
              </a:spcAft>
              <a:defRPr sz="1600">
                <a:solidFill>
                  <a:srgbClr val="333333"/>
                </a:solidFill>
              </a:defRPr>
            </a:pPr>
            <a:r>
              <a:t>在src/5基础上，实现printMemoryStatus()，显示：</a:t>
            </a:r>
            <a:br/>
            <a:r>
              <a:t>• 物理内存总量、已分配量、空闲量</a:t>
            </a:r>
            <a:br/>
            <a:r>
              <a:t>• 内核/用户物理地址池、内核虚拟地址池的使用率</a:t>
            </a:r>
            <a:br/>
            <a:r>
              <a:t>• 已建立的PDE数量、PTE数量</a:t>
            </a:r>
          </a:p>
          <a:p>
            <a:pPr>
              <a:spcBef>
                <a:spcPts val="1000"/>
              </a:spcBef>
              <a:spcAft>
                <a:spcPts val="400"/>
              </a:spcAft>
              <a:defRPr sz="2000" b="1">
                <a:solidFill>
                  <a:srgbClr val="C62828"/>
                </a:solidFill>
              </a:defRPr>
            </a:pPr>
            <a:r>
              <a:t>4.3 自定义内存管理（5分）</a:t>
            </a:r>
          </a:p>
          <a:p>
            <a:pPr>
              <a:lnSpc>
                <a:spcPct val="120000"/>
              </a:lnSpc>
              <a:spcBef>
                <a:spcPts val="200"/>
              </a:spcBef>
              <a:spcAft>
                <a:spcPts val="600"/>
              </a:spcAft>
              <a:defRPr sz="1600">
                <a:solidFill>
                  <a:srgbClr val="333333"/>
                </a:solidFill>
              </a:defRPr>
            </a:pPr>
            <a:r>
              <a:t>参考uCore、《操作系统真象还原》等，实现自己的物理页/虚拟页管理（如Buddy System、Slab Allocator）。</a:t>
            </a:r>
            <a:br/>
            <a:r>
              <a:t>指出你的实现相比教程的特点和优势。</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92240"/>
            <a:ext cx="11277295" cy="27432"/>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510528"/>
            <a:ext cx="11277295" cy="320040"/>
          </a:xfrm>
          <a:prstGeom prst="rect">
            <a:avLst/>
          </a:prstGeom>
          <a:noFill/>
        </p:spPr>
        <p:txBody>
          <a:bodyPr wrap="square">
            <a:spAutoFit/>
          </a:bodyPr>
          <a:lstStyle/>
          <a:p>
            <a:pPr algn="r">
              <a:defRPr sz="1000" b="0">
                <a:solidFill>
                  <a:srgbClr val="666666"/>
                </a:solidFill>
              </a:defRPr>
            </a:pPr>
            <a:r>
              <a:t>中山大学计算机学院 操作系统实验</a:t>
            </a:r>
          </a:p>
        </p:txBody>
      </p:sp>
      <p:sp>
        <p:nvSpPr>
          <p:cNvPr id="5" name="TextBox 4"/>
          <p:cNvSpPr txBox="1"/>
          <p:nvPr/>
        </p:nvSpPr>
        <p:spPr>
          <a:xfrm>
            <a:off x="548640" y="274320"/>
            <a:ext cx="10972800" cy="731520"/>
          </a:xfrm>
          <a:prstGeom prst="rect">
            <a:avLst/>
          </a:prstGeom>
          <a:noFill/>
        </p:spPr>
        <p:txBody>
          <a:bodyPr wrap="none">
            <a:spAutoFit/>
          </a:bodyPr>
          <a:lstStyle/>
          <a:p>
            <a:pPr>
              <a:defRPr sz="3200" b="1">
                <a:solidFill>
                  <a:srgbClr val="004D26"/>
                </a:solidFill>
              </a:defRPr>
            </a:pPr>
            <a:r>
              <a:t>思考题（不计分，鼓励思考）</a:t>
            </a:r>
          </a:p>
        </p:txBody>
      </p:sp>
      <p:sp>
        <p:nvSpPr>
          <p:cNvPr id="6" name="Rectangle 5"/>
          <p:cNvSpPr/>
          <p:nvPr/>
        </p:nvSpPr>
        <p:spPr>
          <a:xfrm>
            <a:off x="548640" y="1051560"/>
            <a:ext cx="1828800" cy="36576"/>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10515600" cy="5029200"/>
          </a:xfrm>
          <a:prstGeom prst="rect">
            <a:avLst/>
          </a:prstGeom>
          <a:noFill/>
        </p:spPr>
        <p:txBody>
          <a:bodyPr wrap="square">
            <a:spAutoFit/>
          </a:bodyPr>
          <a:lstStyle/>
          <a:p>
            <a:pPr>
              <a:lnSpc>
                <a:spcPct val="120000"/>
              </a:lnSpc>
              <a:spcBef>
                <a:spcPts val="600"/>
              </a:spcBef>
              <a:spcAft>
                <a:spcPts val="400"/>
              </a:spcAft>
              <a:defRPr sz="2000">
                <a:solidFill>
                  <a:srgbClr val="333333"/>
                </a:solidFill>
              </a:defRPr>
            </a:pPr>
            <a:r>
              <a:t>1. 相比于一级页表，二级页表的好处是什么？在什么情况下二级页表的空间开销反而更大？</a:t>
            </a:r>
          </a:p>
          <a:p>
            <a:pPr>
              <a:lnSpc>
                <a:spcPct val="120000"/>
              </a:lnSpc>
              <a:spcBef>
                <a:spcPts val="600"/>
              </a:spcBef>
              <a:spcAft>
                <a:spcPts val="400"/>
              </a:spcAft>
              <a:defRPr sz="2000">
                <a:solidFill>
                  <a:srgbClr val="333333"/>
                </a:solidFill>
              </a:defRPr>
            </a:pPr>
            <a:r>
              <a:t>2. 如果将功能号0xe801的0x15中断改为0xe820，需要修改哪些代码？0xe820的优势是什么？</a:t>
            </a:r>
          </a:p>
          <a:p>
            <a:pPr>
              <a:lnSpc>
                <a:spcPct val="120000"/>
              </a:lnSpc>
              <a:spcBef>
                <a:spcPts val="600"/>
              </a:spcBef>
              <a:spcAft>
                <a:spcPts val="400"/>
              </a:spcAft>
              <a:defRPr sz="2000">
                <a:solidFill>
                  <a:srgbClr val="333333"/>
                </a:solidFill>
              </a:defRPr>
            </a:pPr>
            <a:r>
              <a:t>3. 在多进程环境下，如何保证不同进程的虚拟地址空间互不干扰？</a:t>
            </a:r>
            <a:br/>
            <a:r>
              <a:t>   页目录表和页表在其中扮演什么角色？</a:t>
            </a:r>
          </a:p>
          <a:p>
            <a:pPr>
              <a:lnSpc>
                <a:spcPct val="120000"/>
              </a:lnSpc>
              <a:spcBef>
                <a:spcPts val="600"/>
              </a:spcBef>
              <a:spcAft>
                <a:spcPts val="400"/>
              </a:spcAft>
              <a:defRPr sz="2000">
                <a:solidFill>
                  <a:srgbClr val="333333"/>
                </a:solidFill>
              </a:defRPr>
            </a:pPr>
            <a:r>
              <a:t>4. 请用自己的话说说我们是如何通过一个指向页目录表的页目录项来构造PDE和PTE的虚拟地址的。</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B2A1B"/>
        </a:solidFill>
        <a:effectLst/>
      </p:bgPr>
    </p:bg>
    <p:spTree>
      <p:nvGrpSpPr>
        <p:cNvPr id="1" name=""/>
        <p:cNvGrpSpPr/>
        <p:nvPr/>
      </p:nvGrpSpPr>
      <p:grpSpPr/>
      <p:sp>
        <p:nvSpPr>
          <p:cNvPr id="2" name="TextBox 1"/>
          <p:cNvSpPr txBox="1"/>
          <p:nvPr/>
        </p:nvSpPr>
        <p:spPr>
          <a:xfrm>
            <a:off x="914400" y="731520"/>
            <a:ext cx="10058400" cy="914400"/>
          </a:xfrm>
          <a:prstGeom prst="rect">
            <a:avLst/>
          </a:prstGeom>
          <a:noFill/>
        </p:spPr>
        <p:txBody>
          <a:bodyPr wrap="square">
            <a:spAutoFit/>
          </a:bodyPr>
          <a:lstStyle/>
          <a:p>
            <a:pPr algn="ctr">
              <a:defRPr sz="3600" b="1">
                <a:solidFill>
                  <a:srgbClr val="006633"/>
                </a:solidFill>
              </a:defRPr>
            </a:pPr>
            <a:r>
              <a:t>本次实验总结</a:t>
            </a:r>
          </a:p>
        </p:txBody>
      </p:sp>
      <p:sp>
        <p:nvSpPr>
          <p:cNvPr id="3" name="TextBox 2"/>
          <p:cNvSpPr txBox="1"/>
          <p:nvPr/>
        </p:nvSpPr>
        <p:spPr>
          <a:xfrm>
            <a:off x="1371600" y="1828800"/>
            <a:ext cx="9144000" cy="4114800"/>
          </a:xfrm>
          <a:prstGeom prst="rect">
            <a:avLst/>
          </a:prstGeom>
          <a:noFill/>
        </p:spPr>
        <p:txBody>
          <a:bodyPr wrap="square">
            <a:spAutoFit/>
          </a:bodyPr>
          <a:lstStyle/>
          <a:p>
            <a:pPr>
              <a:spcBef>
                <a:spcPts val="1200"/>
              </a:spcBef>
              <a:spcAft>
                <a:spcPts val="600"/>
              </a:spcAft>
              <a:defRPr sz="2200">
                <a:solidFill>
                  <a:srgbClr val="CCDDCC"/>
                </a:solidFill>
              </a:defRPr>
            </a:pPr>
            <a:r>
              <a:t>✓  理解物理内存管理（BitMap、AddressPool、MemoryManager）</a:t>
            </a:r>
          </a:p>
          <a:p>
            <a:pPr>
              <a:spcBef>
                <a:spcPts val="1200"/>
              </a:spcBef>
              <a:spcAft>
                <a:spcPts val="600"/>
              </a:spcAft>
              <a:defRPr sz="2200">
                <a:solidFill>
                  <a:srgbClr val="CCDDCC"/>
                </a:solidFill>
              </a:defRPr>
            </a:pPr>
            <a:r>
              <a:t>✓  掌握二级分页机制（页目录表、页表、地址翻译）</a:t>
            </a:r>
          </a:p>
          <a:p>
            <a:pPr>
              <a:spcBef>
                <a:spcPts val="1200"/>
              </a:spcBef>
              <a:spcAft>
                <a:spcPts val="600"/>
              </a:spcAft>
              <a:defRPr sz="2200">
                <a:solidFill>
                  <a:srgbClr val="CCDDCC"/>
                </a:solidFill>
              </a:defRPr>
            </a:pPr>
            <a:r>
              <a:t>✓  开启分页机制（初始化页表、CR3、CR0.PG）</a:t>
            </a:r>
          </a:p>
          <a:p>
            <a:pPr>
              <a:spcBef>
                <a:spcPts val="1200"/>
              </a:spcBef>
              <a:spcAft>
                <a:spcPts val="600"/>
              </a:spcAft>
              <a:defRPr sz="2200">
                <a:solidFill>
                  <a:srgbClr val="CCDDCC"/>
                </a:solidFill>
              </a:defRPr>
            </a:pPr>
            <a:r>
              <a:t>✓  实现虚拟内存管理（虚拟地址池、地址映射）</a:t>
            </a:r>
          </a:p>
          <a:p>
            <a:pPr>
              <a:spcBef>
                <a:spcPts val="1200"/>
              </a:spcBef>
              <a:spcAft>
                <a:spcPts val="600"/>
              </a:spcAft>
              <a:defRPr sz="2200">
                <a:solidFill>
                  <a:srgbClr val="CCDDCC"/>
                </a:solidFill>
              </a:defRPr>
            </a:pPr>
            <a:r>
              <a:t>✓  理解动态分区分配算法（First Fit / Best Fit / Worst Fit）</a:t>
            </a:r>
          </a:p>
          <a:p>
            <a:pPr>
              <a:spcBef>
                <a:spcPts val="1200"/>
              </a:spcBef>
              <a:spcAft>
                <a:spcPts val="600"/>
              </a:spcAft>
              <a:defRPr sz="2200">
                <a:solidFill>
                  <a:srgbClr val="CCDDCC"/>
                </a:solidFill>
              </a:defRPr>
            </a:pPr>
            <a:r>
              <a:t>✓  完成 Assignment 1-4（物理页、分页、虚拟内存、选做）</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2A1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058400" cy="1371600"/>
          </a:xfrm>
          <a:prstGeom prst="rect">
            <a:avLst/>
          </a:prstGeom>
          <a:noFill/>
        </p:spPr>
        <p:txBody>
          <a:bodyPr wrap="square">
            <a:spAutoFit/>
          </a:bodyPr>
          <a:lstStyle/>
          <a:p>
            <a:pPr algn="ctr">
              <a:defRPr sz="5200" b="1">
                <a:solidFill>
                  <a:srgbClr val="FFFFFF"/>
                </a:solidFill>
              </a:defRPr>
            </a:pPr>
            <a:r>
              <a:t>谢谢！</a:t>
            </a:r>
          </a:p>
        </p:txBody>
      </p:sp>
      <p:sp>
        <p:nvSpPr>
          <p:cNvPr id="4" name="TextBox 3"/>
          <p:cNvSpPr txBox="1"/>
          <p:nvPr/>
        </p:nvSpPr>
        <p:spPr>
          <a:xfrm>
            <a:off x="914400" y="3840480"/>
            <a:ext cx="10058400" cy="731520"/>
          </a:xfrm>
          <a:prstGeom prst="rect">
            <a:avLst/>
          </a:prstGeom>
          <a:noFill/>
        </p:spPr>
        <p:txBody>
          <a:bodyPr wrap="square">
            <a:spAutoFit/>
          </a:bodyPr>
          <a:lstStyle/>
          <a:p>
            <a:pPr algn="ctr">
              <a:defRPr sz="2800" b="0">
                <a:solidFill>
                  <a:srgbClr val="666666"/>
                </a:solidFill>
              </a:defRPr>
            </a:pPr>
            <a:r>
              <a:t>Questions &amp; Discussion</a:t>
            </a:r>
          </a:p>
        </p:txBody>
      </p:sp>
      <p:sp>
        <p:nvSpPr>
          <p:cNvPr id="5" name="TextBox 4"/>
          <p:cNvSpPr txBox="1"/>
          <p:nvPr/>
        </p:nvSpPr>
        <p:spPr>
          <a:xfrm>
            <a:off x="914400" y="5303520"/>
            <a:ext cx="10058400" cy="457200"/>
          </a:xfrm>
          <a:prstGeom prst="rect">
            <a:avLst/>
          </a:prstGeom>
          <a:noFill/>
        </p:spPr>
        <p:txBody>
          <a:bodyPr wrap="square">
            <a:spAutoFit/>
          </a:bodyPr>
          <a:lstStyle/>
          <a:p>
            <a:pPr algn="ctr">
              <a:defRPr sz="1600" b="0">
                <a:solidFill>
                  <a:srgbClr val="666666"/>
                </a:solidFill>
              </a:defRPr>
            </a:pPr>
            <a:r>
              <a:t>中山大学计算机学院 陈鹏飞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