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BB88"/>
                </a:solidFill>
              </a:defRPr>
            </a:pPr>
            <a:r>
              <a:t>中山大学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操作系统实验课程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Lab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AA"/>
                </a:solidFill>
              </a:defRPr>
            </a:pPr>
            <a:r>
              <a:t>内核线程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授课教师：陈鹏飞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2025-2026 学年 春季学期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0292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000" b="1">
                <a:solidFill>
                  <a:srgbClr val="006633"/>
                </a:solidFill>
              </a:defRPr>
            </a:pPr>
            <a:r>
              <a:t>Lab Printf 与线程调度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可变参数与线程实现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本实验学习目标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学习 C 语言可变参数机制（stdarg.h：va_list, va_start, va_arg, va_end）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实现简化版 printf 函数（格式化输出：%d/%x/%c/%s）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定义线程控制块 PCB（进程控制块，存储线程状态）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实现线程创建与初始化（栈、寄存器、函数入口）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实现基于时间片轮转（Round Robin）的线程调度算法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理解线程上下文切换的原理（asm_switch_thread）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可变参数机制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printf 的实现基础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C 语言可变参数原理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可变参数函数（如 printf）的参数个数和类型在编译时未确定。C 语言通过 &lt;stdarg.h&gt; 提供可变参数机制：</a:t>
            </a:r>
            <a:br/>
            <a:br/>
            <a:r>
              <a:t>1) va_list ap：指向可变参数列表的指针（本质是指向栈的指针）</a:t>
            </a:r>
            <a:br/>
            <a:r>
              <a:t>2) va_start(ap, last_fixed_arg)：初始化 ap，使其指向第一个可变参数</a:t>
            </a:r>
            <a:br/>
            <a:r>
              <a:t>   计算公式：ap = &amp;last_fixed_arg + sizeof(last_fixed_arg)</a:t>
            </a:r>
            <a:br/>
            <a:r>
              <a:t>3) va_arg(ap, type)：按类型 type 获取当前参数，并使 ap 指向下一个参数</a:t>
            </a:r>
            <a:br/>
            <a:r>
              <a:t>   ap += sizeof(type)</a:t>
            </a:r>
            <a:br/>
            <a:r>
              <a:t>4) va_end(ap)：清零 ap，防止后续误用</a:t>
            </a:r>
            <a:br/>
            <a:br/>
            <a:r>
              <a:t>限制：</a:t>
            </a:r>
            <a:br/>
            <a:r>
              <a:t>1) 至少有一个固定参数（用于定位可变参数起始位置）</a:t>
            </a:r>
            <a:br/>
            <a:r>
              <a:t>2) 必须从头到尾顺序访问（不能跳过或回退）</a:t>
            </a:r>
            <a:br/>
            <a:r>
              <a:t>3) 无法自动判断参数个数和类型（需要通过格式字符串或固定参数指定）</a:t>
            </a:r>
            <a:br/>
            <a:br/>
            <a:r>
              <a:t>printf 的第一个固定参数是格式字符串，通过 % 符号确定后续可变参数的类型。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va_list 本质是 char* 指针（指向栈）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va_arg 通过指针偏移和类型强制转换获取参数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printf("%d %s", 123, "abc") → 参数从右到左入栈：abc、123、格式字符串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printf 简化实现（示例）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int printf(const char *format, ...)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va_list ap;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va_start(ap, format);  // ap 指向第一个可变参数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while (*format)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if (*format == '%')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format++;  // 跳过 '%'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switch (*format)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case 'd': {  // 十进制整数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    int value = va_arg(ap, int);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    print_int(value);  // 打印整数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    break;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case 's': {  // 字符串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    char *str = va_arg(ap, char*);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    print_string(str);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    break;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case 'x': {  // 十六进制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    unsigned int value = va_arg(ap, unsigned int);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    print_hex(value);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    break;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} else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    print_char(*format);  // 直接输出字符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    format++;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va_end(ap);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return 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线程控制块 PCB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进程/线程的数据结构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PCB：操作系统管理线程的基础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PCB（Process Control Block）是操作系统管理线程/进程的核心数据结构。每个线程都有一个 PCB，包含：</a:t>
            </a:r>
            <a:br/>
            <a:br/>
            <a:r>
              <a:t>1) 线程标识：PID（进程ID）、线程名</a:t>
            </a:r>
            <a:br/>
            <a:r>
              <a:t>2) CPU 状态：寄存器快照（eax, ebx, ecx, edx, esi, edi, ebp, esp, eip）</a:t>
            </a:r>
            <a:br/>
            <a:r>
              <a:t>3) 调度信息：优先级、时间片（ticks）、已运行时间（ticksPassedBy）</a:t>
            </a:r>
            <a:br/>
            <a:r>
              <a:t>4) 栈信息：栈顶指针（stack）、栈大小</a:t>
            </a:r>
            <a:br/>
            <a:r>
              <a:t>5) 线程状态：CREATED（已创建）、READY（就绪）、RUNNING（运行中）、BLOCKED（阻塞）、DEAD（结束）</a:t>
            </a:r>
            <a:br/>
            <a:r>
              <a:t>6) 队列指针：allListTag（全局线程链表）、tagInGeneralList（就绪/阻塞队列）</a:t>
            </a:r>
            <a:br/>
            <a:br/>
            <a:r>
              <a:t>为什么需要 PCB？</a:t>
            </a:r>
            <a:br/>
            <a:r>
              <a:t>线程切换时，CPU 只能保存一个线程的状态。为了恢复其他线程，需要将每个线程的 CPU 状态（寄存器）保存到内存中（即 PCB）。调度器根据 PCB 选择下一个线程，并将 PCB 中的寄存器值恢复到 CPU，实现线程切换。</a:t>
            </a:r>
            <a:br/>
            <a:br/>
            <a:r>
              <a:t>PCB 存储位置：</a:t>
            </a:r>
            <a:br/>
            <a:r>
              <a:t>通常将 PCB 放在线程栈的最顶端（固定位置），栈顶指针（如 0x9000）向下增长。这样可以快速定位 PCB（通过栈地址）。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Linux 的 PCB 称为 task_struct（约 1KB）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Windows 的 PCB 称为 EPROCESS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实验中的 PCB 约 100-200 字节（简化版）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PCB 结构体定义（示例）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struct PCB {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  uint32 pid;              // 线程 ID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  char name[16];           // 线程名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  uint32 *stack;           // 栈顶指针（esp）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  ThreadStatus status;     // 线程状态（CREATED/READY/RUNNING...）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  uint8 priority;          // 优先级（0-31）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  uint32 ticks;            // 时间片（剩余可运行的时钟中断次数）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  uint32 ticksPassedBy;    // 已运行时间（已消耗的时钟中断次数）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  ListItem allListTag;     // 全局线程链表节点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    ListItem tagInGeneralList; // 就绪/阻塞队列节点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线程创建与初始化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栈布局与参数传递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线程栈初始化：两种情况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线程栈用于存储函数调用的局部变量、返回地址、寄存器快照。线程初始化时，需要在栈中预设好以下内容：</a:t>
            </a:r>
            <a:br/>
            <a:br/>
            <a:r>
              <a:t>**情况1：新创建的线程（从未执行过）**</a:t>
            </a:r>
            <a:br/>
            <a:r>
              <a:t>栈布局（从栈底到栈顶）：</a:t>
            </a:r>
            <a:br/>
            <a:r>
              <a:t>1) 函数参数（如 thread_func(arg) 的 arg）</a:t>
            </a:r>
            <a:br/>
            <a:r>
              <a:t>2) 返回地址（program_exit，线程结束后跳转到此处清理）</a:t>
            </a:r>
            <a:br/>
            <a:r>
              <a:t>3) 函数入口地址（thread_func）</a:t>
            </a:r>
            <a:br/>
            <a:r>
              <a:t>4) 被调用者保存寄存器（ebp, ebx, edi, esi）</a:t>
            </a:r>
            <a:br/>
            <a:r>
              <a:t>5) esp 指向栈顶（初始化完成后，asm_switch_thread 会 pop 恢复寄存器）</a:t>
            </a:r>
            <a:br/>
            <a:br/>
            <a:r>
              <a:t>**情况2：被中断的线程（已执行过）**</a:t>
            </a:r>
            <a:br/>
            <a:r>
              <a:t>栈布局（从栈底到栈顶）：</a:t>
            </a:r>
            <a:br/>
            <a:r>
              <a:t>1) 时钟中断自动保存的内容（eflags, cs, eip, eax, ecx, edx, ebx, esp_old, ebp, esi, edi, ds, es, fs, gs）</a:t>
            </a:r>
            <a:br/>
            <a:r>
              <a:t>2) 被调用者保存寄存器（ebp, ebx, edi, esi）</a:t>
            </a:r>
            <a:br/>
            <a:r>
              <a:t>3) esp 指向栈顶</a:t>
            </a:r>
            <a:br/>
            <a:br/>
            <a:r>
              <a:t>asm_switch_thread 的作用：</a:t>
            </a:r>
            <a:br/>
            <a:r>
              <a:t>从当前线程的栈中保存寄存器（push），然后切换到新线程的栈（mov esp, [新线程PCB]），从新线程的栈中恢复寄存器（pop），最后 ret 跳转到新线程的 eip。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新创建的线程：栈中预设 4 个 0（ebp/ebx/edi/esi），ret 后跳转到 thread_func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被中断的线程：栈中有完整的寄存器快照，ret 后跳转回中断点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esp 的位置决定了线程恢复后的执行位置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线程栈初始化（新创建线程）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void executeThread(PCB *thread, void (*function)(void*), void *parameter)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// 线程栈从高地址向低地址增长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// 栈顶在 thread-&gt;stack（如 0x9000），栈向下增长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// 预留中断栈空间（时钟中断会 push 寄存器）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thread-&gt;stack -= sizeof(IntrStack);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// 构造线程栈（从栈底到栈顶）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thread-&gt;stack[0] = 0;  // ebp（初始为 0）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thread-&gt;stack[1] = 0;  // ebx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thread-&gt;stack[2] = 0;  // edi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thread-&gt;stack[3] = 0;  // esi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thread-&gt;stack[4] = (uint32)function;    // 返回地址（ret 跳转到此）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thread-&gt;stack[5] = (uint32)program_exit; // 函数返回后跳转到此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thread-&gt;stack[6] = (uint32)parameter;    // 函数参数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// esp 指向栈顶（stack[0] 的位置）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thread-&gt;esp = (uint32)&amp;thread-&gt;stack[0];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时间片轮转调度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Round Robin 算法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时间片轮转（RR）调度算法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时间片轮转（Round Robin）是最简单的抢占式调度算法：</a:t>
            </a:r>
            <a:br/>
            <a:br/>
            <a:r>
              <a:t>1) 每个线程分配固定的时间片（如 10 个时钟中断 = 100ms）</a:t>
            </a:r>
            <a:br/>
            <a:r>
              <a:t>2) 线程按 FIFO 顺序排队（就绪队列）</a:t>
            </a:r>
            <a:br/>
            <a:r>
              <a:t>3) 调度器选择队头线程上 CPU 运行</a:t>
            </a:r>
            <a:br/>
            <a:r>
              <a:t>4) 每次时钟中断，当前线程的 ticks 减 1</a:t>
            </a:r>
            <a:br/>
            <a:r>
              <a:t>5) 当 ticks = 0 时，线程时间片用完，被放到队尾，调度下一个线程</a:t>
            </a:r>
            <a:br/>
            <a:r>
              <a:t>6) 新上 CPU 的线程恢复满时间片</a:t>
            </a:r>
            <a:br/>
            <a:br/>
            <a:r>
              <a:t>优点：</a:t>
            </a:r>
            <a:br/>
            <a:r>
              <a:t>1) 公平：每个线程都能获得 CPU 时间</a:t>
            </a:r>
            <a:br/>
            <a:r>
              <a:t>2) 响应快：每个线程最多等待 N*时间片（N = 线程数）</a:t>
            </a:r>
            <a:br/>
            <a:r>
              <a:t>3) 实现简单：只需一个 FIFO 队列</a:t>
            </a:r>
            <a:br/>
            <a:br/>
            <a:r>
              <a:t>缺点：</a:t>
            </a:r>
            <a:br/>
            <a:r>
              <a:t>1) 不考虑优先级：重要线程和普通线程获得相同时间</a:t>
            </a:r>
            <a:br/>
            <a:r>
              <a:t>2) 上下文切换开销：频繁切换会浪费 CPU 时间</a:t>
            </a:r>
            <a:br/>
            <a:r>
              <a:t>3) 不适合 I/O 密集型任务：线程阻塞后时间片浪费</a:t>
            </a:r>
            <a:br/>
            <a:br/>
            <a:r>
              <a:t>时间片大小的选择：</a:t>
            </a:r>
            <a:br/>
            <a:r>
              <a:t>太小 → 切换频繁，开销大</a:t>
            </a:r>
            <a:br/>
            <a:r>
              <a:t>太大 → 响应慢，类似 FCFS（先来先服务）</a:t>
            </a:r>
            <a:br/>
            <a:r>
              <a:t>经验值：10-100ms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Linux CFS 调度器：虚拟运行时间（vruntime），动态时间片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Windows 优先级调度：高优先级线程获得更多时间片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实时系统：固定优先级调度（Rate Monotonic, EDF）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RR 调度流程（时钟中断）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时钟中断触发（每 10ms 一次，IRQ0 → 中断号 0x20）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保存当前线程的寄存器到栈（中断自动保存 + push ebp/ebx/edi/esi）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调用 schedule() 函数：</a:t>
            </a:r>
            <a:br/>
            <a:r>
              <a:t>  1) 当前线程 ticks -= 1</a:t>
            </a:r>
            <a:br/>
            <a:r>
              <a:t>  2) 如果 ticks == 0：</a:t>
            </a:r>
            <a:br/>
            <a:r>
              <a:t>     a) 将当前线程放到就绪队列尾部</a:t>
            </a:r>
            <a:br/>
            <a:r>
              <a:t>     b) 从队头取出下一个线程</a:t>
            </a:r>
            <a:br/>
            <a:r>
              <a:t>     c) 恢复下一个线程的时间片（ticks = priority）</a:t>
            </a:r>
            <a:br/>
            <a:r>
              <a:t>     d) 调用 asm_switch_thread(当前 PCB, 下一个 PCB)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asm_switch_thread 切换栈指针（esp）：</a:t>
            </a:r>
            <a:br/>
            <a:r>
              <a:t>  mov [当前PCB-&gt;esp], esp  # 保存当前栈</a:t>
            </a:r>
            <a:br/>
            <a:r>
              <a:t>  mov esp, [下一个PCB-&gt;esp]  # 切换到新栈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从新线程的栈中 pop 恢复寄存器（ebp, ebx, edi, esi）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ret 跳转到新线程的 eip（可能是中断返回点或 thread_func）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线程生命周期状态转换图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线程在 5 个状态之间转换，调度器负责 READY ↔ RUNNING 的切换</a:t>
            </a:r>
          </a:p>
        </p:txBody>
      </p:sp>
      <p:sp>
        <p:nvSpPr>
          <p:cNvPr id="8" name="Oval 7"/>
          <p:cNvSpPr/>
          <p:nvPr/>
        </p:nvSpPr>
        <p:spPr>
          <a:xfrm>
            <a:off x="2301087" y="2743200"/>
            <a:ext cx="1005840" cy="1005840"/>
          </a:xfrm>
          <a:prstGeom prst="ellipse">
            <a:avLst/>
          </a:prstGeom>
          <a:solidFill>
            <a:srgbClr val="7B1FA2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CREATED</a:t>
            </a:r>
          </a:p>
        </p:txBody>
      </p:sp>
      <p:sp>
        <p:nvSpPr>
          <p:cNvPr id="9" name="Oval 8"/>
          <p:cNvSpPr/>
          <p:nvPr/>
        </p:nvSpPr>
        <p:spPr>
          <a:xfrm>
            <a:off x="3947007" y="2743200"/>
            <a:ext cx="1005840" cy="1005840"/>
          </a:xfrm>
          <a:prstGeom prst="ellipse">
            <a:avLst/>
          </a:prstGeom>
          <a:solidFill>
            <a:srgbClr val="1A73E8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READY</a:t>
            </a:r>
          </a:p>
        </p:txBody>
      </p:sp>
      <p:sp>
        <p:nvSpPr>
          <p:cNvPr id="10" name="Oval 9"/>
          <p:cNvSpPr/>
          <p:nvPr/>
        </p:nvSpPr>
        <p:spPr>
          <a:xfrm>
            <a:off x="5592927" y="2743200"/>
            <a:ext cx="1005840" cy="1005840"/>
          </a:xfrm>
          <a:prstGeom prst="ellipse">
            <a:avLst/>
          </a:prstGeom>
          <a:solidFill>
            <a:srgbClr val="006633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RUNNING</a:t>
            </a:r>
          </a:p>
        </p:txBody>
      </p:sp>
      <p:sp>
        <p:nvSpPr>
          <p:cNvPr id="11" name="Oval 10"/>
          <p:cNvSpPr/>
          <p:nvPr/>
        </p:nvSpPr>
        <p:spPr>
          <a:xfrm>
            <a:off x="7238847" y="2743200"/>
            <a:ext cx="1005840" cy="1005840"/>
          </a:xfrm>
          <a:prstGeom prst="ellipse">
            <a:avLst/>
          </a:prstGeom>
          <a:solidFill>
            <a:srgbClr val="E65C00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BLOCKED</a:t>
            </a:r>
          </a:p>
        </p:txBody>
      </p:sp>
      <p:sp>
        <p:nvSpPr>
          <p:cNvPr id="12" name="Oval 11"/>
          <p:cNvSpPr/>
          <p:nvPr/>
        </p:nvSpPr>
        <p:spPr>
          <a:xfrm>
            <a:off x="8884767" y="2743200"/>
            <a:ext cx="1005840" cy="100584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DEAD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06927" y="3136392"/>
            <a:ext cx="640080" cy="219456"/>
          </a:xfrm>
          <a:prstGeom prst="rightArrow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6927" y="28986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</a:defRPr>
            </a:pPr>
            <a:r>
              <a:t>executeThread()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52847" y="3136392"/>
            <a:ext cx="640080" cy="219456"/>
          </a:xfrm>
          <a:prstGeom prst="rightArrow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2847" y="28986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</a:defRPr>
            </a:pPr>
            <a:r>
              <a:t>schedule() 选中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2847" y="3931920"/>
            <a:ext cx="64008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2847" y="39776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62828"/>
                </a:solidFill>
              </a:defRPr>
            </a:pPr>
            <a:r>
              <a:t>时间片用完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98767" y="3136392"/>
            <a:ext cx="640080" cy="219456"/>
          </a:xfrm>
          <a:prstGeom prst="rightArrow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8767" y="28986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73E8"/>
                </a:solidFill>
              </a:defRPr>
            </a:pPr>
            <a:r>
              <a:t>sleep/P操作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49927" y="4297680"/>
            <a:ext cx="3291840" cy="3657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9927" y="4343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5C00"/>
                </a:solidFill>
              </a:defRPr>
            </a:pPr>
            <a:r>
              <a:t>wakeup/V操作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2194560"/>
            <a:ext cx="329184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5847" y="19202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</a:defRPr>
            </a:pPr>
            <a:r>
              <a:t>exit()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线程上下文切换流程图（asm_switch_thread）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两个线程之间的上下文切换完整过程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47426"/>
            <a:ext cx="308113" cy="308113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362485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362485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时钟中断触发（IRQ0），CPU 自动保存 EFLAGS/CS/EIP 到栈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282725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473615"/>
            <a:ext cx="308113" cy="308113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446429"/>
            <a:ext cx="64008" cy="36248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8488" y="2446429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中断处理函数保存通用寄存器（pushad）到当前线程栈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2808915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999804"/>
            <a:ext cx="308113" cy="308113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972618"/>
            <a:ext cx="64008" cy="36248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972618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调用 schedule()，检查 ticks 是否为 0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335104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525994"/>
            <a:ext cx="308113" cy="308113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498807"/>
            <a:ext cx="64008" cy="362485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498807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将当前线程 PCB 放入就绪队列尾部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3861293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052183"/>
            <a:ext cx="308113" cy="308113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024997"/>
            <a:ext cx="64008" cy="362485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4024997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从就绪队列头部取出下一个线程 PCB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4387482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578372"/>
            <a:ext cx="308113" cy="308113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551186"/>
            <a:ext cx="64008" cy="362485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4551186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调用 asm_switch_thread(当前PCB, 下一个PCB)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4913672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104561"/>
            <a:ext cx="308113" cy="308113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077375"/>
            <a:ext cx="64008" cy="362485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5077375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保存当前 ESP 到当前 PCB → 加载下一个 PCB 的 ESP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439861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630751"/>
            <a:ext cx="308113" cy="308113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5603564"/>
            <a:ext cx="64008" cy="36248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18488" y="5603564"/>
            <a:ext cx="9811512" cy="36248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从新线程栈 pop 恢复寄存器（esi/edi/ebx/ebp）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355080" y="5966050"/>
            <a:ext cx="274320" cy="163703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" y="6156940"/>
            <a:ext cx="308113" cy="308113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6129754"/>
            <a:ext cx="64008" cy="36248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18488" y="6129754"/>
            <a:ext cx="9811512" cy="362485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ret → 跳转到新线程的 EIP（恢复执行）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实验任务 (Assignment)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DDL: 2026.05.06 23:59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实验环境与提交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支持平台：Ubuntu AMD64、银河麒麟 ARM64（交叉编译）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src/3 和 src/4 的 Makefile 已实现自动检测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src/1 和 src/2 是宿主机程序，麒麟上使用系统g++编译（去掉-m32参数）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实验不限：语言（C/C++/Rust）、平台、CPU架构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提交内容：5个Assignment代码 + 实验报告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压缩包命名：lab5-姓名-学号.zip，报告注明实验环境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1: printf的实现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1.1 基本printf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学习可变参数机制，实现printf（支持 %d/%x/%c/%s）。</a:t>
            </a:r>
            <a:br/>
            <a:r>
              <a:t>可以在教程的printf上改进（如增加格式化输出类型），或从头实现自己的printf函数。</a:t>
            </a:r>
            <a:br/>
            <a:r>
              <a:t>截图并说明。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1.2 增强printf（至少2种）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为printf至少增加以下两种格式化输出支持：</a:t>
            </a:r>
            <a:br/>
            <a:r>
              <a:t>• %o：按八进制输出无符号整数</a:t>
            </a:r>
            <a:br/>
            <a:r>
              <a:t>• %u：按十进制输出无符号整数（注意与%d的区别——%d是有符号的）</a:t>
            </a:r>
            <a:br/>
            <a:r>
              <a:t>• %p：按指针格式输出地址（如0x0001A2B3，16进制带0x前缀，至少8位，高位补零）</a:t>
            </a:r>
            <a:br/>
            <a:r>
              <a:t>• %0Nd（选做）：输出至少N位的十进制数，不足补零（如printf("%08d", 42)输出00000042）</a:t>
            </a:r>
            <a:br/>
            <a:r>
              <a:t>提示：%o和%u的实现与%d/%x类似，只需修改itos函数的进制参数。</a:t>
            </a:r>
            <a:br/>
            <a:r>
              <a:t>请在内核环境（src/3基础上）测试各种格式化输出的正确性。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2: 线程的实现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2.1 基本线程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自行设计PCB，可以添加更多属性（如优先级等），然后根据你的PCB来实现线程，演示执行结果。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2.2 多线程并发展示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创建至少3个线程，每个线程在屏幕的不同行分别打印不同内容（如线程名称和计数器）。</a:t>
            </a:r>
            <a:br/>
            <a:r>
              <a:t>要求：</a:t>
            </a:r>
            <a:br/>
            <a:r>
              <a:t>1) 每个线程的输出应有明确标识（线程名、PID），以便区分</a:t>
            </a:r>
            <a:br/>
            <a:r>
              <a:t>2) 至少3个线程运行足够长时间（使用循环），观察到线程切换效果</a:t>
            </a:r>
            <a:br/>
            <a:r>
              <a:t>3) 在报告中说明观察到的线程调度行为：哪个先执行？如何交替？</a:t>
            </a:r>
            <a:br/>
            <a:r>
              <a:t>提示：可让每个线程循环打印PID和递增计数器，通过直接操作VGA显存控制输出位置。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3: 线程调度切换的秘密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3.1 跟踪线程切换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编写若干个线程函数，使用gdb跟踪c_time_interrupt_handler、asm_switch_thread等函数。</a:t>
            </a:r>
            <a:br/>
            <a:r>
              <a:t>观察线程切换前后栈、寄存器、PC等变化，结合gdb和材料来跟踪并说明两个过程：</a:t>
            </a:r>
            <a:br/>
            <a:r>
              <a:t>• 一个新创建的线程是如何被调度然后开始执行的</a:t>
            </a:r>
            <a:br/>
            <a:r>
              <a:t>• 一个正在执行的线程如何被中断换下处理器，以及换上后如何从被中断点恢复执行</a:t>
            </a:r>
            <a:br/>
            <a:r>
              <a:t>银河麒麟ARM64用户：可使用make debug + gdb-multiarch，或QEMU Monitor的info registers和xp命令。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3.2 分析线程栈布局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画出以下两个时刻的线程栈布局图（手绘或工具绘制）：</a:t>
            </a:r>
            <a:br/>
            <a:r>
              <a:t>1) 新创建尚未执行的线程的栈布局（对应'第一种情况'）</a:t>
            </a:r>
            <a:br/>
            <a:r>
              <a:t>2) 被中断后保存了上下文的线程的栈布局（对应'第二种情况'）</a:t>
            </a:r>
            <a:br/>
            <a:r>
              <a:t>在每种情况下标注：</a:t>
            </a:r>
            <a:br/>
            <a:r>
              <a:t>• esp指向的位置、ebp/ebx/edi/esi保存的位置</a:t>
            </a:r>
            <a:br/>
            <a:r>
              <a:t>• function、program_exit、parameter的位置</a:t>
            </a:r>
            <a:br/>
            <a:r>
              <a:t>• ret指令执行后eip的变化</a:t>
            </a:r>
            <a:br/>
            <a:r>
              <a:t>提示：回顾executeThread对thread-&gt;stack的初始化过程（stack[0]~stack[6]）。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4: 调度算法的实现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4.1 实现一种调度算法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将线程调度算法修改为以下之一或自己设计的算法：</a:t>
            </a:r>
            <a:br/>
            <a:r>
              <a:t>• 先来先服务（FCFS）、最短作业优先（SJF）、响应比最高者优先</a:t>
            </a:r>
            <a:br/>
            <a:r>
              <a:t>• 优先级调度、多级反馈队列调度</a:t>
            </a:r>
            <a:br/>
            <a:r>
              <a:t>编写测试样例呈现算法的正确性和基本逻辑。截图并说明实现思路。</a:t>
            </a:r>
            <a:br/>
            <a:r>
              <a:t>提示：先来先服务最简单——线程上处理机后执行完毕才让出。有些算法可能需要用到中断。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4.2 对比分析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设计同一组测试线程（至少3个，不同执行时间和优先级），在两种不同调度算法下运行。</a:t>
            </a:r>
            <a:br/>
            <a:r>
              <a:t>对比分析：</a:t>
            </a:r>
            <a:br/>
            <a:r>
              <a:t>1) 各线程的执行顺序有何不同？</a:t>
            </a:r>
            <a:br/>
            <a:r>
              <a:t>2) 各线程的等待时间和周转时间差异？</a:t>
            </a:r>
            <a:br/>
            <a:r>
              <a:t>3) 两种算法各自的优缺点？</a:t>
            </a:r>
            <a:br/>
            <a:r>
              <a:t>给出截图、表格或数据对比，并用自己的话总结分析。</a:t>
            </a:r>
            <a:br/>
            <a:r>
              <a:t>提示：可为每个线程设置不同ticks和priority，打印ticksPassedBy观察调度行为。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5: 线程生命周期管理（选做加分）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5.1 实现 thread_yield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 void thread_yield() 函数，使当前线程主动放弃CPU，让调度器选择下一个就绪线程。</a:t>
            </a:r>
            <a:br/>
            <a:r>
              <a:t>要求：</a:t>
            </a:r>
            <a:br/>
            <a:r>
              <a:t>1) 调用thread_yield后，当前线程被放回就绪队列尾部</a:t>
            </a:r>
            <a:br/>
            <a:r>
              <a:t>2) 线程的ticks不清零（与时间片耗尽的调度不同——yield是主动让出）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5.2 实现 thread_sleep 和 thread_wakeup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实现线程的阻塞和唤醒机制：</a:t>
            </a:r>
            <a:br/>
            <a:r>
              <a:t>• void thread_sleep(List *waitList)：将当前线程状态设为BLOCKED，加入等待队列，调度下一个线程</a:t>
            </a:r>
            <a:br/>
            <a:r>
              <a:t>• void thread_wakeup(PCB *thread, List *waitList)：将阻塞线程从等待队列移除，设为READY，放入就绪队列</a:t>
            </a:r>
            <a:br/>
            <a:r>
              <a:t>测试：创建至少2个线程，一个调用sleep阻塞，另一个在合适时机调用wakeup唤醒。</a:t>
            </a:r>
            <a:br/>
            <a:r>
              <a:t>提示：这些操作需在关中断保护下进行。这些机制是后续实现信号量和锁的基础。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33"/>
                </a:solidFill>
              </a:defRPr>
            </a:pPr>
            <a:r>
              <a:t>本次实验总结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 C 语言可变参数机制（va_list, va_start, va_arg, va_end）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实现简化版 printf 函数（格式化输出）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 PCB 的作用和结构（PID、寄存器、栈、状态、调度信息）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掌握线程栈初始化（新创建线程 vs 被中断线程）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实现时间片轮转（RR）调度算法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理解线程上下文切换的原理（asm_switch_thread）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中山大学计算机学院 陈鹏飞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