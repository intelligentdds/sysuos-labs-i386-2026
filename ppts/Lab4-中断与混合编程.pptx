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中断与混合编程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C/C++ 内核与中断处理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C/C++ 编写操作系统内核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 C/C++ 编译流程（预处理→编译→汇编→链接）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掌握 C/汇编混合编程（C 调用汇编，汇编调用 C）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学习使用 Makefile 管理大型 C/C++ 项目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理解保护模式下的中断处理机制（IDT、中断描述符）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学习可编程中断控制器 8259A 的编程方法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实现时钟中断处理函数（8253/8254 定时器）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C/C++ 编译的四个阶段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从源码到可执行文件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预处理：宏展开与文件包含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预处理阶段（Preprocessing）处理所有以 # 开头的指令，生成 .i 文件（预处理文件）：</a:t>
            </a:r>
            <a:br/>
            <a:br/>
            <a:r>
              <a:t>1) 宏展开：将 #define 定义的宏替换为实际内容</a:t>
            </a:r>
            <a:br/>
            <a:r>
              <a:t>   例如：#define MAX 100 → 所有 MAX 都被替换为 100</a:t>
            </a:r>
            <a:br/>
            <a:r>
              <a:t>2) 文件包含：将 #include 的头文件内容插入到当前文件</a:t>
            </a:r>
            <a:br/>
            <a:r>
              <a:t>   例如：#include "print.h" → 插入 print.h 的全部内容</a:t>
            </a:r>
            <a:br/>
            <a:r>
              <a:t>3) 条件编译：处理 #ifdef/#ifndef/#endif 等指令，选择性保留代码</a:t>
            </a:r>
            <a:br/>
            <a:r>
              <a:t>4) 删除注释：// 和 /* */ 注释被全部删除</a:t>
            </a:r>
            <a:br/>
            <a:r>
              <a:t>5) 添加行号和文件名标识：用于编译器报错时定位</a:t>
            </a:r>
            <a:br/>
            <a:br/>
            <a:r>
              <a:t>预处理命令：gcc -E main.c -o main.i</a:t>
            </a:r>
            <a:br/>
            <a:r>
              <a:t>预处理后的 .i 文件体积通常比 .c 文件大很多（因为头文件被展开，如 &lt;stdio.h&gt; 可能有上千行）。</a:t>
            </a:r>
            <a:br/>
            <a:br/>
            <a:r>
              <a:t>注意：预处理不检查语法，只是文本替换。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预处理器不理解 C 语法，只做文本替换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#include &lt;头文件&gt; 查找系统目录，#include "头文件" 查找当前目录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.i 文件可以直接用文本编辑器打开查看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编译：生成汇编代码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编译阶段（Compilation）将预处理后的 .i 文件转换为汇编语言 .S 文件：</a:t>
            </a:r>
            <a:br/>
            <a:br/>
            <a:r>
              <a:t>主要步骤：</a:t>
            </a:r>
            <a:br/>
            <a:r>
              <a:t>1) 词法分析：将代码分解为 token（关键字、标识符、运算符等）</a:t>
            </a:r>
            <a:br/>
            <a:r>
              <a:t>2) 语法分析：检查语法是否正确，生成抽象语法树（AST）</a:t>
            </a:r>
            <a:br/>
            <a:r>
              <a:t>3) 语义分析：检查类型匹配、变量声明等语义错误</a:t>
            </a:r>
            <a:br/>
            <a:r>
              <a:t>4) 中间代码生成：生成与平台无关的中间表示（IR）</a:t>
            </a:r>
            <a:br/>
            <a:r>
              <a:t>5) 优化：循环展开、常量折叠、死代码消除等（-O0/-O2/-O3）</a:t>
            </a:r>
            <a:br/>
            <a:r>
              <a:t>6) 目标代码生成：生成特定 CPU 架构的汇编代码（x86/ARM/MIPS）</a:t>
            </a:r>
            <a:br/>
            <a:br/>
            <a:r>
              <a:t>编译命令：gcc -S main.c -o main.S -masm=intel</a:t>
            </a:r>
            <a:br/>
            <a:r>
              <a:t>（-masm=intel 生成 Intel 风格汇编，默认是 AT&amp;T 风格）</a:t>
            </a:r>
            <a:br/>
            <a:br/>
            <a:r>
              <a:t>此阶段会报告大部分语法错误和类型错误（undefined reference 错误发生在链接阶段）。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编译器会进行大量优化（-O2 可提升性能 30-50%）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不同优化级别：-O0（无优化）、-O2（适中）、-O3（激进）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汇编代码是可读的文本文件，可以手动修改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汇编与链接：生成可执行文件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汇编阶段（Assembly）：将 .S 汇编文件转换为 .o 机器码文件（可重定位目标文件）</a:t>
            </a:r>
            <a:br/>
            <a:br/>
            <a:r>
              <a:t>- 命令：gcc -c main.S -o main.o（或 as main.S -o main.o）</a:t>
            </a:r>
            <a:br/>
            <a:r>
              <a:t>- .o 文件是二进制文件，包含机器指令和符号表（函数名、全局变量地址）</a:t>
            </a:r>
            <a:br/>
            <a:r>
              <a:t>- 符号表中的地址是相对地址（待链接时重定位）</a:t>
            </a:r>
            <a:br/>
            <a:br/>
            <a:r>
              <a:t>链接阶段（Linking）：将多个 .o 文件合并成一个可执行文件</a:t>
            </a:r>
            <a:br/>
            <a:br/>
            <a:r>
              <a:t>主要任务：</a:t>
            </a:r>
            <a:br/>
            <a:r>
              <a:t>1) 符号解析：找到所有函数和变量的定义（解决 undefined reference 错误）</a:t>
            </a:r>
            <a:br/>
            <a:r>
              <a:t>2) 地址重定位：将相对地址转换为最终的绝对地址或虚拟地址</a:t>
            </a:r>
            <a:br/>
            <a:r>
              <a:t>3) 合并段：将所有 .o 文件的代码段、数据段等合并</a:t>
            </a:r>
            <a:br/>
            <a:r>
              <a:t>4) 添加启动代码：插入 _start 函数（调用 main 前的初始化代码）</a:t>
            </a:r>
            <a:br/>
            <a:br/>
            <a:r>
              <a:t>链接命令：ld main.o print.o -o main.out</a:t>
            </a:r>
            <a:br/>
            <a:r>
              <a:t>（内核链接需要指定链接脚本 -T linker.ld）</a:t>
            </a:r>
            <a:br/>
            <a:br/>
            <a:r>
              <a:t>注意：只有到链接阶段才能发现 undefined reference 错误（函数声明了但未定义）。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静态链接：所有库都打包进可执行文件（体积大，无依赖）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动态链接：运行时加载共享库 .so（体积小，需要库文件）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内核不能使用动态链接（没有操作系统支持）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C/C++ 编译四阶段流程图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从源代码到可执行文件的完整过程（gcc 自动完成这四步）</a:t>
            </a:r>
          </a:p>
        </p:txBody>
      </p:sp>
      <p:sp>
        <p:nvSpPr>
          <p:cNvPr id="8" name="Oval 7"/>
          <p:cNvSpPr/>
          <p:nvPr/>
        </p:nvSpPr>
        <p:spPr>
          <a:xfrm>
            <a:off x="1558251" y="2103120"/>
            <a:ext cx="411480" cy="411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430703" cy="128016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预处理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(Preprocessing)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.c → .i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宏展开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文件包含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25063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46155" y="21031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2606040"/>
            <a:ext cx="2430703" cy="12801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编译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(Compilation)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.i → .S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语法分析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生成汇编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2967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34059" y="21031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2606040"/>
            <a:ext cx="2430703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汇编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(Assembly)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.S → .o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机器码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符号表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00871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21963" y="2103120"/>
            <a:ext cx="411480" cy="4114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2351" y="2606040"/>
            <a:ext cx="2430703" cy="12801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链接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(Linking)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.o → 可执行文件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符号解析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地址重定位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C/汇编混合编程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函数调用约定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C/C++ 函数调用约定（cdecl）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C/C++ 函数调用遵循 cdecl 约定（x86 32 位下的标准约定）：</a:t>
            </a:r>
            <a:br/>
            <a:br/>
            <a:r>
              <a:t>调用前（Caller 的责任）：</a:t>
            </a:r>
            <a:br/>
            <a:r>
              <a:t>1) 参数从右到左依次入栈（push 参数N, ..., push 参数1）</a:t>
            </a:r>
            <a:br/>
            <a:r>
              <a:t>2) 调用函数（call 函数名，自动 push 返回地址到栈）</a:t>
            </a:r>
            <a:br/>
            <a:br/>
            <a:r>
              <a:t>函数内部（Callee 的责任）：</a:t>
            </a:r>
            <a:br/>
            <a:r>
              <a:t>1) 保存 ebp：push ebp → mov ebp, esp（建立栈帧）</a:t>
            </a:r>
            <a:br/>
            <a:r>
              <a:t>2) 分配局部变量空间：sub esp, N（为局部变量预留栈空间）</a:t>
            </a:r>
            <a:br/>
            <a:r>
              <a:t>3) 保存需要使用的寄存器（ebx, esi, edi）</a:t>
            </a:r>
            <a:br/>
            <a:r>
              <a:t>4) 执行函数体</a:t>
            </a:r>
            <a:br/>
            <a:r>
              <a:t>5) 恢复寄存器，销毁栈帧：mov esp, ebp → pop ebp</a:t>
            </a:r>
            <a:br/>
            <a:r>
              <a:t>6) 返回：ret（pop eip，跳转到返回地址）</a:t>
            </a:r>
            <a:br/>
            <a:br/>
            <a:r>
              <a:t>返回后（Caller 的责任）：</a:t>
            </a:r>
            <a:br/>
            <a:r>
              <a:t>- 清理栈上的参数：add esp, N*4（N = 参数个数）</a:t>
            </a:r>
            <a:br/>
            <a:r>
              <a:t>- 返回值在 eax 中（整数、指针）或 eax:edx 中（64位整数）</a:t>
            </a:r>
            <a:br/>
            <a:br/>
            <a:r>
              <a:t>参数访问：[ebp+8] = 第1个参数，[ebp+12] = 第2个参数，...（每个参数 4 字节）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栈增长方向：从高地址向低地址（push 使 esp 减小）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ebp 指向当前栈帧底部，esp 指向栈顶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ebp+4 = 返回地址，ebp+8 = 第1个参数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C 调用汇编函数（示例）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汇编函数：int asm_add(int a, int b) { return a + b;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global asm_add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asm_add: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push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ebp, esp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[ebp+8] = a, [ebp+12] =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eax, [ebp+8]  ; eax = 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add eax, [ebp+12] ; eax = a +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pop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ret               ; 返回值在 eax 中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C 代码中调用（需要声明）：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extern "C" int asm_add(int, int);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int result = asm_add(5, 3); // result =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汇编调用 C 函数（示例）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汇编调用 C 函数：int c_multiply(int a, int 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extern c_multiply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my_function: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push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ebp, esp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调用 c_multiply(10, 20)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push 20        ; 第2个参数（从右向左入栈）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push 10        ; 第1个参数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call c_multiply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add esp, 8     ; 清理栈（2个参数 * 4字节 = 8字节）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eax 中是返回值（10 * 20 = 200）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pop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ret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C 代码中需要声明为 C 链接（防止 C++ 名称修饰）：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extern "C" int c_multiply(int a, int b)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    return a * b;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extern "C" 的作用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C++ 的名称修饰（Name Mangling）：</a:t>
            </a:r>
            <a:br/>
            <a:r>
              <a:t>  C++ 编译器会将函数名编码为包含参数类型的符号</a:t>
            </a:r>
            <a:br/>
            <a:r>
              <a:t>  例如：int foo(int, double) → _Z3fooId（参数信息被编码到符号中）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为什么需要名称修饰？</a:t>
            </a:r>
            <a:br/>
            <a:r>
              <a:t>  C++ 支持函数重载（同名函数，不同参数）</a:t>
            </a:r>
            <a:br/>
            <a:r>
              <a:t>  编译器需要通过参数类型区分不同版本的 foo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extern "C" 的作用：</a:t>
            </a:r>
            <a:br/>
            <a:r>
              <a:t>  告诉编译器按 C 方式处理（不修饰函数名）</a:t>
            </a:r>
            <a:br/>
            <a:r>
              <a:t>  例如：extern "C" int foo(int, double) → 符号仍是 foo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何时使用 extern "C"？</a:t>
            </a:r>
            <a:br/>
            <a:r>
              <a:t>  1) C++ 调用汇编函数（汇编函数名无修饰）</a:t>
            </a:r>
            <a:br/>
            <a:r>
              <a:t>  2) 汇编调用 C++ 函数（汇编只能识别未修饰的符号）</a:t>
            </a:r>
            <a:br/>
            <a:r>
              <a:t>  3) C++ 调用 C 代码库（C 库不支持名称修饰）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保护模式中断机制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IDT 与中断描述符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 vs 保护模式中断处理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实模式中断（BIOS 时代）：</a:t>
            </a:r>
            <a:br/>
            <a:r>
              <a:t>- 中断向量表（IVT）：位于内存 0x00000~0x003FF（1KB，256个中断向量）</a:t>
            </a:r>
            <a:br/>
            <a:r>
              <a:t>- 每个中断向量 4 字节：段地址（2B）+ 偏移地址（2B）</a:t>
            </a:r>
            <a:br/>
            <a:r>
              <a:t>- 中断号 N 的处理程序地址 = 内存[N*4]</a:t>
            </a:r>
            <a:br/>
            <a:r>
              <a:t>- 调用方式：int 0x10（BIOS 显示服务），int 0x13（BIOS 磁盘服务）</a:t>
            </a:r>
            <a:br/>
            <a:r>
              <a:t>- 缺点：无保护机制（用户程序可以随意修改 IVT，破坏系统）</a:t>
            </a:r>
            <a:br/>
            <a:br/>
            <a:r>
              <a:t>保护模式中断（现代操作系统）：</a:t>
            </a:r>
            <a:br/>
            <a:r>
              <a:t>- 中断描述符表（IDT）：由操作系统内核定义（地址和长度存储在 IDTR 寄存器）</a:t>
            </a:r>
            <a:br/>
            <a:r>
              <a:t>- 每个中断描述符 8 字节：中断处理程序地址（32 位）+ 特权级（DPL）+ 属性</a:t>
            </a:r>
            <a:br/>
            <a:r>
              <a:t>- IDT 由内核管理，用户程序无法直接访问（特权级保护）</a:t>
            </a:r>
            <a:br/>
            <a:r>
              <a:t>- 中断发生时，CPU 自动查表 IDT，切换到内核态（Ring 0），调用处理程序</a:t>
            </a:r>
            <a:br/>
            <a:br/>
            <a:r>
              <a:t>保护模式中断的优势：</a:t>
            </a:r>
            <a:br/>
            <a:r>
              <a:t>1) 特权级检查：用户程序（Ring 3）不能直接调用内核中断（DPL=0）</a:t>
            </a:r>
            <a:br/>
            <a:r>
              <a:t>2) 自动栈切换：中断发生时，CPU 自动切换到内核栈（TSS 指定）</a:t>
            </a:r>
            <a:br/>
            <a:r>
              <a:t>3) 支持中断门、陷阱门、任务门（不同的中断处理方式）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中断号 0-31：CPU 保留（除零错、缺页、GP 等异常）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中断号 32-255：可编程中断（时钟、键盘、硬盘等硬件中断）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IDTR 寄存器（48 位）：低 16 位 = IDT 长度，高 32 位 = IDT 基址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中断描述符结构（8 字节）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中断描述符（Interrupt Descriptor）包含中断处理程序的地址和属性：</a:t>
            </a:r>
            <a:br/>
            <a:br/>
            <a:r>
              <a:t>字段说明：</a:t>
            </a:r>
            <a:br/>
            <a:r>
              <a:t>1) 偏移地址（Offset，32 位）：中断处理函数的地址（拆成低 16 位和高 16 位存储）</a:t>
            </a:r>
            <a:br/>
            <a:r>
              <a:t>2) 段选择子（Selector，16 位）：中断处理函数所在的代码段（通常是内核代码段 0x08）</a:t>
            </a:r>
            <a:br/>
            <a:r>
              <a:t>3) P 位（Present，1 位）：P=1 表示描述符有效，P=0 表示无效（触发 #GP 异常）</a:t>
            </a:r>
            <a:br/>
            <a:r>
              <a:t>4) DPL（Descriptor Privilege Level，2 位）：允许调用该中断的最低特权级</a:t>
            </a:r>
            <a:br/>
            <a:r>
              <a:t>   - DPL=0：只有内核（Ring 0）可以调用（用于异常处理）</a:t>
            </a:r>
            <a:br/>
            <a:r>
              <a:t>   - DPL=3：用户程序（Ring 3）也可以调用（如 int 0x80 系统调用）</a:t>
            </a:r>
            <a:br/>
            <a:r>
              <a:t>5) D 位：D=0（16 位中断门），D=1（32 位中断门）</a:t>
            </a:r>
            <a:br/>
            <a:r>
              <a:t>6) Type（4 位）：中断门类型</a:t>
            </a:r>
            <a:br/>
            <a:r>
              <a:t>   - 0xE：中断门（自动关中断 IF=0，防止嵌套中断）</a:t>
            </a:r>
            <a:br/>
            <a:r>
              <a:t>   - 0xF：陷阱门（不关中断，允许嵌套）</a:t>
            </a:r>
            <a:br/>
            <a:br/>
            <a:r>
              <a:t>典型中断门设置：Offset=中断函数地址, Selector=0x08（内核代码段）, DPL=0, Type=0xE（32位中断门）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中断门 vs 陷阱门：中断门自动 cli（关中断），陷阱门不关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系统调用（int 0x80）通常使用 DPL=3 的陷阱门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异常处理（除零、缺页）使用 DPL=0 的中断门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加载 IDT 的步骤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第1步：定义 IDT 数组（256 个中断描述符，每个 8 字节）</a:t>
            </a:r>
            <a:br/>
            <a:r>
              <a:t>  uint64 idt[256]; // 占用 2KB 内存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第2步：填充中断描述符</a:t>
            </a:r>
            <a:br/>
            <a:r>
              <a:t>  - 设置中断处理函数地址（Offset）</a:t>
            </a:r>
            <a:br/>
            <a:r>
              <a:t>  - 设置代码段选择子（Selector = 0x08）</a:t>
            </a:r>
            <a:br/>
            <a:r>
              <a:t>  - 设置属性（P=1, DPL=0, Type=0xE）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第3步：定义 IDT 指针（6 字节）</a:t>
            </a:r>
            <a:br/>
            <a:r>
              <a:t>  struct { uint16 limit; uint32 base; } __attribute__((packed)) idtr;</a:t>
            </a:r>
            <a:br/>
            <a:r>
              <a:t>  idtr.limit = sizeof(idt) - 1; // IDT 长度-1</a:t>
            </a:r>
            <a:br/>
            <a:r>
              <a:t>  idtr.base = (uint32)idt;      // IDT 基址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第4步：加载 IDTR 寄存器</a:t>
            </a:r>
            <a:br/>
            <a:r>
              <a:t>  asm volatile("lidt %0" :: "m"(idtr));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第5步：开启中断（sti）</a:t>
            </a:r>
            <a:br/>
            <a:r>
              <a:t>  asm volatile("sti");  // 设置 EFLAGS.IF =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8259A 中断控制器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可编程中断控制器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8259A PIC：管理硬件中断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8259A（Programmable Interrupt Controller）是 x86 系统的中断控制器，管理硬件中断（键盘、硬盘、时钟等）。</a:t>
            </a:r>
            <a:br/>
            <a:br/>
            <a:r>
              <a:t>为什么需要 8259A？</a:t>
            </a:r>
            <a:br/>
            <a:r>
              <a:t>1) CPU 只有一个 INTR 引脚（外部中断请求），无法同时处理多个硬件中断</a:t>
            </a:r>
            <a:br/>
            <a:r>
              <a:t>2) 8259A 将多个硬件中断源（IRQ0~IRQ7）合并为一个 INTR 信号给 CPU</a:t>
            </a:r>
            <a:br/>
            <a:r>
              <a:t>3) 支持中断优先级：IRQ0 优先级最高，IRQ7 最低（可编程调整）</a:t>
            </a:r>
            <a:br/>
            <a:br/>
            <a:r>
              <a:t>x86 系统使用两片 8259A 级联：</a:t>
            </a:r>
            <a:br/>
            <a:r>
              <a:t>- 主片（Master）：管理 IRQ0~IRQ7（时钟、键盘、串口、并口）</a:t>
            </a:r>
            <a:br/>
            <a:r>
              <a:t>- 从片（Slave）：管理 IRQ8~IRQ15（实时钟、网卡、硬盘），连接到主片 IRQ2</a:t>
            </a:r>
            <a:br/>
            <a:r>
              <a:t>- 共支持 15 个硬件中断（IRQ2 被从片占用）</a:t>
            </a:r>
            <a:br/>
            <a:br/>
            <a:r>
              <a:t>中断号映射（默认）：</a:t>
            </a:r>
            <a:br/>
            <a:r>
              <a:t>- IRQ0~IRQ7 → CPU 中断号 0x08~0x0F（与 CPU 异常冲突！）</a:t>
            </a:r>
            <a:br/>
            <a:r>
              <a:t>- IRQ8~IRQ15 → CPU 中断号 0x70~0x77</a:t>
            </a:r>
            <a:br/>
            <a:r>
              <a:t>保护模式下需要重新映射（例如 IRQ0~IRQ15 → 0x20~0x2F），避免与异常（0x00~0x1F）冲突。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IRQ0 = 时钟中断（18.2Hz，每 55ms 一次）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IRQ1 = 键盘中断（按键触发）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8259A 的 I/O 端口：主片 0x20/0x21，从片 0xA0/0xA1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8259A 初始化（ICW1~ICW4）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ICW1（初始化命令字 1）：写入主片 0x20，从片 0xA0</a:t>
            </a:r>
            <a:br/>
            <a:r>
              <a:t>  - 0x11 = 边沿触发 + 级联模式 + 需要 ICW4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ICW2（中断向量偏移）：写入主片 0x21，从片 0xA1</a:t>
            </a:r>
            <a:br/>
            <a:r>
              <a:t>  - 主片：0x20（IRQ0 映射到 CPU 中断号 0x20）</a:t>
            </a:r>
            <a:br/>
            <a:r>
              <a:t>  - 从片：0x28（IRQ8 映射到 CPU 中断号 0x28）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ICW3（级联配置）：写入主片 0x21，从片 0xA1</a:t>
            </a:r>
            <a:br/>
            <a:r>
              <a:t>  - 主片：0x04（二进制 0000_0100，表示 IRQ2 连接从片）</a:t>
            </a:r>
            <a:br/>
            <a:r>
              <a:t>  - 从片：0x02（表示从片连接到主片 IRQ2）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ICW4（工作模式）：写入主片 0x21，从片 0xA1</a:t>
            </a:r>
            <a:br/>
            <a:r>
              <a:t>  - 0x01 = 8086 模式（非 8080 模式）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OCW1（中断屏蔽）：写入主片 0x21，从片 0xA1</a:t>
            </a:r>
            <a:br/>
            <a:r>
              <a:t>  - 0x00 = 允许所有中断（每个 bit 对应一个 IRQ，1=屏蔽，0=允许）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8259A 初始化代码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初始化主片 8259A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asm_out_port(0x20, 0x11); // ICW1：边沿触发 + 级联 + 需要ICW4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asm_out_port(0x21, 0x20); // ICW2：IRQ0~IRQ7 映射到 0x20~0x27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asm_out_port(0x21, 0x04); // ICW3：IRQ2 连接从片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asm_out_port(0x21, 0x01); // ICW4：8086 模式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初始化从片 8259A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asm_out_port(0xA0, 0x11); // ICW1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asm_out_port(0xA1, 0x28); // ICW2：IRQ8~IRQ15 映射到 0x28~0x2F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asm_out_port(0xA1, 0x02); // ICW3：从片连接到主片 IRQ2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asm_out_port(0xA1, 0x01); // ICW4：8086 模式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允许所有中断（OCW1 = 0x00）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asm_out_port(0x21, 0x00); // 主片中断屏蔽字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asm_out_port(0xA1, 0x00); // 从片中断屏蔽字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时钟中断与 8253 定时器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周期性中断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8253/8254 可编程定时器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8253/8254 是 x86 系统的可编程定时器，用于产生周期性的时钟中断（IRQ0）。</a:t>
            </a:r>
            <a:br/>
            <a:br/>
            <a:r>
              <a:t>8253 有 3 个通道（Channel）：</a:t>
            </a:r>
            <a:br/>
            <a:r>
              <a:t>- Channel 0（端口 0x40）：系统时钟，连接到 8259A 的 IRQ0，产生时钟中断</a:t>
            </a:r>
            <a:br/>
            <a:r>
              <a:t>- Channel 1（端口 0x41）：DRAM 刷新（现代系统已不使用）</a:t>
            </a:r>
            <a:br/>
            <a:r>
              <a:t>- Channel 2（端口 0x42）：PC 扬声器（蜂鸣器）</a:t>
            </a:r>
            <a:br/>
            <a:br/>
            <a:r>
              <a:t>输入时钟频率：1193180 Hz（约 1.19 MHz）</a:t>
            </a:r>
            <a:br/>
            <a:r>
              <a:t>中断频率公式：f = 1193180 / N（N = 计数初值，16 位，范围 1~65535）</a:t>
            </a:r>
            <a:br/>
            <a:r>
              <a:t>例如：N=11932 → f=100 Hz（每秒 100 次中断，每次 10ms）</a:t>
            </a:r>
            <a:br/>
            <a:br/>
            <a:r>
              <a:t>控制字格式（写入端口 0x43）：</a:t>
            </a:r>
            <a:br/>
            <a:r>
              <a:t>- Bit 7-6：选择通道（00=Channel 0, 01=Channel 1, 10=Channel 2）</a:t>
            </a:r>
            <a:br/>
            <a:r>
              <a:t>- Bit 5-4：读写模式（11=先写低字节，再写高字节）</a:t>
            </a:r>
            <a:br/>
            <a:r>
              <a:t>- Bit 3-1：工作模式（011=方波模式，用于时钟）</a:t>
            </a:r>
            <a:br/>
            <a:r>
              <a:t>- Bit 0：计数模式（0=二进制计数，1=BCD 计数）</a:t>
            </a:r>
            <a:br/>
            <a:br/>
            <a:r>
              <a:t>典型控制字：0x36 = 0011_0110b（Channel 0, 先低后高, 方波, 二进制）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默认时钟频率：18.2 Hz（约每 55ms 一次中断）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修改频率：写入新的计数初值到 0x40 端口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方波模式（Mode 3）：50% 占空比，适合时钟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修改时钟中断频率（示例）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设置时钟频率为 100 Hz（每 10ms 一次中断）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void set_timer_frequency(uint32 frequency)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uint32 divisor = 1193180 / frequency;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写入控制字（0x36 = Channel 0, 方波模式）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asm_out_port(0x43, 0x36);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写入计数初值（先低字节，后高字节）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asm_out_port(0x40, (uint8)(divisor &amp; 0xFF));       // 低8位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asm_out_port(0x40, (uint8)((divisor &gt;&gt; 8) &amp; 0xFF)); // 高8位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时钟中断处理函数（IRQ0 → 中断号 0x20）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void timer_interrupt_handler()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在这里实现时钟中断处理逻辑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例如：更新系统时间、调度线程等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发送 EOI（End of Interrupt）给 8259A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asm_out_port(0x20, 0x20); // 主片 EOI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2026.04.22 23:59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支持平台：Ubuntu AMD64、银河麒麟 ARM64（交叉编译）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编译工具对照：</a:t>
            </a:r>
            <a:br/>
            <a:r>
              <a:t>  Ubuntu: gcc/g++ -m32, ld -melf_i386, objcopy</a:t>
            </a:r>
            <a:br/>
            <a:r>
              <a:t>  麒麟OS: i686-elf-gcc/g++, i686-elf-ld, i686-elf-objcopy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调试工具：Ubuntu用gdb，麒麟OS用gdb-multiarch或QEMU Monitor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所有Makefile已实现自动检测——直接使用 make &amp;&amp; make run 即可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实验不限：语言（C/C++/Rust）、平台、CPU架构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提交内容：5个Assignment代码 + 实验报告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压缩包命名：lab4-姓名-学号.zip，报告注明实验环境（操作系统版本、CPU架构）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混合编程的基本思路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复现与分析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复现Example 1，结合具体代码说明C代码调用汇编函数和汇编代码调用C函数的语法。</a:t>
            </a:r>
            <a:br/>
            <a:r>
              <a:t>说明global、extern关键字的作用，以及C++函数前为什么需要加extern "C"。</a:t>
            </a:r>
            <a:br/>
            <a:r>
              <a:t>学习make的使用，用make来构建Example 1。截图并说明。</a:t>
            </a:r>
            <a:br/>
            <a:r>
              <a:t>麒麟OS提示：ARM64交叉编译器不提供标准库，可用i686-elf-objdump -d查看汇编代码验证调用关系。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带参数的混合编程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实现一个带参数和返回值的混合编程例子：</a:t>
            </a:r>
            <a:br/>
            <a:r>
              <a:t>1) 编写汇编函数 int asm_add(int a, int b)，返回 a+b</a:t>
            </a:r>
            <a:br/>
            <a:r>
              <a:t>2) 在C/C++中调用该函数并验证结果</a:t>
            </a:r>
            <a:br/>
            <a:r>
              <a:t>3) 编写C函数 int c_multiply(int a, int b)，返回 a×b</a:t>
            </a:r>
            <a:br/>
            <a:r>
              <a:t>4) 在汇编中调用该C函数（参数从右向左压栈，call调用，返回值在eax）</a:t>
            </a:r>
            <a:br/>
            <a:r>
              <a:t>提示：汇编函数通过[ebp+8]、[ebp+12]获取参数。截图并说明实现思路。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使用C/C++来编写内核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复现与修改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复现Example 2，在进入setup_kernel函数后，将输出'Hello World'改为输出你的学号。截图并说明。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实现 print_string 函数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 void print_string(const char *str, uint8 color) 函数：</a:t>
            </a:r>
            <a:br/>
            <a:r>
              <a:t>1) 直接操作VGA显存（起始地址0xb8000），支持指定颜色属性</a:t>
            </a:r>
            <a:br/>
            <a:r>
              <a:t>2) 用该函数在不同行输出至少3行不同颜色的文本（白色学号、绿色姓名拼音、红色日期）</a:t>
            </a:r>
            <a:br/>
            <a:r>
              <a:t>3) 简单说明VGA文本模式下字符和颜色属性在显存中的存储格式</a:t>
            </a:r>
            <a:br/>
            <a:r>
              <a:t>   每字符2字节：低字节ASCII码，高字节颜色属性（低4位前景色，高4位背景色）</a:t>
            </a:r>
            <a:br/>
            <a:r>
              <a:t>   例如0x0A=黑底绿字，0x0C=黑底红字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中断的处理（段错误/页面错误）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实现页面错误中断处理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在src/8基础上，仿照Example 3编写段错误的中断处理函数。</a:t>
            </a:r>
            <a:br/>
            <a:r>
              <a:t>setup.cpp中已实现段错误触发语句，只需正确实现中断处理并在IDT中注册即可。</a:t>
            </a:r>
            <a:br/>
            <a:r>
              <a:t>说明：src/8引入了lab7中的页面管理代码（memory.cpp等），可暂时忽略。截图并说明。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读取CR2寄存器获取缺页地址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完善页面错误处理函数，读取CR2寄存器获取并打印引发页面错误的虚拟地址。</a:t>
            </a:r>
            <a:br/>
            <a:r>
              <a:t>编写汇编函数 asm_read_cr2: mov eax, cr2; ret</a:t>
            </a:r>
            <a:br/>
            <a:r>
              <a:t>在C/C++中断处理函数中调用，验证地址是否与触发地址（如0x100000）一致。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3.3 思考题（写在报告中）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1) 使用尽可能多的方法触发段错误，并总结引发段错误都有哪几种方式</a:t>
            </a:r>
            <a:br/>
            <a:r>
              <a:t>2) 为何'数组越界'无法引起段错误中断？（提示：通过gdb打印对应地址的值思考）</a:t>
            </a:r>
            <a:br/>
            <a:r>
              <a:t>3) 总结哪些行为会真正引起段错误中断，哪些理论上会但在内核中不会</a:t>
            </a:r>
            <a:br/>
            <a:r>
              <a:t>提示：页管理对0-1MB映射到前256页，&gt;=0x100000的虚拟地址未登记，</a:t>
            </a:r>
            <a:br/>
            <a:r>
              <a:t>故*(int*)0x100000=1会触发页面错误（访问未映射的虚拟地址）。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时钟中断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4.1 字符回旋（使用C/C++）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复现Example 4，利用C/C++、InterruptManager、STDIO等来实现时钟中断处理。</a:t>
            </a:r>
            <a:br/>
            <a:r>
              <a:t>通过时钟中断，使用C/C++语言复刻lab2 assignment 4的字符回旋程序（不可使用纯汇编）。</a:t>
            </a:r>
            <a:br/>
            <a:r>
              <a:t>提示：有了时钟中断后自带'延时'效果，无需实现delay函数。</a:t>
            </a:r>
            <a:br/>
            <a:r>
              <a:t>注意：不应在一次中断中直接打印一圈字符，而应每次中断只更新一步。截图并说明。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4.2 自定义时钟频率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通过对8253/8254定时器编程，修改时钟中断频率（如100Hz或50Hz）。</a:t>
            </a:r>
            <a:br/>
            <a:r>
              <a:t>在屏幕上显示计数器变化，验证修改后的频率是否符合预期。说明编程方法和计算公式。</a:t>
            </a:r>
            <a:br/>
            <a:r>
              <a:t>8254输入时钟频率 = 1193180 Hz，中断频率 f = 1193180/N</a:t>
            </a:r>
            <a:br/>
            <a:r>
              <a:t>编程：向端口0x43写入控制字0x36，向端口0x40分别写入计数值的低8位和高8位。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5: 键盘中断（选做加分）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实现键盘中断处理程序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键盘使用IRQ1（8259A主片第1号中断），中断向量号为0x21。要求：</a:t>
            </a:r>
            <a:br/>
            <a:r>
              <a:t>1) 在键盘中断处理函数中，从端口0x60读取键盘扫描码（scan code）</a:t>
            </a:r>
            <a:br/>
            <a:r>
              <a:t>2) 将扫描码转换为ASCII字符（至少支持26个字母和0-9数字）并显示在VGA屏幕上</a:t>
            </a:r>
            <a:br/>
            <a:r>
              <a:t>3) 实现'打字机'效果：每按一个键，显示对应字符，光标向后移动</a:t>
            </a:r>
            <a:br/>
            <a:r>
              <a:t>提示：扫描码分为按下（make code）和释放（break code = make + 0x80），只需处理按下。</a:t>
            </a:r>
            <a:br/>
            <a:r>
              <a:t>常见扫描码：1=0x02, Q=0x10, A=0x1E, Enter=0x1C, Space=0x39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提交要求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将 5 个 Assignment 的代码和实验报告放到压缩包，命名为 lab4-姓名-学号。</a:t>
            </a:r>
            <a:br/>
            <a:r>
              <a:t>报告中注明实验环境（操作系统版本、CPU架构）。每个Assignment说明实现思路和结果截图。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C/C++ 编译流程（预处理→编译→汇编→链接）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C/汇编混合编程（函数调用约定、参数传递、extern "C"）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理解保护模式中断机制（IDT、中断描述符、特权级）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8259A PIC 初始化（ICW1~ICW4、中断号映射）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实现时钟中断处理（8253/8254 定时器编程）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完成 Assignment 1-5（混合编程、C 内核、中断处理、时钟、键盘）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