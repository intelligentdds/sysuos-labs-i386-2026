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BB88"/>
                </a:solidFill>
              </a:defRPr>
            </a:pPr>
            <a:r>
              <a:t>中山大学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操作系统实验课程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Lab 1：编译内核与构建操作系统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AA"/>
                </a:solidFill>
              </a:defRPr>
            </a:pPr>
            <a:r>
              <a:t>Linux 内核编译 · Busybox · QEMU 模拟 · 麒麟 OS 探索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授课教师：陈鹏飞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2025-2026 学年 春季学期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0292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000" b="1">
                <a:solidFill>
                  <a:srgbClr val="006633"/>
                </a:solidFill>
              </a:defRPr>
            </a:pPr>
            <a:r>
              <a:t>Lab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实验概述与目标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为什么要学习内核编译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操作系统实验的重要性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在本实验中，同学们将熟悉现代 Linux 内核的编译过程和启动过程，并在自行编译内核的基础上构建简单应用。这是理解操作系统内部机制的第一步。</a:t>
            </a:r>
            <a:br/>
            <a:br/>
            <a:r>
              <a:t>通过编译内核，我们不仅能掌握 OS 的构建流程，更能深入理解：</a:t>
            </a:r>
            <a:br/>
            <a:r>
              <a:t>1) 内核如何组织代码（模块化设计、子系统划分）</a:t>
            </a:r>
            <a:br/>
            <a:r>
              <a:t>2) 如何与硬件交互（驱动程序、中断处理、内存管理）</a:t>
            </a:r>
            <a:br/>
            <a:r>
              <a:t>3) 如何管理系统资源（进程调度、内存分配、文件系统）</a:t>
            </a:r>
            <a:br/>
            <a:br/>
            <a:r>
              <a:t>此外，本实验支持 Ubuntu AMD64 和银河麒麟 ARM64 两种平台，让同学们体验跨架构操作系统开发的挑战与乐趣。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跨平台支持：x86_64 (AMD64) 和 ARM64 (AArch64)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真实环境：QEMU 虚拟化技术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国产OS：银河麒麟操作系统实践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实验环境配置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多平台工具链搭建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开发环境准备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操作系统：Ubuntu 22.04 AMD64 / 银河麒麟 V10 ARM64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编译工具：gcc、g++、make、nasm（汇编器）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内核构建：cmake、ncurses-dev、bison、flex、openssl-dev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模拟器：QEMU (qemu-system-i386 / qemu-system-x86_64)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调试器：GDB / gdb-multiarch（ARM64交叉调试）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版本管理：Git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软件源配置的重要性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软件源（Repository）是 Linux 发行版下载软件包的服务器地址。默认源通常在国外，下载速度慢且不稳定。切换到国内镜像源（如清华源、中科大源）可显著提升下载速度。</a:t>
            </a:r>
            <a:br/>
            <a:br/>
            <a:r>
              <a:t>Ubuntu 使用 APT 包管理器，配置文件为 /etc/apt/sources.list。银河麒麟OS 使用 YUM/DNF 包管理器，配置文件在 /etc/yum.repos.d/。这反映了 Debian 系（.deb）和 Red Hat 系（.rpm）两大 Linux 包管理体系的差异。</a:t>
            </a:r>
            <a:br/>
            <a:br/>
            <a:r>
              <a:t>换源步骤：备份原配置 → 替换镜像源地址 → 更新软件包索引（apt update / yum makecache）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APT (Ubuntu) 基于 dpkg，使用 .deb 格式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YUM/DNF (麒麟OS) 基于 rpm，使用 .rpm 格式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换源后记得执行 update/makecache 刷新索引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环境安装命令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bash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# Ubuntu AMD64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sudo apt update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sudo apt install build-essential nasm qemu-system-x86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gdb git cmake libncurses5-dev bison flex libssl-dev bc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# 银河麒麟 ARM64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sudo yum makecache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sudo yum install gcc gcc-c++ nasm qemu-system-x86_64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gdb git cmake ncurses-devel bison flex openssl-devel bc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# 注意：麒麟OS上可能需要额外安装交叉编译工具链（如 i686-elf-gcc）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编译 Linux 内核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从源码到 bzImage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Linux 内核编译原理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Linux 内核采用 Kbuild 构建系统，支持高度模块化配置。编译过程分为三个主要步骤：</a:t>
            </a:r>
            <a:br/>
            <a:r>
              <a:t>1) 配置阶段：通过 make menuconfig 或 defconfig 生成 .config 文件，包含2000+配置选项</a:t>
            </a:r>
            <a:br/>
            <a:r>
              <a:t>2) 编译阶段：将源码（.c/.S）编译为目标文件（.o），支持并行编译（make -j）</a:t>
            </a:r>
            <a:br/>
            <a:r>
              <a:t>3) 链接阶段：将目标文件链接为内核镜像（vmlinux）并压缩为 bzImage</a:t>
            </a:r>
            <a:br/>
            <a:br/>
            <a:r>
              <a:t>对于 i386 目标架构，需使用 make i386_defconfig 生成默认配置。这会启用 32 位保护模式、基本驱动和文件系统支持。编译产物 bzImage（big zImage）是压缩的内核镜像，包含解压代码、实模式启动代码和保护模式内核。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Kconfig：内核配置语言（定义选项依赖关系）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.config：配置文件（2000+选项，控制内核功能和驱动）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bzImage：自解压内核镜像，大小约 5-10 MB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内核编译详细流程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步骤1：下载源码</a:t>
            </a:r>
            <a:br/>
            <a:r>
              <a:t>  wget https://cdn.kernel.org/pub/linux/kernel/v6.x/linux-6.x.tar.xz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步骤2：解压并进入目录</a:t>
            </a:r>
            <a:br/>
            <a:r>
              <a:t>  tar -xf linux-6.x.tar.xz &amp;&amp; cd linux-6.x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步骤3：配置 (i386)</a:t>
            </a:r>
            <a:br/>
            <a:r>
              <a:t>  make i386_defconfig   # 生成 .config（2000+ 配置项）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步骤4：编译内核</a:t>
            </a:r>
            <a:br/>
            <a:r>
              <a:t>  make -j$(nproc)   # 多核并行编译（10-30分钟，取决于CPU）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步骤5：产物位置</a:t>
            </a:r>
            <a:br/>
            <a:r>
              <a:t>  arch/x86/boot/bzImage  (压缩内核镜像，约 6 MB)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编译选项说明：</a:t>
            </a:r>
            <a:br/>
            <a:r>
              <a:t>  ARCH=i386 - 指定目标架构（交叉编译时必需）</a:t>
            </a:r>
            <a:br/>
            <a:r>
              <a:t>  CROSS_COMPILE=i686-linux-gnu- - 交叉编译工具链前缀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QEMU 启动与调试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虚拟化与远程调试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QEMU 工作原理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QEMU 是开源的处理器模拟器，支持两种模式：</a:t>
            </a:r>
            <a:br/>
            <a:r>
              <a:t>1) 用户模式（User Mode）：模拟单个进程，直接在宿主OS上运行目标程序</a:t>
            </a:r>
            <a:br/>
            <a:r>
              <a:t>2) 系统模式（System Mode）：模拟完整硬件系统，包括CPU、内存、磁盘、网卡等</a:t>
            </a:r>
            <a:br/>
            <a:br/>
            <a:r>
              <a:t>在 x86_64 宿主上，QEMU 可使用 KVM 硬件加速（接近原生性能）。在 ARM64 宿主上，QEMU 使用 TCG（Tiny Code Generator）软件翻译实现跨架构模拟（性能较低但兼容性好）。</a:t>
            </a:r>
            <a:br/>
            <a:br/>
            <a:r>
              <a:t>QEMU -s 选项启动 GDB Server 监听 :1234 端口，允许远程调试。这是操作系统开发的标准调试方法。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qemu-system-i386：模拟 32 位 x86 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qemu-system-x86_64：模拟 64 位 x86 系统（兼容 32 位代码）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-s -S：启动调试模式（-s 监听 :1234，-S 暂停等待GDB连接）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QEMU 启动与调试命令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bash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# 基本启动（直接运行内核）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qemu-system-i386 -kernel bzImage -initrd initramfs.cpio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# 调试模式（暂停等待 GDB 连接）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qemu-system-i386 -kernel bzImage -initrd initramfs.cpio -s -S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# GDB 连接（另一终端）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gdb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(gdb) target remote :1234      # 连接到 QEMU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(gdb) break start_kernel       # 在内核入口设置断点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(gdb) continue                 # 继续执行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(gdb) info registers           # 查看寄存器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(gdb) x/10i $eip               # 查看当前指令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Initramfs 制作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最简根文件系统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为什么需要 Initramfs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Linux 内核启动后需要挂载根文件系统（Root Filesystem）才能运行用户程序。但内核无法直接访问复杂的磁盘文件系统（如 ext4、xfs），因为需要相应的驱动程序。</a:t>
            </a:r>
            <a:br/>
            <a:br/>
            <a:r>
              <a:t>Initramfs（Initial RAM Filesystem）是打包在内存中的临时根文件系统，内核启动后自动解压到 /dev/ram0。它包含最基本的程序（init）和驱动模块，用于挂载真实根文件系统。</a:t>
            </a:r>
            <a:br/>
            <a:br/>
            <a:r>
              <a:t>在我们的实验中，Initramfs 只包含一个 init 程序（Hello World），足以验证内核启动流程。init 是用户空间的第一个进程（PID 1），所有其他进程都是它的子孙进程。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cpio：打包工具（newc 格式，Linux 标准）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init：PID 1 进程（用户空间第一个进程）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静态编译（-static）：无需动态链接库，避免依赖问题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Initramfs 构建流程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步骤1：编写 init.c</a:t>
            </a:r>
            <a:br/>
            <a:r>
              <a:t>  #include &lt;stdio.h&gt;</a:t>
            </a:r>
            <a:br/>
            <a:r>
              <a:t>  int main() { printf("Hello World\n"); while(1); return 0; }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步骤2：静态编译</a:t>
            </a:r>
            <a:br/>
            <a:r>
              <a:t>  gcc -static -o init init.c   # -static 避免依赖 libc.so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步骤3：cpio 打包</a:t>
            </a:r>
            <a:br/>
            <a:r>
              <a:t>  echo init | cpio -o -H newc &gt; initramfs.cpio   # newc 格式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步骤4：QEMU 加载</a:t>
            </a:r>
            <a:br/>
            <a:r>
              <a:t>  qemu-system-i386 -kernel bzImage -initrd initramfs.cpio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步骤5：内核运行 /init</a:t>
            </a:r>
            <a:br/>
            <a:r>
              <a:t>  屏幕输出 Hello World!（VGA 文本模式 0xB8000）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Busybox 与 Linux 0.11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完整用户空间与经典内核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Busybox：嵌入式 Linux 的瑞士军刀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Busybox 是一个单一可执行文件，包含 300+ 常用 Unix 工具（ls、cat、sh、mount、cp、vi...）。它通过符号链接（Symbolic Link）实现多命令：</a:t>
            </a:r>
            <a:br/>
            <a:r>
              <a:t>/bin/busybox（主程序）</a:t>
            </a:r>
            <a:br/>
            <a:r>
              <a:t>/bin/ls -&gt; busybox（符号链接）</a:t>
            </a:r>
            <a:br/>
            <a:r>
              <a:t>/bin/cat -&gt; busybox（符号链接）</a:t>
            </a:r>
            <a:br/>
            <a:br/>
            <a:r>
              <a:t>Busybox 根据 argv[0]（程序名）判断执行哪个工具。静态编译后体积仅 1-2 MB，是嵌入式 Linux、路由器、Docker 镜像的核心组件。</a:t>
            </a:r>
            <a:br/>
            <a:br/>
            <a:r>
              <a:t>编译流程：make defconfig → make menuconfig（启用静态编译）→ make install（生成 _install/ 目录）→ 打包为 initramfs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静态编译：无依赖 glibc，适合嵌入式环境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300+ 工具：涵盖 90% 日常 Unix 命令需求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Alpine Linux：基于 Busybox 的超轻量发行版（镜像仅 5MB）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使用 Busybox 构建简单 OS 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从编译 Busybox 到启动自制 OS 的完整流程（约5-10分钟）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50962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40963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下载并编译 Busybox（make defconfig &amp;&amp; make -j4）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329870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545586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514864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8488" y="2514864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创建根文件系统目录结构（bin/ sbin/ etc/ dev/ proc/ sys/）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2924494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140210"/>
            <a:ext cx="348185" cy="348185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109488"/>
            <a:ext cx="64008" cy="40963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3109488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安装 Busybox 到根文件系统（make install）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519118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734835"/>
            <a:ext cx="348185" cy="348185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704112"/>
            <a:ext cx="64008" cy="40963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704112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创建设备文件（mknod console、null 等）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4113742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329459"/>
            <a:ext cx="348185" cy="348185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298737"/>
            <a:ext cx="64008" cy="40963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4298737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编写启动脚本 /init（挂载伪文件系统、启动 shell）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4708367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924083"/>
            <a:ext cx="348185" cy="348185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893361"/>
            <a:ext cx="64008" cy="40963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4893361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打包为 Initramfs（find . | cpio -o -H newc | gzip）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5302991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518707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487985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5487985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QEMU 启动（qemu-system-i386 -kernel bzImage -initrd initramfs.cpio.gz）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897615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6113332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6082609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18488" y="6082609"/>
            <a:ext cx="9811512" cy="40963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进入 Busybox Shell（ash），执行基本命令（ls、ps、cat 等）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Linux 0.11 内核简介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Linux 0.11 由 Linus Torvalds 于 1991 年底发布，是 Linux 的早期版本（仅约 10,000 行 C 代码），但包含完整 OS 核心功能：</a:t>
            </a:r>
            <a:br/>
            <a:br/>
            <a:r>
              <a:t>• 进程管理：task_struct（进程控制块）、进程调度（时间片轮转）、fork/exec/exit 系统调用</a:t>
            </a:r>
            <a:br/>
            <a:r>
              <a:t>• 内存管理：分页机制（4MB 页）、分段机制（GDT/LDT）、虚拟内存</a:t>
            </a:r>
            <a:br/>
            <a:r>
              <a:t>• 文件系统：Minix FS（简化版 Unix 文件系统）、inode、超级块、目录</a:t>
            </a:r>
            <a:br/>
            <a:r>
              <a:t>• 设备驱动：硬盘（IDE）、终端（TTY）、键盘（8042 控制器）</a:t>
            </a:r>
            <a:br/>
            <a:br/>
            <a:r>
              <a:t>Linux 0.11 代码简洁易读，是学习 OS 原理的最佳教材。对比现代 Linux（数千万行代码），0.11 仍保留了 OS 的核心设计思想。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10,000 行代码即可实现完整操作系统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支持 20+ 系统调用（int 0x80 中断）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学习 OS 的经典教材（比 Minix 更简洁）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Linux 0.11 编译环境准备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x86_64 环境（Ubuntu）：</a:t>
            </a:r>
            <a:br/>
            <a:r>
              <a:t>  $ sudo apt install gcc-multilib</a:t>
            </a:r>
            <a:br/>
            <a:r>
              <a:t>  $ gcc -m32 hello.c -o hello  # 编译32位程序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ARM64 环境（麒麟 OS）：需要交叉编译工具链</a:t>
            </a:r>
            <a:br/>
            <a:r>
              <a:t>  $ sudo yum install gcc gcc-c++ make bison flex texinfo</a:t>
            </a:r>
            <a:br/>
            <a:r>
              <a:t>  $ wget https://mirrors.tuna.tsinghua.edu.cn/gnu/binutils/binutils-2.36.tar.xz</a:t>
            </a:r>
            <a:br/>
            <a:r>
              <a:t>  $ wget https://mirrors.tuna.tsinghua.edu.cn/gnu/gcc/gcc-10.2.0/gcc-10.2.0.tar.xz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交叉编译目标：</a:t>
            </a:r>
            <a:br/>
            <a:r>
              <a:t>  - binutils-2.36（汇编器、链接器）</a:t>
            </a:r>
            <a:br/>
            <a:r>
              <a:t>  - gcc-10.2.0（i686-elf-gcc 交叉编译器）</a:t>
            </a:r>
            <a:br/>
            <a:r>
              <a:t>  - 目标架构：i686-elf（32位x86裸机程序）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Linux 0.11 在麒麟 OS 上的编译流程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在 ARM64 架构上通过交叉编译工具链构建 i386 内核（约30-60分钟）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44620"/>
            <a:ext cx="276312" cy="276312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325073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325073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安装构建依赖（gcc、make、bison、flex、texinfo、gmp/mpfr/mpc）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245313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416501"/>
            <a:ext cx="276312" cy="2763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392120"/>
            <a:ext cx="64008" cy="325073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8488" y="2392120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下载并编译 binutils-2.36（--target=i686-elf，生成汇编器和链接器）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2717194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888381"/>
            <a:ext cx="276312" cy="2763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864001"/>
            <a:ext cx="64008" cy="325073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864001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下载并编译 gcc-10.2.0（--target=i686-elf，生成交叉编译器）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189074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360262"/>
            <a:ext cx="276312" cy="276312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335882"/>
            <a:ext cx="64008" cy="325073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335882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配置环境变量（export PATH=~/cross-tools/bin:$PATH）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3660955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832143"/>
            <a:ext cx="276312" cy="276312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807762"/>
            <a:ext cx="64008" cy="325073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3807762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下载 Linux 0.11 源码（从 oldlinux.org 或教程提供的地址）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4132836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304024"/>
            <a:ext cx="276312" cy="27631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279643"/>
            <a:ext cx="64008" cy="325073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4279643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修改 Makefile（将 gcc/ld 替换为 i686-elf-gcc/i686-elf-ld）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4604717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4775904"/>
            <a:ext cx="276312" cy="276312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4751524"/>
            <a:ext cx="64008" cy="325073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4751524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编译 Linux 0.11（make all，生成 Image 内核镜像）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076597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247785"/>
            <a:ext cx="276312" cy="2763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5223405"/>
            <a:ext cx="64008" cy="325073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18488" y="5223405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制作启动盘（dd 命令将 bootimage 写入 hdc-0.11.img）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355080" y="5548478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" y="5719666"/>
            <a:ext cx="276312" cy="2763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5695285"/>
            <a:ext cx="64008" cy="325073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18488" y="5695285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使用 QEMU 启动（qemu-system-i386 -hda hdc-0.11.img -hdb hdc-0.11.img）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6355080" y="6020359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14400" y="6191547"/>
            <a:ext cx="276312" cy="276312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54480" y="6167166"/>
            <a:ext cx="64008" cy="325073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18488" y="6167166"/>
            <a:ext cx="9811512" cy="325073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进入 Linux 0.11 系统（登录 root，无密码）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Linux 0.11 vs 现代 Linux 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尽管 Linux 0.11 只有 1 万行代码，但它包含了现代操作系统的核心机制：</a:t>
            </a:r>
            <a:br/>
            <a:br/>
            <a:r>
              <a:t>代码规模对比：</a:t>
            </a:r>
            <a:br/>
            <a:r>
              <a:t>• Linux 0.11（1991）：~10,000 行 C 代码 + ~3,000 行汇编</a:t>
            </a:r>
            <a:br/>
            <a:r>
              <a:t>• Linux 5.10（2020）：~30,000,000 行代码（增长3000倍）</a:t>
            </a:r>
            <a:br/>
            <a:br/>
            <a:r>
              <a:t>核心功能对比：</a:t>
            </a:r>
            <a:br/>
            <a:r>
              <a:t>| 功能 | Linux 0.11 | 现代 Linux 5.x |</a:t>
            </a:r>
            <a:br/>
            <a:r>
              <a:t>| 进程调度 | 简单时间片轮转 | CFS 调度器（O(log n)复杂度）|</a:t>
            </a:r>
            <a:br/>
            <a:r>
              <a:t>| 内存管理 | 固定4MB页 | 按需分页、透明大页、内存压缩 |</a:t>
            </a:r>
            <a:br/>
            <a:r>
              <a:t>| 文件系统 | 仅 Minix FS | ext4、Btrfs、XFS、NFS 等数十种 |</a:t>
            </a:r>
            <a:br/>
            <a:r>
              <a:t>| 驱动程序 | IDE、软盘、终端 | 10,000+ 驱动（USB、SATA、GPU、网卡）|</a:t>
            </a:r>
            <a:br/>
            <a:r>
              <a:t>| 网络协议 | 无 | TCP/IP 全栈、IPv6、Netfilter |</a:t>
            </a:r>
            <a:br/>
            <a:br/>
            <a:r>
              <a:t>学习价值：</a:t>
            </a:r>
            <a:br/>
            <a:r>
              <a:t>Linux 0.11 代码简洁，可以在 1-2 天内完整阅读。理解 0.11 的原理后，再学习现代 Linux 会事半功倍。许多高校操作系统课程使用 0.11 作为教学内核（如哈工大李治军老师的课程）。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Linux 0.11 可在 QEMU、Bochs 虚拟机中运行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支持 Minix 文件系统（可挂载到现代 Linux）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完整支持 fork/exec/wait/exit 等 POSIX 系统调用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Linux 0.11 调试与分析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使用 QEMU + GDB 调试 Linux 0.11：</a:t>
            </a:r>
            <a:br/>
            <a:r>
              <a:t>  $ qemu-system-i386 -s -S -hda linux-0.11/Image &amp;</a:t>
            </a:r>
            <a:br/>
            <a:r>
              <a:t>  $ gdb linux-0.11/tools/system  # system 是带符号的内核</a:t>
            </a:r>
            <a:br/>
            <a:r>
              <a:t>  (gdb) target remote :1234</a:t>
            </a:r>
            <a:br/>
            <a:r>
              <a:t>  (gdb) break main  # 在 main 函数设置断点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关键函数分析：</a:t>
            </a:r>
            <a:br/>
            <a:r>
              <a:t>  • start_kernel：内核启动入口（初始化内存、进程、中断）</a:t>
            </a:r>
            <a:br/>
            <a:r>
              <a:t>  • sys_fork：fork 系统调用实现（复制进程）</a:t>
            </a:r>
            <a:br/>
            <a:r>
              <a:t>  • schedule：进程调度函数（时间片轮转算法）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文件系统探索：</a:t>
            </a:r>
            <a:br/>
            <a:r>
              <a:t>  • 挂载 Minix 文件系统到现代 Linux</a:t>
            </a:r>
            <a:br/>
            <a:r>
              <a:t>  • sudo mount -t minix -o loop,offset=512 hdc-0.11.img /mnt</a:t>
            </a:r>
            <a:br/>
            <a:r>
              <a:t>  • 可在 /mnt 目录下创建文件，再在 0.11 中查看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认识银河麒麟操作系统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国产 OS 生态探索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银河麒麟 V10/V11 特点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银河麒麟是中国自主可控的操作系统，基于 Linux 内核深度定制，支持 x86、ARM、MIPS、龙芯等多种国产 CPU 架构。</a:t>
            </a:r>
            <a:br/>
            <a:br/>
            <a:r>
              <a:t>核心特性：</a:t>
            </a:r>
            <a:br/>
            <a:r>
              <a:t>• 安全增强：SELinux 强制访问控制、国密算法支持（SM2/SM3/SM4 取代 RSA/SHA/AES）</a:t>
            </a:r>
            <a:br/>
            <a:r>
              <a:t>• 国产硬件适配：飞腾 CPU（ARM64）、鲲鹏 CPU（ARM64）、龙芯 CPU（LoongArch）、海光 CPU（x86_64）</a:t>
            </a:r>
            <a:br/>
            <a:r>
              <a:t>• 软件生态：麒麟浏览器、WPS Office、QQ/微信 Linux 版、国产数据库（达梦、人大金仓）</a:t>
            </a:r>
            <a:br/>
            <a:r>
              <a:t>• 包管理器：yum/dnf（Red Hat 系），与 Ubuntu 的 apt 不同</a:t>
            </a:r>
            <a:br/>
            <a:r>
              <a:t>• 内核版本：基于 Linux 4.19/5.10 LTS（长期支持版本）</a:t>
            </a:r>
            <a:br/>
            <a:br/>
            <a:r>
              <a:t>本实验在麒麟 ARM64 版本上完成，体验跨架构开发的真实场景。</a:t>
            </a:r>
            <a:br/>
            <a:br/>
            <a:r>
              <a:t>技术路线对比：</a:t>
            </a:r>
            <a:br/>
            <a:r>
              <a:t>• 麒麟 OS：基于 CentOS/RHEL（Red Hat 系）→ RPM 包格式、yum/dnf 包管理器</a:t>
            </a:r>
            <a:br/>
            <a:r>
              <a:t>• 深度 OS：基于 Debian（Debian 系）→ DEB 包格式、apt 包管理器</a:t>
            </a:r>
            <a:br/>
            <a:r>
              <a:t>• 统信 UOS：基于 Debian（Debian 系）→ DEB 包格式、apt 包管理器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支持多架构：x86_64、ARM64（AArch64）、MIPS64、LoongArch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应用场景：政务、金融、能源、军工等关键领域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国产 CPU 适配：飞腾 FT-2000+、鲲鹏 920、龙芯 3A5000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麒麟 OS 核心机制探索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① /proc 虚拟文件系统（内核与用户空间的桥梁）</a:t>
            </a:r>
            <a:br/>
            <a:r>
              <a:t>  • /proc/cpuinfo：CPU 信息（ARM64 显示 'CPU implementer'、'CPU part'）</a:t>
            </a:r>
            <a:br/>
            <a:r>
              <a:t>  • /proc/meminfo：内存使用情况（MemTotal、MemAvailable、SwapTotal）</a:t>
            </a:r>
            <a:br/>
            <a:r>
              <a:t>  • /proc/[pid]/status：进程状态（Name、State、VmSize、Threads）</a:t>
            </a:r>
            <a:br/>
            <a:r>
              <a:t>  • /proc/version：内核版本和编译器信息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② 内核模块管理</a:t>
            </a:r>
            <a:br/>
            <a:r>
              <a:t>  • lsmod：列出已加载的内核模块（驱动程序、文件系统、网络协议）</a:t>
            </a:r>
            <a:br/>
            <a:r>
              <a:t>  • modinfo ext4：查看 ext4 文件系统模块信息</a:t>
            </a:r>
            <a:br/>
            <a:r>
              <a:t>  • insmod hello_module.ko：插入自定义内核模块</a:t>
            </a:r>
            <a:br/>
            <a:r>
              <a:t>  • rmmod hello_module：移除内核模块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③ 系统调用追踪（strace 工具）</a:t>
            </a:r>
            <a:br/>
            <a:r>
              <a:t>  • strace ls /tmp：追踪 ls 命令的系统调用</a:t>
            </a:r>
            <a:br/>
            <a:r>
              <a:t>  • 常见系统调用：openat（打开文件）、read/write（读写）、getdents64（读取目录）</a:t>
            </a:r>
            <a:br/>
            <a:r>
              <a:t>  • strace -c ls /tmp：统计系统调用的次数和耗时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x86_64 vs ARM64 架构对比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在麒麟 OS 实验中，你会接触到 x86_64 和 ARM64 两种架构。理解它们的差异是跨平台开发的基础。</a:t>
            </a:r>
            <a:br/>
            <a:br/>
            <a:r>
              <a:t>| 特性 | x86_64 (CISC) | ARM64 (RISC) |</a:t>
            </a:r>
            <a:br/>
            <a:r>
              <a:t>|------|---------------|-------------|</a:t>
            </a:r>
            <a:br/>
            <a:r>
              <a:t>| 设计理念 | 复杂指令集（CISC） | 精简指令集（RISC） |</a:t>
            </a:r>
            <a:br/>
            <a:r>
              <a:t>| 通用寄存器 | 16 个 64 位（RAX-R15） | 31 个 64 位（X0-X30） |</a:t>
            </a:r>
            <a:br/>
            <a:r>
              <a:t>| 指令长度 | 可变长度（1-15 字节） | 固定长度（4 字节） |</a:t>
            </a:r>
            <a:br/>
            <a:r>
              <a:t>| 内存寻址 | 复杂寻址模式（基址+索引+偏移） | 简单寻址模式（基址+偏移） |</a:t>
            </a:r>
            <a:br/>
            <a:r>
              <a:t>| 函数调用约定 | 前 6 个参数用寄存器（RDI, RSI, RDX, RCX, R8, R9） | 前 8 个参数用寄存器（X0-X7） |</a:t>
            </a:r>
            <a:br/>
            <a:r>
              <a:t>| 返回值 | RAX 寄存器 | X0 寄存器 |</a:t>
            </a:r>
            <a:br/>
            <a:r>
              <a:t>| 系统调用 | syscall 指令 | svc 指令 |</a:t>
            </a:r>
            <a:br/>
            <a:r>
              <a:t>| 功耗 | 较高（45-150W） | 较低（5-15W） |</a:t>
            </a:r>
            <a:br/>
            <a:r>
              <a:t>| 典型应用 | PC、服务器、数据中心 | 手机、嵌入式、ARM 服务器 |</a:t>
            </a:r>
            <a:br/>
            <a:r>
              <a:t>| Linux 内核镜像 | arch/x86/boot/bzImage | arch/arm64/boot/Image |</a:t>
            </a:r>
            <a:br/>
            <a:r>
              <a:t>| QEMU 命令 | qemu-system-x86_64 | qemu-system-aarch64 |</a:t>
            </a:r>
            <a:br/>
            <a:r>
              <a:t>| 串口设备 | ttyS0 | ttyAMA0 |</a:t>
            </a:r>
            <a:br/>
            <a:br/>
            <a:r>
              <a:t>GCC 交叉编译示例：</a:t>
            </a:r>
            <a:br/>
            <a:r>
              <a:t>• 在 x86_64 上编译 ARM64 程序：aarch64-linux-gnu-gcc hello.c -o hello</a:t>
            </a:r>
            <a:br/>
            <a:r>
              <a:t>• 在 ARM64 上编译 x86 程序：i686-elf-gcc hello.c -o hello（需要交叉编译工具链）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RISC 优势：指令简单、流水线效率高、功耗低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CISC 优势：指令功能强大、代码密度高、兼容性好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未来趋势：ARM 服务器（AWS Graviton、华为鲲鹏）占比逐年上升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麒麟 OS 内核模块编程流程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从编写代码到加载运行的完整内核模块开发流程（约5分钟）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50962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40963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创建模块源文件（hello_module.c，包含 module_init 和 module_exit）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329870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545586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514864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8488" y="2514864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编写 Makefile（obj-m += hello_module.o，指定内核源码路径）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2924494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140210"/>
            <a:ext cx="348185" cy="348185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109488"/>
            <a:ext cx="64008" cy="40963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3109488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编译模块（make，生成 hello_module.ko 文件）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519118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734835"/>
            <a:ext cx="348185" cy="348185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704112"/>
            <a:ext cx="64008" cy="40963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704112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加载模块到内核（sudo insmod hello_module.ko）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4113742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329459"/>
            <a:ext cx="348185" cy="348185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298737"/>
            <a:ext cx="64008" cy="40963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4298737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验证模块已加载（lsmod | grep hello_module）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4708367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924083"/>
            <a:ext cx="348185" cy="348185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893361"/>
            <a:ext cx="64008" cy="40963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4893361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查看内核日志（journalctl -k | tail 或 sudo dmesg | tail）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5302991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518707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487985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5487985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卸载模块（sudo rmmod hello_module）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897615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6113332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6082609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18488" y="6082609"/>
            <a:ext cx="9811512" cy="40963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确认卸载成功（再次查看内核日志，应显示 'Goodbye' 消息）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麒麟 OS 实验环境搭建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查看系统信息：</a:t>
            </a:r>
            <a:br/>
            <a:r>
              <a:t>  $ cat /etc/os-release  # 显示 'Kylin Linux Advanced Server V11'</a:t>
            </a:r>
            <a:br/>
            <a:r>
              <a:t>  $ uname -a  # 显示内核版本和 CPU 架构</a:t>
            </a:r>
            <a:br/>
            <a:r>
              <a:t>  $ lscpu  # 显示 CPU 详细信息（架构、核心数、缓存）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包管理器使用（与 Ubuntu 不同）：</a:t>
            </a:r>
            <a:br/>
            <a:r>
              <a:t>  Ubuntu (apt)          麒麟 OS (yum/dnf)</a:t>
            </a:r>
            <a:br/>
            <a:r>
              <a:t>  apt update            yum makecache</a:t>
            </a:r>
            <a:br/>
            <a:r>
              <a:t>  apt install gcc       yum install gcc</a:t>
            </a:r>
            <a:br/>
            <a:r>
              <a:t>  apt remove gcc        yum remove gcc</a:t>
            </a:r>
            <a:br/>
            <a:r>
              <a:t>  dpkg -l               rpm -qa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安装开发工具：</a:t>
            </a:r>
            <a:br/>
            <a:r>
              <a:t>  $ sudo yum groupinstall 'Development Tools'  # 安装 gcc、make 等</a:t>
            </a:r>
            <a:br/>
            <a:r>
              <a:t>  $ sudo yum install kernel-devel-$(uname -r)  # 安装内核头文件</a:t>
            </a:r>
            <a:br/>
            <a:r>
              <a:t>  $ sudo yum install gdb strace  # 安装调试工具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33"/>
                </a:solidFill>
              </a:defRPr>
            </a:pPr>
            <a:r>
              <a:t>本次实验总结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掌握 Linux 内核编译流程（.config → bzImage，约10-30分钟）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 Initramfs 和 Busybox 的作用（最小根文件系统）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学习 QEMU + GDB 远程调试技术（-s -S 参数启动，target remote :1234）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深入了解 Linux 0.11（1万行代码，学习 OS 的最佳教材）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掌握 Linux 0.11 在 ARM64 架构上的交叉编译流程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初步认识银河麒麟操作系统（国产 OS、多架构支持）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 x86_64 vs ARM64 架构差异（CISC vs RISC）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掌握内核模块编程（hello_module.ko，printk 输出到内核日志）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中山大学计算机学院 陈鹏飞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中山大学计算机学院 陈鹏飞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