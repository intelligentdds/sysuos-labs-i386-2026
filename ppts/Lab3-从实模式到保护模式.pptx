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6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9144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88BB88"/>
                </a:solidFill>
              </a:defRPr>
            </a:pPr>
            <a:r>
              <a:t>中山大学 计算机学院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46304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666666"/>
                </a:solidFill>
              </a:defRPr>
            </a:pPr>
            <a:r>
              <a:t>操作系统实验课程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37744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</a:defRPr>
            </a:pPr>
            <a:r>
              <a:t>Lab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84048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AAAAAA"/>
                </a:solidFill>
              </a:defRPr>
            </a:pPr>
            <a:r>
              <a:t>从实模式到保护模式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3035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CCCCCC"/>
                </a:solidFill>
              </a:defRPr>
            </a:pPr>
            <a:r>
              <a:t>授课教师：陈鹏飞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7607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66666"/>
                </a:solidFill>
              </a:defRPr>
            </a:pPr>
            <a:r>
              <a:t>2025-2026 学年 春季学期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0" y="5029200"/>
            <a:ext cx="2743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6000" b="1">
                <a:solidFill>
                  <a:srgbClr val="006633"/>
                </a:solidFill>
              </a:defRPr>
            </a:pPr>
            <a:r>
              <a:t>Lab Bootloader与GDT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66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AADDAA"/>
                </a:solidFill>
              </a:defRPr>
            </a:pPr>
            <a:r>
              <a:t>Part 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56032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</a:defRPr>
            </a:pPr>
            <a:r>
              <a:t>实验概述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0233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DDEEDD"/>
                </a:solidFill>
              </a:defRPr>
            </a:pPr>
            <a:r>
              <a:t>突破512字节限制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06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6492240"/>
            <a:ext cx="11277295" cy="27432"/>
          </a:xfrm>
          <a:prstGeom prst="rect">
            <a:avLst/>
          </a:prstGeom>
          <a:solidFill>
            <a:srgbClr val="006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510528"/>
            <a:ext cx="112772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66666"/>
                </a:solidFill>
              </a:defRPr>
            </a:pPr>
            <a:r>
              <a:t>中山大学计算机学院 操作系统实验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4D26"/>
                </a:solidFill>
              </a:defRPr>
            </a:pPr>
            <a:r>
              <a:t>本实验学习目标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051560"/>
            <a:ext cx="1828800" cy="36576"/>
          </a:xfrm>
          <a:prstGeom prst="rect">
            <a:avLst/>
          </a:prstGeom>
          <a:solidFill>
            <a:srgbClr val="006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Bef>
                <a:spcPts val="600"/>
              </a:spcBef>
              <a:spcAft>
                <a:spcPts val="400"/>
              </a:spcAft>
              <a:defRPr sz="2000">
                <a:solidFill>
                  <a:srgbClr val="333333"/>
                </a:solidFill>
              </a:defRPr>
            </a:pPr>
            <a:r>
              <a:t>学习如何从硬盘读取更多程序（突破 MBR 512B 限制）</a:t>
            </a:r>
          </a:p>
          <a:p>
            <a:pPr>
              <a:lnSpc>
                <a:spcPct val="120000"/>
              </a:lnSpc>
              <a:spcBef>
                <a:spcPts val="600"/>
              </a:spcBef>
              <a:spcAft>
                <a:spcPts val="400"/>
              </a:spcAft>
              <a:defRPr sz="2000">
                <a:solidFill>
                  <a:srgbClr val="333333"/>
                </a:solidFill>
              </a:defRPr>
            </a:pPr>
            <a:r>
              <a:t>理解 LBA（逻辑块寻址）方式读写硬盘的原理和实现</a:t>
            </a:r>
          </a:p>
          <a:p>
            <a:pPr>
              <a:lnSpc>
                <a:spcPct val="120000"/>
              </a:lnSpc>
              <a:spcBef>
                <a:spcPts val="600"/>
              </a:spcBef>
              <a:spcAft>
                <a:spcPts val="400"/>
              </a:spcAft>
              <a:defRPr sz="2000">
                <a:solidFill>
                  <a:srgbClr val="333333"/>
                </a:solidFill>
              </a:defRPr>
            </a:pPr>
            <a:r>
              <a:t>掌握 I/O 端口读写指令（in/out）与硬件交互</a:t>
            </a:r>
          </a:p>
          <a:p>
            <a:pPr>
              <a:lnSpc>
                <a:spcPct val="120000"/>
              </a:lnSpc>
              <a:spcBef>
                <a:spcPts val="600"/>
              </a:spcBef>
              <a:spcAft>
                <a:spcPts val="400"/>
              </a:spcAft>
              <a:defRPr sz="2000">
                <a:solidFill>
                  <a:srgbClr val="333333"/>
                </a:solidFill>
              </a:defRPr>
            </a:pPr>
            <a:r>
              <a:t>理解全局描述符表（GDT）的结构和作用</a:t>
            </a:r>
          </a:p>
          <a:p>
            <a:pPr>
              <a:lnSpc>
                <a:spcPct val="120000"/>
              </a:lnSpc>
              <a:spcBef>
                <a:spcPts val="600"/>
              </a:spcBef>
              <a:spcAft>
                <a:spcPts val="400"/>
              </a:spcAft>
              <a:defRPr sz="2000">
                <a:solidFill>
                  <a:srgbClr val="333333"/>
                </a:solidFill>
              </a:defRPr>
            </a:pPr>
            <a:r>
              <a:t>实现从实模式切换到保护模式的完整流程</a:t>
            </a:r>
          </a:p>
          <a:p>
            <a:pPr>
              <a:lnSpc>
                <a:spcPct val="120000"/>
              </a:lnSpc>
              <a:spcBef>
                <a:spcPts val="600"/>
              </a:spcBef>
              <a:spcAft>
                <a:spcPts val="400"/>
              </a:spcAft>
              <a:defRPr sz="2000">
                <a:solidFill>
                  <a:srgbClr val="333333"/>
                </a:solidFill>
              </a:defRPr>
            </a:pPr>
            <a:r>
              <a:t>在保护模式下运行32位程序（平坦内存模型）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66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AADDAA"/>
                </a:solidFill>
              </a:defRPr>
            </a:pPr>
            <a:r>
              <a:t>Part 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56032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</a:defRPr>
            </a:pPr>
            <a:r>
              <a:t>突破512字节限制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0233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DDEEDD"/>
                </a:solidFill>
              </a:defRPr>
            </a:pPr>
            <a:r>
              <a:t>三级引导链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06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6492240"/>
            <a:ext cx="11277295" cy="27432"/>
          </a:xfrm>
          <a:prstGeom prst="rect">
            <a:avLst/>
          </a:prstGeom>
          <a:solidFill>
            <a:srgbClr val="006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510528"/>
            <a:ext cx="112772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66666"/>
                </a:solidFill>
              </a:defRPr>
            </a:pPr>
            <a:r>
              <a:t>中山大学计算机学院 操作系统实验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4D26"/>
                </a:solidFill>
              </a:defRPr>
            </a:pPr>
            <a:r>
              <a:t>为什么需要 Bootloader？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051560"/>
            <a:ext cx="1828800" cy="36576"/>
          </a:xfrm>
          <a:prstGeom prst="rect">
            <a:avLst/>
          </a:prstGeom>
          <a:solidFill>
            <a:srgbClr val="006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280160"/>
            <a:ext cx="10515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Bef>
                <a:spcPts val="400"/>
              </a:spcBef>
              <a:spcAft>
                <a:spcPts val="600"/>
              </a:spcAft>
              <a:defRPr sz="1700">
                <a:solidFill>
                  <a:srgbClr val="333333"/>
                </a:solidFill>
              </a:defRPr>
            </a:pPr>
            <a:r>
              <a:t>MBR（主引导记录）仅 512 字节（446B 代码 + 64B 分区表 + 2B 魔数）。这 446 字节无法完成复杂任务：</a:t>
            </a:r>
            <a:br/>
            <a:br/>
            <a:r>
              <a:t>1) 无法实现复杂的启动菜单（GRUB 需要上万行代码）</a:t>
            </a:r>
            <a:br/>
            <a:r>
              <a:t>2) 无法加载大型内核（Linux bzImage 通常 5-10MB）</a:t>
            </a:r>
            <a:br/>
            <a:r>
              <a:t>3) 无法进行文件系统解析（FAT32/ext4 驱动代码很复杂）</a:t>
            </a:r>
            <a:br/>
            <a:br/>
            <a:r>
              <a:t>三级引导链的思路：</a:t>
            </a:r>
            <a:br/>
            <a:r>
              <a:t>BIOS → MBR (512B) → Bootloader (几KB到几十KB) → OS Kernel (几MB到几十MB)</a:t>
            </a:r>
            <a:br/>
            <a:br/>
            <a:r>
              <a:t>MBR 的唯一任务：从硬盘读取 Bootloader 到内存，然后跳转执行。Bootloader 再完成更复杂的工作（切换到保护模式、加载内核、解析文件系统）。</a:t>
            </a:r>
            <a:br/>
            <a:br/>
            <a:r>
              <a:t>本实验：编写一个简单的 Bootloader，实现从实模式切换到保护模式。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120640"/>
            <a:ext cx="10515600" cy="384048"/>
          </a:xfrm>
          <a:prstGeom prst="roundRect">
            <a:avLst/>
          </a:prstGeom>
          <a:solidFill>
            <a:srgbClr val="E8F5E9"/>
          </a:solidFill>
          <a:ln w="12700">
            <a:solidFill>
              <a:srgbClr val="1A7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400">
                <a:solidFill>
                  <a:srgbClr val="333333"/>
                </a:solidFill>
              </a:defRPr>
            </a:pPr>
            <a:r>
              <a:t>• MBR 446B ≈ 110条16位指令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5577840"/>
            <a:ext cx="10515600" cy="384048"/>
          </a:xfrm>
          <a:prstGeom prst="roundRect">
            <a:avLst/>
          </a:prstGeom>
          <a:solidFill>
            <a:srgbClr val="E8F5E9"/>
          </a:solidFill>
          <a:ln w="12700">
            <a:solidFill>
              <a:srgbClr val="1A7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400">
                <a:solidFill>
                  <a:srgbClr val="333333"/>
                </a:solidFill>
              </a:defRPr>
            </a:pPr>
            <a:r>
              <a:t>• Bootloader 可以是几KB（本实验）或几十KB（GRUB Stage2）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6035040"/>
            <a:ext cx="10515600" cy="384048"/>
          </a:xfrm>
          <a:prstGeom prst="roundRect">
            <a:avLst/>
          </a:prstGeom>
          <a:solidFill>
            <a:srgbClr val="E8F5E9"/>
          </a:solidFill>
          <a:ln w="12700">
            <a:solidFill>
              <a:srgbClr val="1A7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400">
                <a:solidFill>
                  <a:srgbClr val="333333"/>
                </a:solidFill>
              </a:defRPr>
            </a:pPr>
            <a:r>
              <a:t>• 内核可达几MB甚至几十MB（Linux 5.10 约 10MB）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66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AADDAA"/>
                </a:solidFill>
              </a:defRPr>
            </a:pPr>
            <a:r>
              <a:t>Part 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56032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</a:defRPr>
            </a:pPr>
            <a:r>
              <a:t>LBA 方式读写硬盘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0233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DDEEDD"/>
                </a:solidFill>
              </a:defRPr>
            </a:pPr>
            <a:r>
              <a:t>逻辑块寻址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06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6492240"/>
            <a:ext cx="11277295" cy="27432"/>
          </a:xfrm>
          <a:prstGeom prst="rect">
            <a:avLst/>
          </a:prstGeom>
          <a:solidFill>
            <a:srgbClr val="006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510528"/>
            <a:ext cx="112772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66666"/>
                </a:solidFill>
              </a:defRPr>
            </a:pPr>
            <a:r>
              <a:t>中山大学计算机学院 操作系统实验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4D26"/>
                </a:solidFill>
              </a:defRPr>
            </a:pPr>
            <a:r>
              <a:t>I/O 端口与硬件交互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051560"/>
            <a:ext cx="1828800" cy="36576"/>
          </a:xfrm>
          <a:prstGeom prst="rect">
            <a:avLst/>
          </a:prstGeom>
          <a:solidFill>
            <a:srgbClr val="006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280160"/>
            <a:ext cx="10515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Bef>
                <a:spcPts val="400"/>
              </a:spcBef>
              <a:spcAft>
                <a:spcPts val="600"/>
              </a:spcAft>
              <a:defRPr sz="1700">
                <a:solidFill>
                  <a:srgbClr val="333333"/>
                </a:solidFill>
              </a:defRPr>
            </a:pPr>
            <a:r>
              <a:t>外围设备（硬盘、键盘、显卡）通过 I/O 端口与 CPU 通信。每个设备被分配一组端口地址（类似内存地址，但独立编址）。</a:t>
            </a:r>
            <a:br/>
            <a:br/>
            <a:r>
              <a:t>主硬盘端口：0x1F0 ~ 0x1F7（8个端口）</a:t>
            </a:r>
            <a:br/>
            <a:r>
              <a:t>从硬盘端口：0x170 ~ 0x177（本实验不用）</a:t>
            </a:r>
            <a:br/>
            <a:br/>
            <a:r>
              <a:t>读写端口使用专用指令：</a:t>
            </a:r>
            <a:br/>
            <a:r>
              <a:t>- in al/ax, 端口号 或 in al/ax, dx （从端口读取数据）</a:t>
            </a:r>
            <a:br/>
            <a:r>
              <a:t>- out 端口号, al/ax 或 out dx, al/ax （向端口写入数据）</a:t>
            </a:r>
            <a:br/>
            <a:br/>
            <a:r>
              <a:t>限制：</a:t>
            </a:r>
            <a:br/>
            <a:r>
              <a:t>1) 端口号是立即数时，只能是 8 位（0-255）。若超过 255，必须使用 dx 寄存器</a:t>
            </a:r>
            <a:br/>
            <a:r>
              <a:t>2) 数据只能使用 al（8位）或 ax（16位），不能使用其他寄存器</a:t>
            </a:r>
            <a:br/>
            <a:br/>
            <a:r>
              <a:t>示例：in al, 0x1F7 从 0x1F7 端口读取硬盘状态，out dx, ax 向 dx 指定的端口写入 ax 的值。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120640"/>
            <a:ext cx="10515600" cy="384048"/>
          </a:xfrm>
          <a:prstGeom prst="roundRect">
            <a:avLst/>
          </a:prstGeom>
          <a:solidFill>
            <a:srgbClr val="E8F5E9"/>
          </a:solidFill>
          <a:ln w="12700">
            <a:solidFill>
              <a:srgbClr val="1A7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400">
                <a:solidFill>
                  <a:srgbClr val="333333"/>
                </a:solidFill>
              </a:defRPr>
            </a:pPr>
            <a:r>
              <a:t>• 端口独立编址：与内存地址空间无关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5577840"/>
            <a:ext cx="10515600" cy="384048"/>
          </a:xfrm>
          <a:prstGeom prst="roundRect">
            <a:avLst/>
          </a:prstGeom>
          <a:solidFill>
            <a:srgbClr val="E8F5E9"/>
          </a:solidFill>
          <a:ln w="12700">
            <a:solidFill>
              <a:srgbClr val="1A7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400">
                <a:solidFill>
                  <a:srgbClr val="333333"/>
                </a:solidFill>
              </a:defRPr>
            </a:pPr>
            <a:r>
              <a:t>• 硬盘数据端口 0x1F0 是 16 位（用 ax 读写）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6035040"/>
            <a:ext cx="10515600" cy="384048"/>
          </a:xfrm>
          <a:prstGeom prst="roundRect">
            <a:avLst/>
          </a:prstGeom>
          <a:solidFill>
            <a:srgbClr val="E8F5E9"/>
          </a:solidFill>
          <a:ln w="12700">
            <a:solidFill>
              <a:srgbClr val="1A7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400">
                <a:solidFill>
                  <a:srgbClr val="333333"/>
                </a:solidFill>
              </a:defRPr>
            </a:pPr>
            <a:r>
              <a:t>• 硬盘状态/命令端口 0x1F7（8位，用 al）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06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6492240"/>
            <a:ext cx="11277295" cy="27432"/>
          </a:xfrm>
          <a:prstGeom prst="rect">
            <a:avLst/>
          </a:prstGeom>
          <a:solidFill>
            <a:srgbClr val="006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510528"/>
            <a:ext cx="112772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66666"/>
                </a:solidFill>
              </a:defRPr>
            </a:pPr>
            <a:r>
              <a:t>中山大学计算机学院 操作系统实验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4D26"/>
                </a:solidFill>
              </a:defRPr>
            </a:pPr>
            <a:r>
              <a:t>LBA28 逻辑块寻址原理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051560"/>
            <a:ext cx="1828800" cy="36576"/>
          </a:xfrm>
          <a:prstGeom prst="rect">
            <a:avLst/>
          </a:prstGeom>
          <a:solidFill>
            <a:srgbClr val="006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280160"/>
            <a:ext cx="10515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Bef>
                <a:spcPts val="400"/>
              </a:spcBef>
              <a:spcAft>
                <a:spcPts val="600"/>
              </a:spcAft>
              <a:defRPr sz="1700">
                <a:solidFill>
                  <a:srgbClr val="333333"/>
                </a:solidFill>
              </a:defRPr>
            </a:pPr>
            <a:r>
              <a:t>LBA（Logical Block Addressing）将硬盘视为一个扇区数组（每个扇区 512B），用扇区号访问，无需关心磁头、柱面、磁道（CHS）。</a:t>
            </a:r>
            <a:br/>
            <a:br/>
            <a:r>
              <a:t>LBA28：用 28 位表示扇区号，最大支持 2^28 * 512B = 128GB 硬盘</a:t>
            </a:r>
            <a:br/>
            <a:r>
              <a:t>LBA48：用 48 位表示扇区号，支持更大硬盘（本实验不涉及）</a:t>
            </a:r>
            <a:br/>
            <a:br/>
            <a:r>
              <a:t>扇区号分配到 4 个端口（28位拆成 4 段）：</a:t>
            </a:r>
            <a:br/>
            <a:r>
              <a:t>- 0x1F3：LBA[7:0]（扇区号低 8 位）</a:t>
            </a:r>
            <a:br/>
            <a:r>
              <a:t>- 0x1F4：LBA[15:8]（扇区号第 2 字节）</a:t>
            </a:r>
            <a:br/>
            <a:r>
              <a:t>- 0x1F5：LBA[23:16]（扇区号第 3 字节）</a:t>
            </a:r>
            <a:br/>
            <a:r>
              <a:t>- 0x1F6：LBA[27:24]（扇区号高 4 位）+ 0xE0（LBA模式 + 主硬盘标志）</a:t>
            </a:r>
            <a:br/>
            <a:br/>
            <a:r>
              <a:t>0x1F6 端口格式（8 位）：</a:t>
            </a:r>
            <a:br/>
            <a:r>
              <a:t>Bit 7-6 = 11（固定，表示LBA模式）</a:t>
            </a:r>
            <a:br/>
            <a:r>
              <a:t>Bit 5 = 1（固定）</a:t>
            </a:r>
            <a:br/>
            <a:r>
              <a:t>Bit 4 = 0（主硬盘=0，从硬盘=1）</a:t>
            </a:r>
            <a:br/>
            <a:r>
              <a:t>Bit 3-0 = LBA[27:24]（扇区号最高4位）</a:t>
            </a:r>
            <a:br/>
            <a:r>
              <a:t>因此 0xE0 + LBA[27:24] = 11100000 + 高4位 = 0xE0~0xEF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120640"/>
            <a:ext cx="10515600" cy="384048"/>
          </a:xfrm>
          <a:prstGeom prst="roundRect">
            <a:avLst/>
          </a:prstGeom>
          <a:solidFill>
            <a:srgbClr val="E8F5E9"/>
          </a:solidFill>
          <a:ln w="12700">
            <a:solidFill>
              <a:srgbClr val="1A7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400">
                <a:solidFill>
                  <a:srgbClr val="333333"/>
                </a:solidFill>
              </a:defRPr>
            </a:pPr>
            <a:r>
              <a:t>• CHS 方式需要手动计算磁头/柱面/扇区（复杂）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5577840"/>
            <a:ext cx="10515600" cy="384048"/>
          </a:xfrm>
          <a:prstGeom prst="roundRect">
            <a:avLst/>
          </a:prstGeom>
          <a:solidFill>
            <a:srgbClr val="E8F5E9"/>
          </a:solidFill>
          <a:ln w="12700">
            <a:solidFill>
              <a:srgbClr val="1A7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400">
                <a:solidFill>
                  <a:srgbClr val="333333"/>
                </a:solidFill>
              </a:defRPr>
            </a:pPr>
            <a:r>
              <a:t>• LBA 方式：扇区号从 0 开始连续编号（简单）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6035040"/>
            <a:ext cx="10515600" cy="384048"/>
          </a:xfrm>
          <a:prstGeom prst="roundRect">
            <a:avLst/>
          </a:prstGeom>
          <a:solidFill>
            <a:srgbClr val="E8F5E9"/>
          </a:solidFill>
          <a:ln w="12700">
            <a:solidFill>
              <a:srgbClr val="1A7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400">
                <a:solidFill>
                  <a:srgbClr val="333333"/>
                </a:solidFill>
              </a:defRPr>
            </a:pPr>
            <a:r>
              <a:t>• MBR = 扇区0，Bootloader 可放在扇区1~N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06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6492240"/>
            <a:ext cx="11277295" cy="27432"/>
          </a:xfrm>
          <a:prstGeom prst="rect">
            <a:avLst/>
          </a:prstGeom>
          <a:solidFill>
            <a:srgbClr val="006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510528"/>
            <a:ext cx="112772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66666"/>
                </a:solidFill>
              </a:defRPr>
            </a:pPr>
            <a:r>
              <a:t>中山大学计算机学院 操作系统实验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4D26"/>
                </a:solidFill>
              </a:defRPr>
            </a:pPr>
            <a:r>
              <a:t>LBA 读取硬盘的 5 步流程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051560"/>
            <a:ext cx="1828800" cy="36576"/>
          </a:xfrm>
          <a:prstGeom prst="rect">
            <a:avLst/>
          </a:prstGeom>
          <a:solidFill>
            <a:srgbClr val="006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Bef>
                <a:spcPts val="600"/>
              </a:spcBef>
              <a:spcAft>
                <a:spcPts val="400"/>
              </a:spcAft>
              <a:defRPr sz="2000">
                <a:solidFill>
                  <a:srgbClr val="333333"/>
                </a:solidFill>
              </a:defRPr>
            </a:pPr>
            <a:r>
              <a:t>第1步：设置要读取的扇区数（写入 0x1F2 端口）</a:t>
            </a:r>
            <a:br/>
            <a:r>
              <a:t>  每次最多读取 255 个扇区（0x1F2 是 8 位端口）</a:t>
            </a:r>
          </a:p>
          <a:p>
            <a:pPr>
              <a:lnSpc>
                <a:spcPct val="120000"/>
              </a:lnSpc>
              <a:spcBef>
                <a:spcPts val="600"/>
              </a:spcBef>
              <a:spcAft>
                <a:spcPts val="400"/>
              </a:spcAft>
              <a:defRPr sz="2000">
                <a:solidFill>
                  <a:srgbClr val="333333"/>
                </a:solidFill>
              </a:defRPr>
            </a:pPr>
            <a:r>
              <a:t>第2步：设置起始扇区号（写入 0x1F3~0x1F6）</a:t>
            </a:r>
            <a:br/>
            <a:r>
              <a:t>  0x1F3 = LBA[7:0], 0x1F4 = LBA[15:8], 0x1F5 = LBA[23:16]</a:t>
            </a:r>
            <a:br/>
            <a:r>
              <a:t>  0x1F6 = 0xE0 | LBA[27:24]（LBA模式 + 主硬盘 + 高4位）</a:t>
            </a:r>
          </a:p>
          <a:p>
            <a:pPr>
              <a:lnSpc>
                <a:spcPct val="120000"/>
              </a:lnSpc>
              <a:spcBef>
                <a:spcPts val="600"/>
              </a:spcBef>
              <a:spcAft>
                <a:spcPts val="400"/>
              </a:spcAft>
              <a:defRPr sz="2000">
                <a:solidFill>
                  <a:srgbClr val="333333"/>
                </a:solidFill>
              </a:defRPr>
            </a:pPr>
            <a:r>
              <a:t>第3步：发送读命令（向 0x1F7 写入 0x20）</a:t>
            </a:r>
            <a:br/>
            <a:r>
              <a:t>  0x20 = READ SECTORS 命令</a:t>
            </a:r>
          </a:p>
          <a:p>
            <a:pPr>
              <a:lnSpc>
                <a:spcPct val="120000"/>
              </a:lnSpc>
              <a:spcBef>
                <a:spcPts val="600"/>
              </a:spcBef>
              <a:spcAft>
                <a:spcPts val="400"/>
              </a:spcAft>
              <a:defRPr sz="2000">
                <a:solidFill>
                  <a:srgbClr val="333333"/>
                </a:solidFill>
              </a:defRPr>
            </a:pPr>
            <a:r>
              <a:t>第4步：等待硬盘准备好（轮询 0x1F7 端口）</a:t>
            </a:r>
            <a:br/>
            <a:r>
              <a:t>  读取 0x1F7，检查 Bit 7 = 0（不忙）、Bit 3 = 1（数据准备好）、Bit 0 = 0（无错误）</a:t>
            </a:r>
          </a:p>
          <a:p>
            <a:pPr>
              <a:lnSpc>
                <a:spcPct val="120000"/>
              </a:lnSpc>
              <a:spcBef>
                <a:spcPts val="600"/>
              </a:spcBef>
              <a:spcAft>
                <a:spcPts val="400"/>
              </a:spcAft>
              <a:defRPr sz="2000">
                <a:solidFill>
                  <a:srgbClr val="333333"/>
                </a:solidFill>
              </a:defRPr>
            </a:pPr>
            <a:r>
              <a:t>第5步：读取数据（从 0x1F0 端口连续读取）</a:t>
            </a:r>
            <a:br/>
            <a:r>
              <a:t>  0x1F0 是 16 位数据端口，读取 256 次 * 2 字节 = 512 字节（1 个扇区）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06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6492240"/>
            <a:ext cx="11277295" cy="27432"/>
          </a:xfrm>
          <a:prstGeom prst="rect">
            <a:avLst/>
          </a:prstGeom>
          <a:solidFill>
            <a:srgbClr val="006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510528"/>
            <a:ext cx="112772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66666"/>
                </a:solidFill>
              </a:defRPr>
            </a:pPr>
            <a:r>
              <a:t>中山大学计算机学院 操作系统实验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4D26"/>
                </a:solidFill>
              </a:defRPr>
            </a:pPr>
            <a:r>
              <a:t>LBA 读取硬盘流程图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051560"/>
            <a:ext cx="1828800" cy="36576"/>
          </a:xfrm>
          <a:prstGeom prst="rect">
            <a:avLst/>
          </a:prstGeom>
          <a:solidFill>
            <a:srgbClr val="006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28016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i="1">
                <a:solidFill>
                  <a:srgbClr val="666666"/>
                </a:solidFill>
              </a:defRPr>
            </a:pPr>
            <a:r>
              <a:t>通过 I/O 端口与硬盘控制器交互的完整过程</a:t>
            </a:r>
          </a:p>
        </p:txBody>
      </p:sp>
      <p:sp>
        <p:nvSpPr>
          <p:cNvPr id="8" name="Oval 7"/>
          <p:cNvSpPr/>
          <p:nvPr/>
        </p:nvSpPr>
        <p:spPr>
          <a:xfrm>
            <a:off x="914400" y="1950962"/>
            <a:ext cx="348185" cy="348185"/>
          </a:xfrm>
          <a:prstGeom prst="ellipse">
            <a:avLst/>
          </a:prstGeom>
          <a:solidFill>
            <a:srgbClr val="006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9" name="Rectangle 8"/>
          <p:cNvSpPr/>
          <p:nvPr/>
        </p:nvSpPr>
        <p:spPr>
          <a:xfrm>
            <a:off x="1554480" y="1920240"/>
            <a:ext cx="64008" cy="409630"/>
          </a:xfrm>
          <a:prstGeom prst="rect">
            <a:avLst/>
          </a:prstGeom>
          <a:solidFill>
            <a:srgbClr val="006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618488" y="1920240"/>
            <a:ext cx="9811512" cy="409630"/>
          </a:xfrm>
          <a:prstGeom prst="rect">
            <a:avLst/>
          </a:prstGeom>
          <a:solidFill>
            <a:srgbClr val="E8F5E9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137160"/>
          <a:lstStyle/>
          <a:p>
            <a:pPr algn="l">
              <a:defRPr sz="1500" b="1">
                <a:solidFill>
                  <a:srgbClr val="333333"/>
                </a:solidFill>
              </a:defRPr>
            </a:pPr>
            <a:r>
              <a:t>写 0x1F2 端口 = 读取扇区数（1~255）</a:t>
            </a:r>
          </a:p>
        </p:txBody>
      </p:sp>
      <p:sp>
        <p:nvSpPr>
          <p:cNvPr id="11" name="Down Arrow 10"/>
          <p:cNvSpPr/>
          <p:nvPr/>
        </p:nvSpPr>
        <p:spPr>
          <a:xfrm>
            <a:off x="6355080" y="2329870"/>
            <a:ext cx="274320" cy="184994"/>
          </a:xfrm>
          <a:prstGeom prst="downArrow">
            <a:avLst/>
          </a:prstGeom>
          <a:solidFill>
            <a:srgbClr val="BDBD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14400" y="2545586"/>
            <a:ext cx="348185" cy="348185"/>
          </a:xfrm>
          <a:prstGeom prst="ellipse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554480" y="2514864"/>
            <a:ext cx="64008" cy="40963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618488" y="2514864"/>
            <a:ext cx="9811512" cy="40963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137160"/>
          <a:lstStyle/>
          <a:p>
            <a:pPr algn="l">
              <a:defRPr sz="1500" b="0">
                <a:solidFill>
                  <a:srgbClr val="333333"/>
                </a:solidFill>
              </a:defRPr>
            </a:pPr>
            <a:r>
              <a:t>写 0x1F3 端口 = LBA[7:0]（扇区号低8位）</a:t>
            </a:r>
          </a:p>
        </p:txBody>
      </p:sp>
      <p:sp>
        <p:nvSpPr>
          <p:cNvPr id="15" name="Down Arrow 14"/>
          <p:cNvSpPr/>
          <p:nvPr/>
        </p:nvSpPr>
        <p:spPr>
          <a:xfrm>
            <a:off x="6355080" y="2924494"/>
            <a:ext cx="274320" cy="184994"/>
          </a:xfrm>
          <a:prstGeom prst="downArrow">
            <a:avLst/>
          </a:prstGeom>
          <a:solidFill>
            <a:srgbClr val="BDBD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14400" y="3140210"/>
            <a:ext cx="348185" cy="348185"/>
          </a:xfrm>
          <a:prstGeom prst="ellipse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554480" y="3109488"/>
            <a:ext cx="64008" cy="40963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618488" y="3109488"/>
            <a:ext cx="9811512" cy="40963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137160"/>
          <a:lstStyle/>
          <a:p>
            <a:pPr algn="l">
              <a:defRPr sz="1500" b="0">
                <a:solidFill>
                  <a:srgbClr val="333333"/>
                </a:solidFill>
              </a:defRPr>
            </a:pPr>
            <a:r>
              <a:t>写 0x1F4 端口 = LBA[15:8]（扇区号第2字节）</a:t>
            </a:r>
          </a:p>
        </p:txBody>
      </p:sp>
      <p:sp>
        <p:nvSpPr>
          <p:cNvPr id="19" name="Down Arrow 18"/>
          <p:cNvSpPr/>
          <p:nvPr/>
        </p:nvSpPr>
        <p:spPr>
          <a:xfrm>
            <a:off x="6355080" y="3519118"/>
            <a:ext cx="274320" cy="184994"/>
          </a:xfrm>
          <a:prstGeom prst="downArrow">
            <a:avLst/>
          </a:prstGeom>
          <a:solidFill>
            <a:srgbClr val="BDBD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914400" y="3734835"/>
            <a:ext cx="348185" cy="348185"/>
          </a:xfrm>
          <a:prstGeom prst="ellipse">
            <a:avLst/>
          </a:prstGeom>
          <a:solidFill>
            <a:srgbClr val="7B1F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554480" y="3704112"/>
            <a:ext cx="64008" cy="409630"/>
          </a:xfrm>
          <a:prstGeom prst="rect">
            <a:avLst/>
          </a:prstGeom>
          <a:solidFill>
            <a:srgbClr val="7B1F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618488" y="3704112"/>
            <a:ext cx="9811512" cy="40963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137160"/>
          <a:lstStyle/>
          <a:p>
            <a:pPr algn="l">
              <a:defRPr sz="1500" b="0">
                <a:solidFill>
                  <a:srgbClr val="333333"/>
                </a:solidFill>
              </a:defRPr>
            </a:pPr>
            <a:r>
              <a:t>写 0x1F5 端口 = LBA[23:16]（扇区号第3字节）</a:t>
            </a:r>
          </a:p>
        </p:txBody>
      </p:sp>
      <p:sp>
        <p:nvSpPr>
          <p:cNvPr id="23" name="Down Arrow 22"/>
          <p:cNvSpPr/>
          <p:nvPr/>
        </p:nvSpPr>
        <p:spPr>
          <a:xfrm>
            <a:off x="6355080" y="4113742"/>
            <a:ext cx="274320" cy="184994"/>
          </a:xfrm>
          <a:prstGeom prst="downArrow">
            <a:avLst/>
          </a:prstGeom>
          <a:solidFill>
            <a:srgbClr val="BDBD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14400" y="4329459"/>
            <a:ext cx="348185" cy="348185"/>
          </a:xfrm>
          <a:prstGeom prst="ellipse">
            <a:avLst/>
          </a:prstGeom>
          <a:solidFill>
            <a:srgbClr val="E65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554480" y="4298737"/>
            <a:ext cx="64008" cy="409630"/>
          </a:xfrm>
          <a:prstGeom prst="rect">
            <a:avLst/>
          </a:prstGeom>
          <a:solidFill>
            <a:srgbClr val="E65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618488" y="4298737"/>
            <a:ext cx="9811512" cy="40963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137160"/>
          <a:lstStyle/>
          <a:p>
            <a:pPr algn="l">
              <a:defRPr sz="1500" b="0">
                <a:solidFill>
                  <a:srgbClr val="333333"/>
                </a:solidFill>
              </a:defRPr>
            </a:pPr>
            <a:r>
              <a:t>写 0x1F6 端口 = 0xE0 | LBA[27:24]（模式+高4位）</a:t>
            </a:r>
          </a:p>
        </p:txBody>
      </p:sp>
      <p:sp>
        <p:nvSpPr>
          <p:cNvPr id="27" name="Down Arrow 26"/>
          <p:cNvSpPr/>
          <p:nvPr/>
        </p:nvSpPr>
        <p:spPr>
          <a:xfrm>
            <a:off x="6355080" y="4708367"/>
            <a:ext cx="274320" cy="184994"/>
          </a:xfrm>
          <a:prstGeom prst="downArrow">
            <a:avLst/>
          </a:prstGeom>
          <a:solidFill>
            <a:srgbClr val="BDBD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914400" y="4924083"/>
            <a:ext cx="348185" cy="348185"/>
          </a:xfrm>
          <a:prstGeom prst="ellipse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6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554480" y="4893361"/>
            <a:ext cx="64008" cy="409630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1618488" y="4893361"/>
            <a:ext cx="9811512" cy="40963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137160"/>
          <a:lstStyle/>
          <a:p>
            <a:pPr algn="l">
              <a:defRPr sz="1500" b="0">
                <a:solidFill>
                  <a:srgbClr val="333333"/>
                </a:solidFill>
              </a:defRPr>
            </a:pPr>
            <a:r>
              <a:t>写 0x1F7 端口 = 0x20（发送读命令）</a:t>
            </a:r>
          </a:p>
        </p:txBody>
      </p:sp>
      <p:sp>
        <p:nvSpPr>
          <p:cNvPr id="31" name="Down Arrow 30"/>
          <p:cNvSpPr/>
          <p:nvPr/>
        </p:nvSpPr>
        <p:spPr>
          <a:xfrm>
            <a:off x="6355080" y="5302991"/>
            <a:ext cx="274320" cy="184994"/>
          </a:xfrm>
          <a:prstGeom prst="downArrow">
            <a:avLst/>
          </a:prstGeom>
          <a:solidFill>
            <a:srgbClr val="BDBD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914400" y="5518707"/>
            <a:ext cx="348185" cy="348185"/>
          </a:xfrm>
          <a:prstGeom prst="ellipse">
            <a:avLst/>
          </a:prstGeom>
          <a:solidFill>
            <a:srgbClr val="006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7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554480" y="5487985"/>
            <a:ext cx="64008" cy="409630"/>
          </a:xfrm>
          <a:prstGeom prst="rect">
            <a:avLst/>
          </a:prstGeom>
          <a:solidFill>
            <a:srgbClr val="006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1618488" y="5487985"/>
            <a:ext cx="9811512" cy="40963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137160"/>
          <a:lstStyle/>
          <a:p>
            <a:pPr algn="l">
              <a:defRPr sz="1500" b="0">
                <a:solidFill>
                  <a:srgbClr val="333333"/>
                </a:solidFill>
              </a:defRPr>
            </a:pPr>
            <a:r>
              <a:t>轮询读取 0x1F7，等待 Bit7=0 &amp; Bit3=1</a:t>
            </a:r>
          </a:p>
        </p:txBody>
      </p:sp>
      <p:sp>
        <p:nvSpPr>
          <p:cNvPr id="35" name="Down Arrow 34"/>
          <p:cNvSpPr/>
          <p:nvPr/>
        </p:nvSpPr>
        <p:spPr>
          <a:xfrm>
            <a:off x="6355080" y="5897615"/>
            <a:ext cx="274320" cy="184994"/>
          </a:xfrm>
          <a:prstGeom prst="downArrow">
            <a:avLst/>
          </a:prstGeom>
          <a:solidFill>
            <a:srgbClr val="BDBD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914400" y="6113332"/>
            <a:ext cx="348185" cy="348185"/>
          </a:xfrm>
          <a:prstGeom prst="ellipse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8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554480" y="6082609"/>
            <a:ext cx="64008" cy="40963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1618488" y="6082609"/>
            <a:ext cx="9811512" cy="409630"/>
          </a:xfrm>
          <a:prstGeom prst="rect">
            <a:avLst/>
          </a:prstGeom>
          <a:solidFill>
            <a:srgbClr val="E3F2FD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137160"/>
          <a:lstStyle/>
          <a:p>
            <a:pPr algn="l">
              <a:defRPr sz="1500" b="1">
                <a:solidFill>
                  <a:srgbClr val="333333"/>
                </a:solidFill>
              </a:defRPr>
            </a:pPr>
            <a:r>
              <a:t>从 0x1F0 端口读取 256 次 × 2字节 = 512字节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06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6492240"/>
            <a:ext cx="11277295" cy="27432"/>
          </a:xfrm>
          <a:prstGeom prst="rect">
            <a:avLst/>
          </a:prstGeom>
          <a:solidFill>
            <a:srgbClr val="006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510528"/>
            <a:ext cx="112772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66666"/>
                </a:solidFill>
              </a:defRPr>
            </a:pPr>
            <a:r>
              <a:t>中山大学计算机学院 操作系统实验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4D26"/>
                </a:solidFill>
              </a:defRPr>
            </a:pPr>
            <a:r>
              <a:t>LBA 读取硬盘（汇编实现）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097280"/>
            <a:ext cx="10972800" cy="5029200"/>
          </a:xfrm>
          <a:prstGeom prst="roundRect">
            <a:avLst/>
          </a:prstGeom>
          <a:solidFill>
            <a:srgbClr val="263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0" y="118872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66666"/>
                </a:solidFill>
              </a:defRPr>
            </a:pPr>
            <a:r>
              <a:t>nasm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371600"/>
            <a:ext cx="102412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E0E0E0"/>
                </a:solidFill>
                <a:latin typeface="Courier New"/>
              </a:defRPr>
            </a:pPr>
            <a:r>
              <a:t>asm_read_hard_disk: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E0E0E0"/>
                </a:solidFill>
                <a:latin typeface="Courier New"/>
              </a:defRPr>
            </a:pPr>
            <a:r>
              <a:t>    ; 参数：ax=LBA[15:0], cx=LBA[27:16], ds:bx=目标内存地址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E0E0E0"/>
                </a:solidFill>
                <a:latin typeface="Courier New"/>
              </a:defRPr>
            </a:pPr>
            <a:r>
              <a:t>    ; 功能：读取 1 个扇区（512B）到 ds:bx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E0E0E0"/>
                </a:solidFill>
                <a:latin typeface="Courier New"/>
              </a:defRPr>
            </a:pPr>
            <a:r>
              <a:t>    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E0E0E0"/>
                </a:solidFill>
                <a:latin typeface="Courier New"/>
              </a:defRPr>
            </a:pPr>
            <a:r>
              <a:t>    ; 第1步：设置读取扇区数 = 1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E0E0E0"/>
                </a:solidFill>
                <a:latin typeface="Courier New"/>
              </a:defRPr>
            </a:pPr>
            <a:r>
              <a:t>    mov dx, 0x1f2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E0E0E0"/>
                </a:solidFill>
                <a:latin typeface="Courier New"/>
              </a:defRPr>
            </a:pPr>
            <a:r>
              <a:t>    mov al, 1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E0E0E0"/>
                </a:solidFill>
                <a:latin typeface="Courier New"/>
              </a:defRPr>
            </a:pPr>
            <a:r>
              <a:t>    out dx, al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E0E0E0"/>
                </a:solidFill>
                <a:latin typeface="Courier New"/>
              </a:defRPr>
            </a:pPr>
            <a:r>
              <a:t>    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E0E0E0"/>
                </a:solidFill>
                <a:latin typeface="Courier New"/>
              </a:defRPr>
            </a:pPr>
            <a:r>
              <a:t>    ; 第2步：设置起始扇区号（拆成4段）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E0E0E0"/>
                </a:solidFill>
                <a:latin typeface="Courier New"/>
              </a:defRPr>
            </a:pPr>
            <a:r>
              <a:t>    mov dx, 0x1f3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E0E0E0"/>
                </a:solidFill>
                <a:latin typeface="Courier New"/>
              </a:defRPr>
            </a:pPr>
            <a:r>
              <a:t>    mov ax, [扇区号低16位]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E0E0E0"/>
                </a:solidFill>
                <a:latin typeface="Courier New"/>
              </a:defRPr>
            </a:pPr>
            <a:r>
              <a:t>    out dx, al          ; 0x1F3 = LBA[7:0]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E0E0E0"/>
                </a:solidFill>
                <a:latin typeface="Courier New"/>
              </a:defRPr>
            </a:pPr>
            <a:r>
              <a:t>    inc dx              ; dx = 0x1F4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E0E0E0"/>
                </a:solidFill>
                <a:latin typeface="Courier New"/>
              </a:defRPr>
            </a:pPr>
            <a:r>
              <a:t>    mov al, ah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E0E0E0"/>
                </a:solidFill>
                <a:latin typeface="Courier New"/>
              </a:defRPr>
            </a:pPr>
            <a:r>
              <a:t>    out dx, al          ; 0x1F4 = LBA[15:8]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E0E0E0"/>
                </a:solidFill>
                <a:latin typeface="Courier New"/>
              </a:defRPr>
            </a:pPr>
            <a:r>
              <a:t>    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E0E0E0"/>
                </a:solidFill>
                <a:latin typeface="Courier New"/>
              </a:defRPr>
            </a:pPr>
            <a:r>
              <a:t>    mov ax, [扇区号高12位]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E0E0E0"/>
                </a:solidFill>
                <a:latin typeface="Courier New"/>
              </a:defRPr>
            </a:pPr>
            <a:r>
              <a:t>    inc dx              ; dx = 0x1F5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E0E0E0"/>
                </a:solidFill>
                <a:latin typeface="Courier New"/>
              </a:defRPr>
            </a:pPr>
            <a:r>
              <a:t>    out dx, al          ; 0x1F5 = LBA[23:16]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E0E0E0"/>
                </a:solidFill>
                <a:latin typeface="Courier New"/>
              </a:defRPr>
            </a:pPr>
            <a:r>
              <a:t>    inc dx              ; dx = 0x1F6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E0E0E0"/>
                </a:solidFill>
                <a:latin typeface="Courier New"/>
              </a:defRPr>
            </a:pPr>
            <a:r>
              <a:t>    mov al, ah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E0E0E0"/>
                </a:solidFill>
                <a:latin typeface="Courier New"/>
              </a:defRPr>
            </a:pPr>
            <a:r>
              <a:t>    and al, 0x0f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E0E0E0"/>
                </a:solidFill>
                <a:latin typeface="Courier New"/>
              </a:defRPr>
            </a:pPr>
            <a:r>
              <a:t>    or al, 0xe0         ; 0xE0 = LBA模式+主硬盘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E0E0E0"/>
                </a:solidFill>
                <a:latin typeface="Courier New"/>
              </a:defRPr>
            </a:pPr>
            <a:r>
              <a:t>    out dx, al          ; 0x1F6 = 0xE0 | LBA[27:24]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E0E0E0"/>
                </a:solidFill>
                <a:latin typeface="Courier New"/>
              </a:defRPr>
            </a:pPr>
            <a:r>
              <a:t>    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E0E0E0"/>
                </a:solidFill>
                <a:latin typeface="Courier New"/>
              </a:defRPr>
            </a:pPr>
            <a:r>
              <a:t>    ; 第3步：发送读命令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E0E0E0"/>
                </a:solidFill>
                <a:latin typeface="Courier New"/>
              </a:defRPr>
            </a:pPr>
            <a:r>
              <a:t>    mov dx, 0x1f7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E0E0E0"/>
                </a:solidFill>
                <a:latin typeface="Courier New"/>
              </a:defRPr>
            </a:pPr>
            <a:r>
              <a:t>    mov al, 0x20        ; READ SECTORS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E0E0E0"/>
                </a:solidFill>
                <a:latin typeface="Courier New"/>
              </a:defRPr>
            </a:pPr>
            <a:r>
              <a:t>    out dx, al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E0E0E0"/>
                </a:solidFill>
                <a:latin typeface="Courier New"/>
              </a:defRPr>
            </a:pPr>
            <a:r>
              <a:t>    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E0E0E0"/>
                </a:solidFill>
                <a:latin typeface="Courier New"/>
              </a:defRPr>
            </a:pPr>
            <a:r>
              <a:t>    ; 第4步：等待硬盘准备好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E0E0E0"/>
                </a:solidFill>
                <a:latin typeface="Courier New"/>
              </a:defRPr>
            </a:pPr>
            <a:r>
              <a:t>.waits: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E0E0E0"/>
                </a:solidFill>
                <a:latin typeface="Courier New"/>
              </a:defRPr>
            </a:pPr>
            <a:r>
              <a:t>    in al, dx           ; 读取 0x1F7 状态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E0E0E0"/>
                </a:solidFill>
                <a:latin typeface="Courier New"/>
              </a:defRPr>
            </a:pPr>
            <a:r>
              <a:t>    and al, 0x88        ; 检查 Bit 7（忙）和 Bit 3（准备好）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E0E0E0"/>
                </a:solidFill>
                <a:latin typeface="Courier New"/>
              </a:defRPr>
            </a:pPr>
            <a:r>
              <a:t>    cmp al, 0x08        ; Bit 7=0, Bit 3=1?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E0E0E0"/>
                </a:solidFill>
                <a:latin typeface="Courier New"/>
              </a:defRPr>
            </a:pPr>
            <a:r>
              <a:t>    jnz .waits          ; 不满足则继续等待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E0E0E0"/>
                </a:solidFill>
                <a:latin typeface="Courier New"/>
              </a:defRPr>
            </a:pPr>
            <a:r>
              <a:t>    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E0E0E0"/>
                </a:solidFill>
                <a:latin typeface="Courier New"/>
              </a:defRPr>
            </a:pPr>
            <a:r>
              <a:t>    ; 第5步：读取 512 字节数据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E0E0E0"/>
                </a:solidFill>
                <a:latin typeface="Courier New"/>
              </a:defRPr>
            </a:pPr>
            <a:r>
              <a:t>    mov cx, 256         ; 256 次 * 2 字节 = 512 字节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E0E0E0"/>
                </a:solidFill>
                <a:latin typeface="Courier New"/>
              </a:defRPr>
            </a:pPr>
            <a:r>
              <a:t>    mov dx, 0x1f0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E0E0E0"/>
                </a:solidFill>
                <a:latin typeface="Courier New"/>
              </a:defRPr>
            </a:pPr>
            <a:r>
              <a:t>.readw: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E0E0E0"/>
                </a:solidFill>
                <a:latin typeface="Courier New"/>
              </a:defRPr>
            </a:pPr>
            <a:r>
              <a:t>    in ax, dx           ; 从 0x1F0 读取 2 字节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E0E0E0"/>
                </a:solidFill>
                <a:latin typeface="Courier New"/>
              </a:defRPr>
            </a:pPr>
            <a:r>
              <a:t>    mov [bx], ax        ; 存储到 ds:bx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E0E0E0"/>
                </a:solidFill>
                <a:latin typeface="Courier New"/>
              </a:defRPr>
            </a:pPr>
            <a:r>
              <a:t>    add bx, 2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E0E0E0"/>
                </a:solidFill>
                <a:latin typeface="Courier New"/>
              </a:defRPr>
            </a:pPr>
            <a:r>
              <a:t>    loop .readw         ; 循环 256 次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E0E0E0"/>
                </a:solidFill>
                <a:latin typeface="Courier New"/>
              </a:defRPr>
            </a:pPr>
            <a:r>
              <a:t>    ret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66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AADDAA"/>
                </a:solidFill>
              </a:defRPr>
            </a:pPr>
            <a:r>
              <a:t>Part 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56032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</a:defRPr>
            </a:pPr>
            <a:r>
              <a:t>保护模式与 GDT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0233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DDEEDD"/>
                </a:solidFill>
              </a:defRPr>
            </a:pPr>
            <a:r>
              <a:t>32位内存寻址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06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6492240"/>
            <a:ext cx="11277295" cy="27432"/>
          </a:xfrm>
          <a:prstGeom prst="rect">
            <a:avLst/>
          </a:prstGeom>
          <a:solidFill>
            <a:srgbClr val="006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510528"/>
            <a:ext cx="112772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66666"/>
                </a:solidFill>
              </a:defRPr>
            </a:pPr>
            <a:r>
              <a:t>中山大学计算机学院 操作系统实验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4D26"/>
                </a:solidFill>
              </a:defRPr>
            </a:pPr>
            <a:r>
              <a:t>实模式 vs 保护模式的根本差异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051560"/>
            <a:ext cx="1828800" cy="36576"/>
          </a:xfrm>
          <a:prstGeom prst="rect">
            <a:avLst/>
          </a:prstGeom>
          <a:solidFill>
            <a:srgbClr val="006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280160"/>
            <a:ext cx="10515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Bef>
                <a:spcPts val="400"/>
              </a:spcBef>
              <a:spcAft>
                <a:spcPts val="600"/>
              </a:spcAft>
              <a:defRPr sz="1700">
                <a:solidFill>
                  <a:srgbClr val="333333"/>
                </a:solidFill>
              </a:defRPr>
            </a:pPr>
            <a:r>
              <a:t>实模式（Real Mode）：</a:t>
            </a:r>
            <a:br/>
            <a:r>
              <a:t>- 16 位寻址：最大 1MB 内存（20 根地址线）</a:t>
            </a:r>
            <a:br/>
            <a:r>
              <a:t>- 段地址*16+偏移：地址计算繁琐，地址重叠</a:t>
            </a:r>
            <a:br/>
            <a:r>
              <a:t>- 无保护：程序可以随意访问任何内存（包括操作系统内存）</a:t>
            </a:r>
            <a:br/>
            <a:r>
              <a:t>- 兼容性好：所有 x86 CPU 都支持（从 8086 开始）</a:t>
            </a:r>
            <a:br/>
            <a:br/>
            <a:r>
              <a:t>保护模式（Protected Mode，80286引入，80386完善）：</a:t>
            </a:r>
            <a:br/>
            <a:r>
              <a:t>- 32 位寻址：最大 4GB 内存（32 根地址线）</a:t>
            </a:r>
            <a:br/>
            <a:r>
              <a:t>- 段选择子 + 偏移：段基址从 GDT 中查找（段描述符）</a:t>
            </a:r>
            <a:br/>
            <a:r>
              <a:t>- 段保护：段描述符指定段界限（长度），CPU 检查越界访问</a:t>
            </a:r>
            <a:br/>
            <a:r>
              <a:t>- 特权级保护：Ring 0（内核）/ Ring 3（用户），防止用户程序破坏内核</a:t>
            </a:r>
            <a:br/>
            <a:r>
              <a:t>- 虚拟内存：页表机制（分页保护，后续实验介绍）</a:t>
            </a:r>
            <a:br/>
            <a:br/>
            <a:r>
              <a:t>为什么需要保护模式？</a:t>
            </a:r>
            <a:br/>
            <a:r>
              <a:t>实模式的 1MB 限制无法满足现代操作系统（内核几MB，应用程序几百MB），且无法防止程序互相干扰（一个程序崩溃可能导致整个系统崩溃）。保护模式通过段保护和特权级保护实现进程隔离和内核保护。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120640"/>
            <a:ext cx="10515600" cy="384048"/>
          </a:xfrm>
          <a:prstGeom prst="roundRect">
            <a:avLst/>
          </a:prstGeom>
          <a:solidFill>
            <a:srgbClr val="E8F5E9"/>
          </a:solidFill>
          <a:ln w="12700">
            <a:solidFill>
              <a:srgbClr val="1A7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400">
                <a:solidFill>
                  <a:srgbClr val="333333"/>
                </a:solidFill>
              </a:defRPr>
            </a:pPr>
            <a:r>
              <a:t>• 80286 的保护模式只有 16MB 寻址（24 位地址线）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5577840"/>
            <a:ext cx="10515600" cy="384048"/>
          </a:xfrm>
          <a:prstGeom prst="roundRect">
            <a:avLst/>
          </a:prstGeom>
          <a:solidFill>
            <a:srgbClr val="E8F5E9"/>
          </a:solidFill>
          <a:ln w="12700">
            <a:solidFill>
              <a:srgbClr val="1A7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400">
                <a:solidFill>
                  <a:srgbClr val="333333"/>
                </a:solidFill>
              </a:defRPr>
            </a:pPr>
            <a:r>
              <a:t>• 80386 扩展到 32 位（4GB），并引入分页机制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6035040"/>
            <a:ext cx="10515600" cy="384048"/>
          </a:xfrm>
          <a:prstGeom prst="roundRect">
            <a:avLst/>
          </a:prstGeom>
          <a:solidFill>
            <a:srgbClr val="E8F5E9"/>
          </a:solidFill>
          <a:ln w="12700">
            <a:solidFill>
              <a:srgbClr val="1A7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400">
                <a:solidFill>
                  <a:srgbClr val="333333"/>
                </a:solidFill>
              </a:defRPr>
            </a:pPr>
            <a:r>
              <a:t>• 现代 x86_64 CPU 启动时仍处于实模式（兼容性）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06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6492240"/>
            <a:ext cx="11277295" cy="27432"/>
          </a:xfrm>
          <a:prstGeom prst="rect">
            <a:avLst/>
          </a:prstGeom>
          <a:solidFill>
            <a:srgbClr val="006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510528"/>
            <a:ext cx="112772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66666"/>
                </a:solidFill>
              </a:defRPr>
            </a:pPr>
            <a:r>
              <a:t>中山大学计算机学院 操作系统实验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4D26"/>
                </a:solidFill>
              </a:defRPr>
            </a:pPr>
            <a:r>
              <a:t>段描述符：GDT 的基本单元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051560"/>
            <a:ext cx="1828800" cy="36576"/>
          </a:xfrm>
          <a:prstGeom prst="rect">
            <a:avLst/>
          </a:prstGeom>
          <a:solidFill>
            <a:srgbClr val="006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280160"/>
            <a:ext cx="10515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Bef>
                <a:spcPts val="400"/>
              </a:spcBef>
              <a:spcAft>
                <a:spcPts val="600"/>
              </a:spcAft>
              <a:defRPr sz="1700">
                <a:solidFill>
                  <a:srgbClr val="333333"/>
                </a:solidFill>
              </a:defRPr>
            </a:pPr>
            <a:r>
              <a:t>段描述符（Segment Descriptor）：64 位（8 字节），描述一个内存段的属性。</a:t>
            </a:r>
            <a:br/>
            <a:br/>
            <a:r>
              <a:t>关键字段：</a:t>
            </a:r>
            <a:br/>
            <a:r>
              <a:t>1) 段基地址（Base Address，32 位）：段的起始物理地址（拆成 3 段存储）</a:t>
            </a:r>
            <a:br/>
            <a:r>
              <a:t>2) 段界限（Limit，20 位）：段的长度-1（实际长度 = Limit+1）</a:t>
            </a:r>
            <a:br/>
            <a:r>
              <a:t>3) G 位（Granularity，粒度）：</a:t>
            </a:r>
            <a:br/>
            <a:r>
              <a:t>   G=0：段界限单位是字节（最大段 = 2^20 B = 1MB）</a:t>
            </a:r>
            <a:br/>
            <a:r>
              <a:t>   G=1：段界限单位是 4KB（最大段 = 2^20 * 4KB = 4GB）</a:t>
            </a:r>
            <a:br/>
            <a:r>
              <a:t>4) D/B 位：D=0（16位段），D=1（32位段）</a:t>
            </a:r>
            <a:br/>
            <a:r>
              <a:t>5) P 位（Present）：P=1（段在内存中），P=0（段不在内存，引发异常）</a:t>
            </a:r>
            <a:br/>
            <a:r>
              <a:t>6) DPL（Descriptor Privilege Level，2 位）：段的特权级（0=内核，3=用户）</a:t>
            </a:r>
            <a:br/>
            <a:r>
              <a:t>7) S 位：S=1（代码段/数据段），S=0（系统段，如 TSS）</a:t>
            </a:r>
            <a:br/>
            <a:r>
              <a:t>8) Type（4 位）：段类型（代码段/数据段，可读/可写/可执行）</a:t>
            </a:r>
            <a:br/>
            <a:br/>
            <a:r>
              <a:t>平坦内存模型（Flat Memory Model）：</a:t>
            </a:r>
            <a:br/>
            <a:r>
              <a:t>段基址=0，段界限=4GB-1，段覆盖整个 4GB 地址空间。此时段机制退化为透明，内存访问变成简单的线性地址。Linux/Windows 都使用平坦模型（段机制实际上被分页机制取代）。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120640"/>
            <a:ext cx="10515600" cy="384048"/>
          </a:xfrm>
          <a:prstGeom prst="roundRect">
            <a:avLst/>
          </a:prstGeom>
          <a:solidFill>
            <a:srgbClr val="E8F5E9"/>
          </a:solidFill>
          <a:ln w="12700">
            <a:solidFill>
              <a:srgbClr val="1A7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400">
                <a:solidFill>
                  <a:srgbClr val="333333"/>
                </a:solidFill>
              </a:defRPr>
            </a:pPr>
            <a:r>
              <a:t>• 64 位段描述符 = 8 字节（结构复杂，字段拆散存储）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5577840"/>
            <a:ext cx="10515600" cy="384048"/>
          </a:xfrm>
          <a:prstGeom prst="roundRect">
            <a:avLst/>
          </a:prstGeom>
          <a:solidFill>
            <a:srgbClr val="E8F5E9"/>
          </a:solidFill>
          <a:ln w="12700">
            <a:solidFill>
              <a:srgbClr val="1A7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400">
                <a:solidFill>
                  <a:srgbClr val="333333"/>
                </a:solidFill>
              </a:defRPr>
            </a:pPr>
            <a:r>
              <a:t>• 平坦模型：Base=0, Limit=0xFFFFF, G=1（4KB粒度）= 4GB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6035040"/>
            <a:ext cx="10515600" cy="384048"/>
          </a:xfrm>
          <a:prstGeom prst="roundRect">
            <a:avLst/>
          </a:prstGeom>
          <a:solidFill>
            <a:srgbClr val="E8F5E9"/>
          </a:solidFill>
          <a:ln w="12700">
            <a:solidFill>
              <a:srgbClr val="1A7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400">
                <a:solidFill>
                  <a:srgbClr val="333333"/>
                </a:solidFill>
              </a:defRPr>
            </a:pPr>
            <a:r>
              <a:t>• 段选择子（Selector，16位）：索引 GDT 中的段描述符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06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6492240"/>
            <a:ext cx="11277295" cy="27432"/>
          </a:xfrm>
          <a:prstGeom prst="rect">
            <a:avLst/>
          </a:prstGeom>
          <a:solidFill>
            <a:srgbClr val="006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510528"/>
            <a:ext cx="112772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66666"/>
                </a:solidFill>
              </a:defRPr>
            </a:pPr>
            <a:r>
              <a:t>中山大学计算机学院 操作系统实验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4D26"/>
                </a:solidFill>
              </a:defRPr>
            </a:pPr>
            <a:r>
              <a:t>GDT（全局描述符表）结构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051560"/>
            <a:ext cx="1828800" cy="36576"/>
          </a:xfrm>
          <a:prstGeom prst="rect">
            <a:avLst/>
          </a:prstGeom>
          <a:solidFill>
            <a:srgbClr val="006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Bef>
                <a:spcPts val="600"/>
              </a:spcBef>
              <a:spcAft>
                <a:spcPts val="400"/>
              </a:spcAft>
              <a:defRPr sz="2000">
                <a:solidFill>
                  <a:srgbClr val="333333"/>
                </a:solidFill>
              </a:defRPr>
            </a:pPr>
            <a:r>
              <a:t>GDT = Global Descriptor Table，存储所有段描述符的数组</a:t>
            </a:r>
          </a:p>
          <a:p>
            <a:pPr>
              <a:lnSpc>
                <a:spcPct val="120000"/>
              </a:lnSpc>
              <a:spcBef>
                <a:spcPts val="600"/>
              </a:spcBef>
              <a:spcAft>
                <a:spcPts val="400"/>
              </a:spcAft>
              <a:defRPr sz="2000">
                <a:solidFill>
                  <a:srgbClr val="333333"/>
                </a:solidFill>
              </a:defRPr>
            </a:pPr>
            <a:r>
              <a:t>GDT 起始地址：由程序员自定义（通常放在内核数据区）</a:t>
            </a:r>
          </a:p>
          <a:p>
            <a:pPr>
              <a:lnSpc>
                <a:spcPct val="120000"/>
              </a:lnSpc>
              <a:spcBef>
                <a:spcPts val="600"/>
              </a:spcBef>
              <a:spcAft>
                <a:spcPts val="400"/>
              </a:spcAft>
              <a:defRPr sz="2000">
                <a:solidFill>
                  <a:srgbClr val="333333"/>
                </a:solidFill>
              </a:defRPr>
            </a:pPr>
            <a:r>
              <a:t>GDTR 寄存器（48 位）：</a:t>
            </a:r>
            <a:br/>
            <a:r>
              <a:t>  低 16 位 = GDT 长度（字节数-1）</a:t>
            </a:r>
            <a:br/>
            <a:r>
              <a:t>  高 32 位 = GDT 起始地址</a:t>
            </a:r>
            <a:br/>
            <a:r>
              <a:t>  使用 lgdt [GDT指针] 加载 GDTR</a:t>
            </a:r>
          </a:p>
          <a:p>
            <a:pPr>
              <a:lnSpc>
                <a:spcPct val="120000"/>
              </a:lnSpc>
              <a:spcBef>
                <a:spcPts val="600"/>
              </a:spcBef>
              <a:spcAft>
                <a:spcPts val="400"/>
              </a:spcAft>
              <a:defRPr sz="2000">
                <a:solidFill>
                  <a:srgbClr val="333333"/>
                </a:solidFill>
              </a:defRPr>
            </a:pPr>
            <a:r>
              <a:t>GDT 第 0 项必须是空描述符（8 字节全为 0）</a:t>
            </a:r>
            <a:br/>
            <a:r>
              <a:t>  原因：防止未初始化的段选择子（值为 0）被误用</a:t>
            </a:r>
          </a:p>
          <a:p>
            <a:pPr>
              <a:lnSpc>
                <a:spcPct val="120000"/>
              </a:lnSpc>
              <a:spcBef>
                <a:spcPts val="600"/>
              </a:spcBef>
              <a:spcAft>
                <a:spcPts val="400"/>
              </a:spcAft>
              <a:defRPr sz="2000">
                <a:solidFill>
                  <a:srgbClr val="333333"/>
                </a:solidFill>
              </a:defRPr>
            </a:pPr>
            <a:r>
              <a:t>典型 GDT 结构（平坦模型）：</a:t>
            </a:r>
            <a:br/>
            <a:r>
              <a:t>  GDT[0] = 空描述符</a:t>
            </a:r>
            <a:br/>
            <a:r>
              <a:t>  GDT[1] = 代码段（Base=0, Limit=4GB, Type=可执行+可读）</a:t>
            </a:r>
            <a:br/>
            <a:r>
              <a:t>  GDT[2] = 数据段（Base=0, Limit=4GB, Type=可读+可写）</a:t>
            </a:r>
            <a:br/>
            <a:r>
              <a:t>  GDT[3] = 显存段（Base=0xB8000, Limit=0xFA0, Type=可读+可写）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06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6492240"/>
            <a:ext cx="11277295" cy="27432"/>
          </a:xfrm>
          <a:prstGeom prst="rect">
            <a:avLst/>
          </a:prstGeom>
          <a:solidFill>
            <a:srgbClr val="006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510528"/>
            <a:ext cx="112772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66666"/>
                </a:solidFill>
              </a:defRPr>
            </a:pPr>
            <a:r>
              <a:t>中山大学计算机学院 操作系统实验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4D26"/>
                </a:solidFill>
              </a:defRPr>
            </a:pPr>
            <a:r>
              <a:t>GDT 定义（NASM 汇编）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097280"/>
            <a:ext cx="10972800" cy="5029200"/>
          </a:xfrm>
          <a:prstGeom prst="roundRect">
            <a:avLst/>
          </a:prstGeom>
          <a:solidFill>
            <a:srgbClr val="263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0" y="118872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66666"/>
                </a:solidFill>
              </a:defRPr>
            </a:pPr>
            <a:r>
              <a:t>nasm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371600"/>
            <a:ext cx="102412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E0E0E0"/>
                </a:solidFill>
                <a:latin typeface="Courier New"/>
              </a:defRPr>
            </a:pPr>
            <a:r>
              <a:t>GDT_START: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E0E0E0"/>
                </a:solidFill>
                <a:latin typeface="Courier New"/>
              </a:defRPr>
            </a:pPr>
            <a:r>
              <a:t>    ; 第0个段描述符（空描述符，8字节全0）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E0E0E0"/>
                </a:solidFill>
                <a:latin typeface="Courier New"/>
              </a:defRPr>
            </a:pPr>
            <a:r>
              <a:t>    dd 0x00000000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E0E0E0"/>
                </a:solidFill>
                <a:latin typeface="Courier New"/>
              </a:defRPr>
            </a:pPr>
            <a:r>
              <a:t>    dd 0x00000000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E0E0E0"/>
                </a:solidFill>
                <a:latin typeface="Courier New"/>
              </a:defRPr>
            </a:pPr>
          </a:p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E0E0E0"/>
                </a:solidFill>
                <a:latin typeface="Courier New"/>
              </a:defRPr>
            </a:pPr>
            <a:r>
              <a:t>    ; 第1个段描述符：代码段（Base=0, Limit=4GB, 32位）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E0E0E0"/>
                </a:solidFill>
                <a:latin typeface="Courier New"/>
              </a:defRPr>
            </a:pPr>
            <a:r>
              <a:t>    ; Limit[15:0] = 0xFFFF, Base[15:0] = 0x0000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E0E0E0"/>
                </a:solidFill>
                <a:latin typeface="Courier New"/>
              </a:defRPr>
            </a:pPr>
            <a:r>
              <a:t>    dw 0xFFFF, 0x0000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E0E0E0"/>
                </a:solidFill>
                <a:latin typeface="Courier New"/>
              </a:defRPr>
            </a:pPr>
            <a:r>
              <a:t>    ; Base[23:16] = 0x00, Type=1010b（可执行+可读）, S=1, DPL=00, P=1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E0E0E0"/>
                </a:solidFill>
                <a:latin typeface="Courier New"/>
              </a:defRPr>
            </a:pPr>
            <a:r>
              <a:t>    db 0x00, 10011010b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E0E0E0"/>
                </a:solidFill>
                <a:latin typeface="Courier New"/>
              </a:defRPr>
            </a:pPr>
            <a:r>
              <a:t>    ; G=1, D=1, Limit[19:16]=1111b, Base[31:24]=0x00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E0E0E0"/>
                </a:solidFill>
                <a:latin typeface="Courier New"/>
              </a:defRPr>
            </a:pPr>
            <a:r>
              <a:t>    db 11001111b, 0x00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E0E0E0"/>
                </a:solidFill>
                <a:latin typeface="Courier New"/>
              </a:defRPr>
            </a:pPr>
          </a:p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E0E0E0"/>
                </a:solidFill>
                <a:latin typeface="Courier New"/>
              </a:defRPr>
            </a:pPr>
            <a:r>
              <a:t>    ; 第2个段描述符：数据段（Base=0, Limit=4GB, 32位）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E0E0E0"/>
                </a:solidFill>
                <a:latin typeface="Courier New"/>
              </a:defRPr>
            </a:pPr>
            <a:r>
              <a:t>    dw 0xFFFF, 0x0000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E0E0E0"/>
                </a:solidFill>
                <a:latin typeface="Courier New"/>
              </a:defRPr>
            </a:pPr>
            <a:r>
              <a:t>    db 0x00, 10010010b  ; Type=0010b（可读+可写）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E0E0E0"/>
                </a:solidFill>
                <a:latin typeface="Courier New"/>
              </a:defRPr>
            </a:pPr>
            <a:r>
              <a:t>    db 11001111b, 0x00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E0E0E0"/>
                </a:solidFill>
                <a:latin typeface="Courier New"/>
              </a:defRPr>
            </a:pPr>
          </a:p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E0E0E0"/>
                </a:solidFill>
                <a:latin typeface="Courier New"/>
              </a:defRPr>
            </a:pPr>
            <a:r>
              <a:t>GDT_END: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E0E0E0"/>
                </a:solidFill>
                <a:latin typeface="Courier New"/>
              </a:defRPr>
            </a:pPr>
          </a:p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E0E0E0"/>
                </a:solidFill>
                <a:latin typeface="Courier New"/>
              </a:defRPr>
            </a:pPr>
            <a:r>
              <a:t>GDT_PTR: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E0E0E0"/>
                </a:solidFill>
                <a:latin typeface="Courier New"/>
              </a:defRPr>
            </a:pPr>
            <a:r>
              <a:t>    dw GDT_END - GDT_START - 1  ; GDT 长度（字节数-1）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E0E0E0"/>
                </a:solidFill>
                <a:latin typeface="Courier New"/>
              </a:defRPr>
            </a:pPr>
            <a:r>
              <a:t>    dd GDT_START                 ; GDT 起始地址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E0E0E0"/>
                </a:solidFill>
                <a:latin typeface="Courier New"/>
              </a:defRPr>
            </a:pPr>
          </a:p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E0E0E0"/>
                </a:solidFill>
                <a:latin typeface="Courier New"/>
              </a:defRPr>
            </a:pPr>
            <a:r>
              <a:t>CODE_SELECTOR equ 0x08  ; 代码段选择子（指向 GDT[1]）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E0E0E0"/>
                </a:solidFill>
                <a:latin typeface="Courier New"/>
              </a:defRPr>
            </a:pPr>
            <a:r>
              <a:t>DATA_SELECTOR equ 0x10  ; 数据段选择子（指向 GDT[2]）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66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AADDAA"/>
                </a:solidFill>
              </a:defRPr>
            </a:pPr>
            <a:r>
              <a:t>Part 05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56032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</a:defRPr>
            </a:pPr>
            <a:r>
              <a:t>进入保护模式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0233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DDEEDD"/>
                </a:solidFill>
              </a:defRPr>
            </a:pPr>
            <a:r>
              <a:t>5 步切换流程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06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6492240"/>
            <a:ext cx="11277295" cy="27432"/>
          </a:xfrm>
          <a:prstGeom prst="rect">
            <a:avLst/>
          </a:prstGeom>
          <a:solidFill>
            <a:srgbClr val="006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510528"/>
            <a:ext cx="112772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66666"/>
                </a:solidFill>
              </a:defRPr>
            </a:pPr>
            <a:r>
              <a:t>中山大学计算机学院 操作系统实验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4D26"/>
                </a:solidFill>
              </a:defRPr>
            </a:pPr>
            <a:r>
              <a:t>从实模式切换到保护模式的 5 步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051560"/>
            <a:ext cx="1828800" cy="36576"/>
          </a:xfrm>
          <a:prstGeom prst="rect">
            <a:avLst/>
          </a:prstGeom>
          <a:solidFill>
            <a:srgbClr val="006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Bef>
                <a:spcPts val="600"/>
              </a:spcBef>
              <a:spcAft>
                <a:spcPts val="400"/>
              </a:spcAft>
              <a:defRPr sz="2000">
                <a:solidFill>
                  <a:srgbClr val="333333"/>
                </a:solidFill>
              </a:defRPr>
            </a:pPr>
            <a:r>
              <a:t>第1步：关闭中断（cli）</a:t>
            </a:r>
            <a:br/>
            <a:r>
              <a:t>  实模式的中断向量表（IVT）在保护模式下无效，必须先关闭中断</a:t>
            </a:r>
          </a:p>
          <a:p>
            <a:pPr>
              <a:lnSpc>
                <a:spcPct val="120000"/>
              </a:lnSpc>
              <a:spcBef>
                <a:spcPts val="600"/>
              </a:spcBef>
              <a:spcAft>
                <a:spcPts val="400"/>
              </a:spcAft>
              <a:defRPr sz="2000">
                <a:solidFill>
                  <a:srgbClr val="333333"/>
                </a:solidFill>
              </a:defRPr>
            </a:pPr>
            <a:r>
              <a:t>第2步：加载 GDT（lgdt [GDT_PTR]）</a:t>
            </a:r>
            <a:br/>
            <a:r>
              <a:t>  将 GDT 的地址和长度加载到 GDTR 寄存器</a:t>
            </a:r>
          </a:p>
          <a:p>
            <a:pPr>
              <a:lnSpc>
                <a:spcPct val="120000"/>
              </a:lnSpc>
              <a:spcBef>
                <a:spcPts val="600"/>
              </a:spcBef>
              <a:spcAft>
                <a:spcPts val="400"/>
              </a:spcAft>
              <a:defRPr sz="2000">
                <a:solidFill>
                  <a:srgbClr val="333333"/>
                </a:solidFill>
              </a:defRPr>
            </a:pPr>
            <a:r>
              <a:t>第3步：打开 A20 地址线（允许访问 1MB 以上内存）</a:t>
            </a:r>
            <a:br/>
            <a:r>
              <a:t>  实模式下 A20 地址线被禁用（地址回绕到 0），保护模式需要启用</a:t>
            </a:r>
          </a:p>
          <a:p>
            <a:pPr>
              <a:lnSpc>
                <a:spcPct val="120000"/>
              </a:lnSpc>
              <a:spcBef>
                <a:spcPts val="600"/>
              </a:spcBef>
              <a:spcAft>
                <a:spcPts val="400"/>
              </a:spcAft>
              <a:defRPr sz="2000">
                <a:solidFill>
                  <a:srgbClr val="333333"/>
                </a:solidFill>
              </a:defRPr>
            </a:pPr>
            <a:r>
              <a:t>第4步：设置 CR0 寄存器的 PE 位（Protection Enable）</a:t>
            </a:r>
            <a:br/>
            <a:r>
              <a:t>  CR0.PE = 1 表示进入保护模式（Bit 0）</a:t>
            </a:r>
            <a:br/>
            <a:r>
              <a:t>  mov eax, cr0 → or eax, 1 → mov cr0, eax</a:t>
            </a:r>
          </a:p>
          <a:p>
            <a:pPr>
              <a:lnSpc>
                <a:spcPct val="120000"/>
              </a:lnSpc>
              <a:spcBef>
                <a:spcPts val="600"/>
              </a:spcBef>
              <a:spcAft>
                <a:spcPts val="400"/>
              </a:spcAft>
              <a:defRPr sz="2000">
                <a:solidFill>
                  <a:srgbClr val="333333"/>
                </a:solidFill>
              </a:defRPr>
            </a:pPr>
            <a:r>
              <a:t>第5步：跳转到保护模式代码（jmp 段选择子:偏移）</a:t>
            </a:r>
            <a:br/>
            <a:r>
              <a:t>  长跳转（far jump）刷新 CS 寄存器和指令流水线</a:t>
            </a:r>
            <a:br/>
            <a:r>
              <a:t>  jmp CODE_SELECTOR:protect_mode_entry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06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6492240"/>
            <a:ext cx="11277295" cy="27432"/>
          </a:xfrm>
          <a:prstGeom prst="rect">
            <a:avLst/>
          </a:prstGeom>
          <a:solidFill>
            <a:srgbClr val="006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510528"/>
            <a:ext cx="112772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66666"/>
                </a:solidFill>
              </a:defRPr>
            </a:pPr>
            <a:r>
              <a:t>中山大学计算机学院 操作系统实验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4D26"/>
                </a:solidFill>
              </a:defRPr>
            </a:pPr>
            <a:r>
              <a:t>进入保护模式流程图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051560"/>
            <a:ext cx="1828800" cy="36576"/>
          </a:xfrm>
          <a:prstGeom prst="rect">
            <a:avLst/>
          </a:prstGeom>
          <a:solidFill>
            <a:srgbClr val="006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28016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i="1">
                <a:solidFill>
                  <a:srgbClr val="666666"/>
                </a:solidFill>
              </a:defRPr>
            </a:pPr>
            <a:r>
              <a:t>从 16 位实模式切换到 32 位保护模式的关键步骤</a:t>
            </a:r>
          </a:p>
        </p:txBody>
      </p:sp>
      <p:sp>
        <p:nvSpPr>
          <p:cNvPr id="8" name="Oval 7"/>
          <p:cNvSpPr/>
          <p:nvPr/>
        </p:nvSpPr>
        <p:spPr>
          <a:xfrm>
            <a:off x="914400" y="1950962"/>
            <a:ext cx="348185" cy="348185"/>
          </a:xfrm>
          <a:prstGeom prst="ellipse">
            <a:avLst/>
          </a:prstGeom>
          <a:solidFill>
            <a:srgbClr val="006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9" name="Rectangle 8"/>
          <p:cNvSpPr/>
          <p:nvPr/>
        </p:nvSpPr>
        <p:spPr>
          <a:xfrm>
            <a:off x="1554480" y="1920240"/>
            <a:ext cx="64008" cy="409630"/>
          </a:xfrm>
          <a:prstGeom prst="rect">
            <a:avLst/>
          </a:prstGeom>
          <a:solidFill>
            <a:srgbClr val="006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618488" y="1920240"/>
            <a:ext cx="9811512" cy="409630"/>
          </a:xfrm>
          <a:prstGeom prst="rect">
            <a:avLst/>
          </a:prstGeom>
          <a:solidFill>
            <a:srgbClr val="E8F5E9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137160"/>
          <a:lstStyle/>
          <a:p>
            <a:pPr algn="l">
              <a:defRPr sz="1500" b="1">
                <a:solidFill>
                  <a:srgbClr val="333333"/>
                </a:solidFill>
              </a:defRPr>
            </a:pPr>
            <a:r>
              <a:t>关闭中断（cli） - 防止实模式中断干扰</a:t>
            </a:r>
          </a:p>
        </p:txBody>
      </p:sp>
      <p:sp>
        <p:nvSpPr>
          <p:cNvPr id="11" name="Down Arrow 10"/>
          <p:cNvSpPr/>
          <p:nvPr/>
        </p:nvSpPr>
        <p:spPr>
          <a:xfrm>
            <a:off x="6355080" y="2329870"/>
            <a:ext cx="274320" cy="184994"/>
          </a:xfrm>
          <a:prstGeom prst="downArrow">
            <a:avLst/>
          </a:prstGeom>
          <a:solidFill>
            <a:srgbClr val="BDBD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14400" y="2545586"/>
            <a:ext cx="348185" cy="348185"/>
          </a:xfrm>
          <a:prstGeom prst="ellipse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554480" y="2514864"/>
            <a:ext cx="64008" cy="40963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618488" y="2514864"/>
            <a:ext cx="9811512" cy="40963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137160"/>
          <a:lstStyle/>
          <a:p>
            <a:pPr algn="l">
              <a:defRPr sz="1500" b="0">
                <a:solidFill>
                  <a:srgbClr val="333333"/>
                </a:solidFill>
              </a:defRPr>
            </a:pPr>
            <a:r>
              <a:t>定义 GDT（全局描述符表） - 3个描述符</a:t>
            </a:r>
          </a:p>
        </p:txBody>
      </p:sp>
      <p:sp>
        <p:nvSpPr>
          <p:cNvPr id="15" name="Down Arrow 14"/>
          <p:cNvSpPr/>
          <p:nvPr/>
        </p:nvSpPr>
        <p:spPr>
          <a:xfrm>
            <a:off x="6355080" y="2924494"/>
            <a:ext cx="274320" cy="184994"/>
          </a:xfrm>
          <a:prstGeom prst="downArrow">
            <a:avLst/>
          </a:prstGeom>
          <a:solidFill>
            <a:srgbClr val="BDBD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14400" y="3140210"/>
            <a:ext cx="348185" cy="348185"/>
          </a:xfrm>
          <a:prstGeom prst="ellipse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554480" y="3109488"/>
            <a:ext cx="64008" cy="40963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618488" y="3109488"/>
            <a:ext cx="9811512" cy="40963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137160"/>
          <a:lstStyle/>
          <a:p>
            <a:pPr algn="l">
              <a:defRPr sz="1500" b="0">
                <a:solidFill>
                  <a:srgbClr val="333333"/>
                </a:solidFill>
              </a:defRPr>
            </a:pPr>
            <a:r>
              <a:t>加载 GDT（lgdt [GDT_PTR]） - 写入 GDTR</a:t>
            </a:r>
          </a:p>
        </p:txBody>
      </p:sp>
      <p:sp>
        <p:nvSpPr>
          <p:cNvPr id="19" name="Down Arrow 18"/>
          <p:cNvSpPr/>
          <p:nvPr/>
        </p:nvSpPr>
        <p:spPr>
          <a:xfrm>
            <a:off x="6355080" y="3519118"/>
            <a:ext cx="274320" cy="184994"/>
          </a:xfrm>
          <a:prstGeom prst="downArrow">
            <a:avLst/>
          </a:prstGeom>
          <a:solidFill>
            <a:srgbClr val="BDBD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914400" y="3734835"/>
            <a:ext cx="348185" cy="348185"/>
          </a:xfrm>
          <a:prstGeom prst="ellipse">
            <a:avLst/>
          </a:prstGeom>
          <a:solidFill>
            <a:srgbClr val="7B1F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554480" y="3704112"/>
            <a:ext cx="64008" cy="409630"/>
          </a:xfrm>
          <a:prstGeom prst="rect">
            <a:avLst/>
          </a:prstGeom>
          <a:solidFill>
            <a:srgbClr val="7B1F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618488" y="3704112"/>
            <a:ext cx="9811512" cy="40963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137160"/>
          <a:lstStyle/>
          <a:p>
            <a:pPr algn="l">
              <a:defRPr sz="1500" b="0">
                <a:solidFill>
                  <a:srgbClr val="333333"/>
                </a:solidFill>
              </a:defRPr>
            </a:pPr>
            <a:r>
              <a:t>打开 A20 地址线 - 允许访问 1MB+ 内存</a:t>
            </a:r>
          </a:p>
        </p:txBody>
      </p:sp>
      <p:sp>
        <p:nvSpPr>
          <p:cNvPr id="23" name="Down Arrow 22"/>
          <p:cNvSpPr/>
          <p:nvPr/>
        </p:nvSpPr>
        <p:spPr>
          <a:xfrm>
            <a:off x="6355080" y="4113742"/>
            <a:ext cx="274320" cy="184994"/>
          </a:xfrm>
          <a:prstGeom prst="downArrow">
            <a:avLst/>
          </a:prstGeom>
          <a:solidFill>
            <a:srgbClr val="BDBD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14400" y="4329459"/>
            <a:ext cx="348185" cy="348185"/>
          </a:xfrm>
          <a:prstGeom prst="ellipse">
            <a:avLst/>
          </a:prstGeom>
          <a:solidFill>
            <a:srgbClr val="E65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554480" y="4298737"/>
            <a:ext cx="64008" cy="409630"/>
          </a:xfrm>
          <a:prstGeom prst="rect">
            <a:avLst/>
          </a:prstGeom>
          <a:solidFill>
            <a:srgbClr val="E65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618488" y="4298737"/>
            <a:ext cx="9811512" cy="40963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137160"/>
          <a:lstStyle/>
          <a:p>
            <a:pPr algn="l">
              <a:defRPr sz="1500" b="0">
                <a:solidFill>
                  <a:srgbClr val="333333"/>
                </a:solidFill>
              </a:defRPr>
            </a:pPr>
            <a:r>
              <a:t>设置 CR0.PE = 1 - 启用保护模式</a:t>
            </a:r>
          </a:p>
        </p:txBody>
      </p:sp>
      <p:sp>
        <p:nvSpPr>
          <p:cNvPr id="27" name="Down Arrow 26"/>
          <p:cNvSpPr/>
          <p:nvPr/>
        </p:nvSpPr>
        <p:spPr>
          <a:xfrm>
            <a:off x="6355080" y="4708367"/>
            <a:ext cx="274320" cy="184994"/>
          </a:xfrm>
          <a:prstGeom prst="downArrow">
            <a:avLst/>
          </a:prstGeom>
          <a:solidFill>
            <a:srgbClr val="BDBD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914400" y="4924083"/>
            <a:ext cx="348185" cy="348185"/>
          </a:xfrm>
          <a:prstGeom prst="ellipse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6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554480" y="4893361"/>
            <a:ext cx="64008" cy="409630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1618488" y="4893361"/>
            <a:ext cx="9811512" cy="40963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137160"/>
          <a:lstStyle/>
          <a:p>
            <a:pPr algn="l">
              <a:defRPr sz="1500" b="0">
                <a:solidFill>
                  <a:srgbClr val="333333"/>
                </a:solidFill>
              </a:defRPr>
            </a:pPr>
            <a:r>
              <a:t>长跳转（jmp 0x08:标号） - 刷新 CS 和流水线</a:t>
            </a:r>
          </a:p>
        </p:txBody>
      </p:sp>
      <p:sp>
        <p:nvSpPr>
          <p:cNvPr id="31" name="Down Arrow 30"/>
          <p:cNvSpPr/>
          <p:nvPr/>
        </p:nvSpPr>
        <p:spPr>
          <a:xfrm>
            <a:off x="6355080" y="5302991"/>
            <a:ext cx="274320" cy="184994"/>
          </a:xfrm>
          <a:prstGeom prst="downArrow">
            <a:avLst/>
          </a:prstGeom>
          <a:solidFill>
            <a:srgbClr val="BDBD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914400" y="5518707"/>
            <a:ext cx="348185" cy="348185"/>
          </a:xfrm>
          <a:prstGeom prst="ellipse">
            <a:avLst/>
          </a:prstGeom>
          <a:solidFill>
            <a:srgbClr val="006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7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554480" y="5487985"/>
            <a:ext cx="64008" cy="409630"/>
          </a:xfrm>
          <a:prstGeom prst="rect">
            <a:avLst/>
          </a:prstGeom>
          <a:solidFill>
            <a:srgbClr val="006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1618488" y="5487985"/>
            <a:ext cx="9811512" cy="40963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137160"/>
          <a:lstStyle/>
          <a:p>
            <a:pPr algn="l">
              <a:defRPr sz="1500" b="0">
                <a:solidFill>
                  <a:srgbClr val="333333"/>
                </a:solidFill>
              </a:defRPr>
            </a:pPr>
            <a:r>
              <a:t>初始化段寄存器（ds/es/ss = 0x10）</a:t>
            </a:r>
          </a:p>
        </p:txBody>
      </p:sp>
      <p:sp>
        <p:nvSpPr>
          <p:cNvPr id="35" name="Down Arrow 34"/>
          <p:cNvSpPr/>
          <p:nvPr/>
        </p:nvSpPr>
        <p:spPr>
          <a:xfrm>
            <a:off x="6355080" y="5897615"/>
            <a:ext cx="274320" cy="184994"/>
          </a:xfrm>
          <a:prstGeom prst="downArrow">
            <a:avLst/>
          </a:prstGeom>
          <a:solidFill>
            <a:srgbClr val="BDBD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914400" y="6113332"/>
            <a:ext cx="348185" cy="348185"/>
          </a:xfrm>
          <a:prstGeom prst="ellipse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8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554480" y="6082609"/>
            <a:ext cx="64008" cy="40963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1618488" y="6082609"/>
            <a:ext cx="9811512" cy="409630"/>
          </a:xfrm>
          <a:prstGeom prst="rect">
            <a:avLst/>
          </a:prstGeom>
          <a:solidFill>
            <a:srgbClr val="E3F2FD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137160"/>
          <a:lstStyle/>
          <a:p>
            <a:pPr algn="l">
              <a:defRPr sz="1500" b="1">
                <a:solidFill>
                  <a:srgbClr val="333333"/>
                </a:solidFill>
              </a:defRPr>
            </a:pPr>
            <a:r>
              <a:t>保护模式代码开始执行 - 32位寻址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06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6492240"/>
            <a:ext cx="11277295" cy="27432"/>
          </a:xfrm>
          <a:prstGeom prst="rect">
            <a:avLst/>
          </a:prstGeom>
          <a:solidFill>
            <a:srgbClr val="006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510528"/>
            <a:ext cx="112772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66666"/>
                </a:solidFill>
              </a:defRPr>
            </a:pPr>
            <a:r>
              <a:t>中山大学计算机学院 操作系统实验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4D26"/>
                </a:solidFill>
              </a:defRPr>
            </a:pPr>
            <a:r>
              <a:t>进入保护模式（完整代码）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097280"/>
            <a:ext cx="10972800" cy="5029200"/>
          </a:xfrm>
          <a:prstGeom prst="roundRect">
            <a:avLst/>
          </a:prstGeom>
          <a:solidFill>
            <a:srgbClr val="263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0" y="118872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66666"/>
                </a:solidFill>
              </a:defRPr>
            </a:pPr>
            <a:r>
              <a:t>nasm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371600"/>
            <a:ext cx="102412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E0E0E0"/>
                </a:solidFill>
                <a:latin typeface="Courier New"/>
              </a:defRPr>
            </a:pPr>
            <a:r>
              <a:t>[bits 16]  ; 实模式是 16 位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E0E0E0"/>
                </a:solidFill>
                <a:latin typeface="Courier New"/>
              </a:defRPr>
            </a:pPr>
          </a:p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E0E0E0"/>
                </a:solidFill>
                <a:latin typeface="Courier New"/>
              </a:defRPr>
            </a:pPr>
            <a:r>
              <a:t>; 第1步：关闭中断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E0E0E0"/>
                </a:solidFill>
                <a:latin typeface="Courier New"/>
              </a:defRPr>
            </a:pPr>
            <a:r>
              <a:t>cli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E0E0E0"/>
                </a:solidFill>
                <a:latin typeface="Courier New"/>
              </a:defRPr>
            </a:pPr>
          </a:p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E0E0E0"/>
                </a:solidFill>
                <a:latin typeface="Courier New"/>
              </a:defRPr>
            </a:pPr>
            <a:r>
              <a:t>; 第2步：加载 GDT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E0E0E0"/>
                </a:solidFill>
                <a:latin typeface="Courier New"/>
              </a:defRPr>
            </a:pPr>
            <a:r>
              <a:t>lgdt [GDT_PTR]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E0E0E0"/>
                </a:solidFill>
                <a:latin typeface="Courier New"/>
              </a:defRPr>
            </a:pPr>
          </a:p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E0E0E0"/>
                </a:solidFill>
                <a:latin typeface="Courier New"/>
              </a:defRPr>
            </a:pPr>
            <a:r>
              <a:t>; 第3步：打开 A20 地址线（通过键盘控制器 0x92 端口）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E0E0E0"/>
                </a:solidFill>
                <a:latin typeface="Courier New"/>
              </a:defRPr>
            </a:pPr>
            <a:r>
              <a:t>in al, 0x92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E0E0E0"/>
                </a:solidFill>
                <a:latin typeface="Courier New"/>
              </a:defRPr>
            </a:pPr>
            <a:r>
              <a:t>or al, 0000_0010b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E0E0E0"/>
                </a:solidFill>
                <a:latin typeface="Courier New"/>
              </a:defRPr>
            </a:pPr>
            <a:r>
              <a:t>out 0x92, al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E0E0E0"/>
                </a:solidFill>
                <a:latin typeface="Courier New"/>
              </a:defRPr>
            </a:pPr>
          </a:p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E0E0E0"/>
                </a:solidFill>
                <a:latin typeface="Courier New"/>
              </a:defRPr>
            </a:pPr>
            <a:r>
              <a:t>; 第4步：设置 CR0.PE = 1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E0E0E0"/>
                </a:solidFill>
                <a:latin typeface="Courier New"/>
              </a:defRPr>
            </a:pPr>
            <a:r>
              <a:t>mov eax, cr0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E0E0E0"/>
                </a:solidFill>
                <a:latin typeface="Courier New"/>
              </a:defRPr>
            </a:pPr>
            <a:r>
              <a:t>or eax, 1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E0E0E0"/>
                </a:solidFill>
                <a:latin typeface="Courier New"/>
              </a:defRPr>
            </a:pPr>
            <a:r>
              <a:t>mov cr0, eax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E0E0E0"/>
                </a:solidFill>
                <a:latin typeface="Courier New"/>
              </a:defRPr>
            </a:pPr>
          </a:p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E0E0E0"/>
                </a:solidFill>
                <a:latin typeface="Courier New"/>
              </a:defRPr>
            </a:pPr>
            <a:r>
              <a:t>; 第5步：长跳转到保护模式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E0E0E0"/>
                </a:solidFill>
                <a:latin typeface="Courier New"/>
              </a:defRPr>
            </a:pPr>
            <a:r>
              <a:t>jmp CODE_SELECTOR:protect_mode_entry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E0E0E0"/>
                </a:solidFill>
                <a:latin typeface="Courier New"/>
              </a:defRPr>
            </a:pPr>
          </a:p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E0E0E0"/>
                </a:solidFill>
                <a:latin typeface="Courier New"/>
              </a:defRPr>
            </a:pPr>
            <a:r>
              <a:t>[bits 32]  ; 保护模式是 32 位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E0E0E0"/>
                </a:solidFill>
                <a:latin typeface="Courier New"/>
              </a:defRPr>
            </a:pPr>
            <a:r>
              <a:t>protect_mode_entry: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E0E0E0"/>
                </a:solidFill>
                <a:latin typeface="Courier New"/>
              </a:defRPr>
            </a:pPr>
            <a:r>
              <a:t>    ; 初始化段寄存器（使用数据段选择子）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E0E0E0"/>
                </a:solidFill>
                <a:latin typeface="Courier New"/>
              </a:defRPr>
            </a:pPr>
            <a:r>
              <a:t>    mov ax, DATA_SELECTOR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E0E0E0"/>
                </a:solidFill>
                <a:latin typeface="Courier New"/>
              </a:defRPr>
            </a:pPr>
            <a:r>
              <a:t>    mov ds, ax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E0E0E0"/>
                </a:solidFill>
                <a:latin typeface="Courier New"/>
              </a:defRPr>
            </a:pPr>
            <a:r>
              <a:t>    mov es, ax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E0E0E0"/>
                </a:solidFill>
                <a:latin typeface="Courier New"/>
              </a:defRPr>
            </a:pPr>
            <a:r>
              <a:t>    mov ss, ax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E0E0E0"/>
                </a:solidFill>
                <a:latin typeface="Courier New"/>
              </a:defRPr>
            </a:pPr>
            <a:r>
              <a:t>    mov esp, 0x9000  ; 设置栈顶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E0E0E0"/>
                </a:solidFill>
                <a:latin typeface="Courier New"/>
              </a:defRPr>
            </a:pPr>
          </a:p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E0E0E0"/>
                </a:solidFill>
                <a:latin typeface="Courier New"/>
              </a:defRPr>
            </a:pPr>
            <a:r>
              <a:t>    ; 现在可以使用 32 位指令和访问 4GB 内存了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E0E0E0"/>
                </a:solidFill>
                <a:latin typeface="Courier New"/>
              </a:defRPr>
            </a:pPr>
            <a:r>
              <a:t>    ; ... 你的保护模式代码 ...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66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AADDAA"/>
                </a:solidFill>
              </a:defRPr>
            </a:pPr>
            <a:r>
              <a:t>Part 06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56032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</a:defRPr>
            </a:pPr>
            <a:r>
              <a:t>实验任务 (Assignment)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0233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DDEEDD"/>
                </a:solidFill>
              </a:defRPr>
            </a:pPr>
            <a:r>
              <a:t>DDL: 2026.04.07 23:59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06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6492240"/>
            <a:ext cx="11277295" cy="27432"/>
          </a:xfrm>
          <a:prstGeom prst="rect">
            <a:avLst/>
          </a:prstGeom>
          <a:solidFill>
            <a:srgbClr val="006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510528"/>
            <a:ext cx="112772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66666"/>
                </a:solidFill>
              </a:defRPr>
            </a:pPr>
            <a:r>
              <a:t>中山大学计算机学院 操作系统实验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4D26"/>
                </a:solidFill>
              </a:defRPr>
            </a:pPr>
            <a:r>
              <a:t>实验环境与提交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051560"/>
            <a:ext cx="1828800" cy="36576"/>
          </a:xfrm>
          <a:prstGeom prst="rect">
            <a:avLst/>
          </a:prstGeom>
          <a:solidFill>
            <a:srgbClr val="006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Bef>
                <a:spcPts val="600"/>
              </a:spcBef>
              <a:spcAft>
                <a:spcPts val="400"/>
              </a:spcAft>
              <a:defRPr sz="2000">
                <a:solidFill>
                  <a:srgbClr val="333333"/>
                </a:solidFill>
              </a:defRPr>
            </a:pPr>
            <a:r>
              <a:t>支持操作系统：Ubuntu、麒麟OS（Kylin OS）</a:t>
            </a:r>
          </a:p>
          <a:p>
            <a:pPr>
              <a:lnSpc>
                <a:spcPct val="120000"/>
              </a:lnSpc>
              <a:spcBef>
                <a:spcPts val="600"/>
              </a:spcBef>
              <a:spcAft>
                <a:spcPts val="400"/>
              </a:spcAft>
              <a:defRPr sz="2000">
                <a:solidFill>
                  <a:srgbClr val="333333"/>
                </a:solidFill>
              </a:defRPr>
            </a:pPr>
            <a:r>
              <a:t>基础工具：nasm、qemu-system-x86、gdb、make</a:t>
            </a:r>
          </a:p>
          <a:p>
            <a:pPr>
              <a:lnSpc>
                <a:spcPct val="120000"/>
              </a:lnSpc>
              <a:spcBef>
                <a:spcPts val="600"/>
              </a:spcBef>
              <a:spcAft>
                <a:spcPts val="400"/>
              </a:spcAft>
              <a:defRPr sz="2000">
                <a:solidFill>
                  <a:srgbClr val="333333"/>
                </a:solidFill>
              </a:defRPr>
            </a:pPr>
            <a:r>
              <a:t>麒麟OS说明：使用 qemu-system-x86_64 代替 qemu-system-i386</a:t>
            </a:r>
          </a:p>
          <a:p>
            <a:pPr>
              <a:lnSpc>
                <a:spcPct val="120000"/>
              </a:lnSpc>
              <a:spcBef>
                <a:spcPts val="600"/>
              </a:spcBef>
              <a:spcAft>
                <a:spcPts val="400"/>
              </a:spcAft>
              <a:defRPr sz="2000">
                <a:solidFill>
                  <a:srgbClr val="333333"/>
                </a:solidFill>
              </a:defRPr>
            </a:pPr>
            <a:r>
              <a:t>实验不限：语言（C/C++/Rust）、平台（Windows/Linux/macOS）、CPU（ARM/Intel/RISC-V）</a:t>
            </a:r>
          </a:p>
          <a:p>
            <a:pPr>
              <a:lnSpc>
                <a:spcPct val="120000"/>
              </a:lnSpc>
              <a:spcBef>
                <a:spcPts val="600"/>
              </a:spcBef>
              <a:spcAft>
                <a:spcPts val="400"/>
              </a:spcAft>
              <a:defRPr sz="2000">
                <a:solidFill>
                  <a:srgbClr val="333333"/>
                </a:solidFill>
              </a:defRPr>
            </a:pPr>
            <a:r>
              <a:t>提交内容：4个Assignment代码 + 实验报告</a:t>
            </a:r>
          </a:p>
          <a:p>
            <a:pPr>
              <a:lnSpc>
                <a:spcPct val="120000"/>
              </a:lnSpc>
              <a:spcBef>
                <a:spcPts val="600"/>
              </a:spcBef>
              <a:spcAft>
                <a:spcPts val="400"/>
              </a:spcAft>
              <a:defRPr sz="2000">
                <a:solidFill>
                  <a:srgbClr val="333333"/>
                </a:solidFill>
              </a:defRPr>
            </a:pPr>
            <a:r>
              <a:t>压缩包命名：lab3-姓名-学号.zip</a:t>
            </a:r>
          </a:p>
          <a:p>
            <a:pPr>
              <a:lnSpc>
                <a:spcPct val="120000"/>
              </a:lnSpc>
              <a:spcBef>
                <a:spcPts val="600"/>
              </a:spcBef>
              <a:spcAft>
                <a:spcPts val="400"/>
              </a:spcAft>
              <a:defRPr sz="2000">
                <a:solidFill>
                  <a:srgbClr val="333333"/>
                </a:solidFill>
              </a:defRPr>
            </a:pPr>
            <a:r>
              <a:t>报告要求：注明实验环境、每个Assignment的实现思路和结果截图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06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6492240"/>
            <a:ext cx="11277295" cy="27432"/>
          </a:xfrm>
          <a:prstGeom prst="rect">
            <a:avLst/>
          </a:prstGeom>
          <a:solidFill>
            <a:srgbClr val="006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510528"/>
            <a:ext cx="112772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66666"/>
                </a:solidFill>
              </a:defRPr>
            </a:pPr>
            <a:r>
              <a:t>中山大学计算机学院 操作系统实验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4D26"/>
                </a:solidFill>
              </a:defRPr>
            </a:pPr>
            <a:r>
              <a:t>Assignment 1: 磁盘加载（3小题）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051560"/>
            <a:ext cx="1828800" cy="36576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spcAft>
                <a:spcPts val="400"/>
              </a:spcAft>
              <a:defRPr sz="2000" b="1">
                <a:solidFill>
                  <a:srgbClr val="C62828"/>
                </a:solidFill>
              </a:defRPr>
            </a:pPr>
            <a:r>
              <a:t>1.1 复现Example 1</a:t>
            </a:r>
          </a:p>
          <a:p>
            <a:pPr>
              <a:lnSpc>
                <a:spcPct val="120000"/>
              </a:lnSpc>
              <a:spcBef>
                <a:spcPts val="200"/>
              </a:spcBef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复现Example 1，说明如何使用LBA方式读取硬盘。可参考Ucore、Xv6等系统源码实现自己的磁盘访问。</a:t>
            </a:r>
            <a:br/>
            <a:r>
              <a:t>提示：src文件夹提供了makefile，可使用make快速完成编译和运行。</a:t>
            </a:r>
            <a:br/>
            <a:r>
              <a:t>麒麟OS用户：makefile自动检测QEMU命令，直接使用'make build &amp;&amp; make run'。</a:t>
            </a:r>
          </a:p>
          <a:p>
            <a:pPr>
              <a:spcBef>
                <a:spcPts val="1000"/>
              </a:spcBef>
              <a:spcAft>
                <a:spcPts val="400"/>
              </a:spcAft>
              <a:defRPr sz="2000" b="1">
                <a:solidFill>
                  <a:srgbClr val="C62828"/>
                </a:solidFill>
              </a:defRPr>
            </a:pPr>
            <a:r>
              <a:t>1.2 CHS方式读取硬盘</a:t>
            </a:r>
          </a:p>
          <a:p>
            <a:pPr>
              <a:lnSpc>
                <a:spcPct val="120000"/>
              </a:lnSpc>
              <a:spcBef>
                <a:spcPts val="200"/>
              </a:spcBef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将LBA28读取方式改为CHS（Cylinder-Head-Sector）方式，使用BIOS int 13h中断。</a:t>
            </a:r>
            <a:br/>
            <a:r>
              <a:t>给出LBA→CHS转换公式：C = ⌊LBA÷(SPT×HPC)⌋, H = ⌊LBA÷SPT⌋ mod HPC, S = (LBA mod SPT)+1</a:t>
            </a:r>
            <a:br/>
            <a:r>
              <a:t>关键参数：驱动器号DL=80h，每磁道扇区数=63，每柱面磁头数=18。</a:t>
            </a:r>
          </a:p>
          <a:p>
            <a:pPr>
              <a:spcBef>
                <a:spcPts val="1000"/>
              </a:spcBef>
              <a:spcAft>
                <a:spcPts val="400"/>
              </a:spcAft>
              <a:defRPr sz="2000" b="1">
                <a:solidFill>
                  <a:srgbClr val="C62828"/>
                </a:solidFill>
              </a:defRPr>
            </a:pPr>
            <a:r>
              <a:t>1.3 加载校验</a:t>
            </a:r>
          </a:p>
          <a:p>
            <a:pPr>
              <a:lnSpc>
                <a:spcPct val="120000"/>
              </a:lnSpc>
              <a:spcBef>
                <a:spcPts val="200"/>
              </a:spcBef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在bootloader末尾放置4字节魔数（如0xCAFEBABE）。MBR加载完成后校验魔数是否正确。</a:t>
            </a:r>
            <a:br/>
            <a:r>
              <a:t>如果正确输出'BOOT OK'并跳转，否则输出'BOOT ERR'并停机(hlt)。</a:t>
            </a:r>
            <a:br/>
            <a:r>
              <a:t>提示：魔数在内存中的位置 = 0x7e00 + bootloader大小 - 4。</a:t>
            </a:r>
            <a:br/>
            <a:r>
              <a:t>截图展示校验通过和校验失败两种情况。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06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6492240"/>
            <a:ext cx="11277295" cy="27432"/>
          </a:xfrm>
          <a:prstGeom prst="rect">
            <a:avLst/>
          </a:prstGeom>
          <a:solidFill>
            <a:srgbClr val="006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510528"/>
            <a:ext cx="112772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66666"/>
                </a:solidFill>
              </a:defRPr>
            </a:pPr>
            <a:r>
              <a:t>中山大学计算机学院 操作系统实验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4D26"/>
                </a:solidFill>
              </a:defRPr>
            </a:pPr>
            <a:r>
              <a:t>Assignment 2: 保护模式分析（3小题）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051560"/>
            <a:ext cx="1828800" cy="36576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spcAft>
                <a:spcPts val="400"/>
              </a:spcAft>
              <a:defRPr sz="2000" b="1">
                <a:solidFill>
                  <a:srgbClr val="C62828"/>
                </a:solidFill>
              </a:defRPr>
            </a:pPr>
            <a:r>
              <a:t>2.1 调试保护模式（4个关键步骤）</a:t>
            </a:r>
          </a:p>
          <a:p>
            <a:pPr>
              <a:lnSpc>
                <a:spcPct val="120000"/>
              </a:lnSpc>
              <a:spcBef>
                <a:spcPts val="200"/>
              </a:spcBef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使用gdb在进入保护模式的4个重要步骤设置断点：</a:t>
            </a:r>
            <a:br/>
            <a:r>
              <a:t>①加载GDT（lgdt）②打开A20地址线 ③设置CR0.PE=1 ④远跳转（jmp dword）</a:t>
            </a:r>
            <a:br/>
            <a:r>
              <a:t>结合代码和寄存器内容分析这4个步骤。gdb使用参考appendix的debug教程。</a:t>
            </a:r>
            <a:br/>
            <a:r>
              <a:t>ARM64平台说明：如GDB不支持x86调试，可使用QEMU Monitor（info registers命令）。</a:t>
            </a:r>
          </a:p>
          <a:p>
            <a:pPr>
              <a:spcBef>
                <a:spcPts val="1000"/>
              </a:spcBef>
              <a:spcAft>
                <a:spcPts val="400"/>
              </a:spcAft>
              <a:defRPr sz="2000" b="1">
                <a:solidFill>
                  <a:srgbClr val="C62828"/>
                </a:solidFill>
              </a:defRPr>
            </a:pPr>
            <a:r>
              <a:t>2.2 手工解析段描述符</a:t>
            </a:r>
          </a:p>
          <a:p>
            <a:pPr>
              <a:lnSpc>
                <a:spcPct val="120000"/>
              </a:lnSpc>
              <a:spcBef>
                <a:spcPts val="200"/>
              </a:spcBef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从内存或调试器读取第2个描述符（数据段，GDT偏移0x08）的原始8字节十六进制内容。</a:t>
            </a:r>
            <a:br/>
            <a:r>
              <a:t>手工解析字段：段基地址Base（32位）、段界限Limit（20位）、G位、D/B位、S位、TYPE字段、DPL、P位。</a:t>
            </a:r>
            <a:br/>
            <a:r>
              <a:t>提示：使用gdb的'x /2xw GDT地址+8'或QEMU Monitor的'xp /2xw 0x8808'读取原始内容。</a:t>
            </a:r>
            <a:br/>
            <a:r>
              <a:t>思考：Linux-0.11是小端存储还是大端存储？</a:t>
            </a:r>
          </a:p>
          <a:p>
            <a:pPr>
              <a:spcBef>
                <a:spcPts val="1000"/>
              </a:spcBef>
              <a:spcAft>
                <a:spcPts val="400"/>
              </a:spcAft>
              <a:defRPr sz="2000" b="1">
                <a:solidFill>
                  <a:srgbClr val="C62828"/>
                </a:solidFill>
              </a:defRPr>
            </a:pPr>
            <a:r>
              <a:t>2.3 自定义段描述符</a:t>
            </a:r>
          </a:p>
          <a:p>
            <a:pPr>
              <a:lnSpc>
                <a:spcPct val="120000"/>
              </a:lnSpc>
              <a:spcBef>
                <a:spcPts val="200"/>
              </a:spcBef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向GDT新增第6个段描述符（偏移0x28）：数据段，基地址0x7000，界限0x1FFF，粒度字节，DPL=0。</a:t>
            </a:r>
            <a:br/>
            <a:r>
              <a:t>将选择子0x28加载到FS寄存器。通过FS:0写入标识字符串（如学号）到物理地址0x7000。</a:t>
            </a:r>
            <a:br/>
            <a:r>
              <a:t>然后通过DS段读取物理地址0x7000的内容并输出，验证两种段访问方式指向同一物理地址。</a:t>
            </a:r>
            <a:br/>
            <a:r>
              <a:t>提示：记得修改GDTR界限值（从39改为47，即6×8-1）。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06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6492240"/>
            <a:ext cx="11277295" cy="27432"/>
          </a:xfrm>
          <a:prstGeom prst="rect">
            <a:avLst/>
          </a:prstGeom>
          <a:solidFill>
            <a:srgbClr val="006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510528"/>
            <a:ext cx="112772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66666"/>
                </a:solidFill>
              </a:defRPr>
            </a:pPr>
            <a:r>
              <a:t>中山大学计算机学院 操作系统实验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4D26"/>
                </a:solidFill>
              </a:defRPr>
            </a:pPr>
            <a:r>
              <a:t>Assignment 3: 32位保护模式编程（2小题）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051560"/>
            <a:ext cx="1828800" cy="36576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spcAft>
                <a:spcPts val="400"/>
              </a:spcAft>
              <a:defRPr sz="2000" b="1">
                <a:solidFill>
                  <a:srgbClr val="C62828"/>
                </a:solidFill>
              </a:defRPr>
            </a:pPr>
            <a:r>
              <a:t>3.1 移植Lab2程序到保护模式</a:t>
            </a:r>
          </a:p>
          <a:p>
            <a:pPr>
              <a:lnSpc>
                <a:spcPct val="120000"/>
              </a:lnSpc>
              <a:spcBef>
                <a:spcPts val="200"/>
              </a:spcBef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改造Lab2-Assignment 4为32位代码，在保护模式下执行自定义汇编程序。</a:t>
            </a:r>
            <a:br/>
            <a:r>
              <a:t>提示①：进入保护模式后，BIOS实模式中断（如int 10h、int 16h）不再有效，需直接操作硬件。</a:t>
            </a:r>
            <a:br/>
            <a:r>
              <a:t>提示②：访问显存需确保段寄存器加载了正确的选择子（查看Example 2的第4个描述符-视频段）。</a:t>
            </a:r>
            <a:br/>
            <a:r>
              <a:t>提示③：使用[bits 32]伪指令和32位寄存器（eax、ebx等）。</a:t>
            </a:r>
          </a:p>
          <a:p>
            <a:pPr>
              <a:spcBef>
                <a:spcPts val="1000"/>
              </a:spcBef>
              <a:spcAft>
                <a:spcPts val="400"/>
              </a:spcAft>
              <a:defRPr sz="2000" b="1">
                <a:solidFill>
                  <a:srgbClr val="C62828"/>
                </a:solidFill>
              </a:defRPr>
            </a:pPr>
            <a:r>
              <a:t>3.2 实现32位十六进制内存转储函数</a:t>
            </a:r>
          </a:p>
          <a:p>
            <a:pPr>
              <a:lnSpc>
                <a:spcPct val="120000"/>
              </a:lnSpc>
              <a:spcBef>
                <a:spcPts val="200"/>
              </a:spcBef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编写hex_dump子程序（输入：ESI=起始地址，ECX=字节数）。</a:t>
            </a:r>
            <a:br/>
            <a:r>
              <a:t>显示格式：'7C00: EA 05 7C 00 00 ...'（地址+冒号+16字节hex内容）。</a:t>
            </a:r>
            <a:br/>
            <a:r>
              <a:t>每字节用两位十六进制表示（不足补零），字节间用空格分隔。使用保护模式VGA显存（GS段）输出。</a:t>
            </a:r>
            <a:br/>
            <a:r>
              <a:t>提示：构造查找表'hex_table db 0123456789ABCDEF'，用mov al, [hex_table + nibble]转换。</a:t>
            </a:r>
            <a:br/>
            <a:r>
              <a:t>对GDT所在内存（0x8800开始，至少32字节）进行hex dump，与Assignment 2.2手工解析结果对比验证。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06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6492240"/>
            <a:ext cx="11277295" cy="27432"/>
          </a:xfrm>
          <a:prstGeom prst="rect">
            <a:avLst/>
          </a:prstGeom>
          <a:solidFill>
            <a:srgbClr val="006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510528"/>
            <a:ext cx="112772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66666"/>
                </a:solidFill>
              </a:defRPr>
            </a:pPr>
            <a:r>
              <a:t>中山大学计算机学院 操作系统实验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4D26"/>
                </a:solidFill>
              </a:defRPr>
            </a:pPr>
            <a:r>
              <a:t>Assignment 4: 综合应用（选做加分）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051560"/>
            <a:ext cx="1828800" cy="36576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spcAft>
                <a:spcPts val="400"/>
              </a:spcAft>
              <a:defRPr sz="2000" b="1">
                <a:solidFill>
                  <a:srgbClr val="C62828"/>
                </a:solidFill>
              </a:defRPr>
            </a:pPr>
            <a:r>
              <a:t>保护模式下的简易内存浏览器</a:t>
            </a:r>
          </a:p>
          <a:p>
            <a:pPr>
              <a:lnSpc>
                <a:spcPct val="120000"/>
              </a:lnSpc>
              <a:spcBef>
                <a:spcPts val="200"/>
              </a:spcBef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功能①：在保护模式下显示某地址开始的内存（hex dump格式，可复用Assignment 3.2）。</a:t>
            </a:r>
            <a:br/>
            <a:r>
              <a:t>功能②：键盘输入控制：↓或j向后翻页（+256字节）、↑或k向前翻页（-256字节）、q停机退出。</a:t>
            </a:r>
            <a:br/>
            <a:r>
              <a:t>功能③：屏幕同时显示当前查看的起始地址。</a:t>
            </a:r>
          </a:p>
          <a:p>
            <a:pPr>
              <a:spcBef>
                <a:spcPts val="1000"/>
              </a:spcBef>
              <a:spcAft>
                <a:spcPts val="400"/>
              </a:spcAft>
              <a:defRPr sz="2000" b="1">
                <a:solidFill>
                  <a:srgbClr val="C62828"/>
                </a:solidFill>
              </a:defRPr>
            </a:pPr>
            <a:r>
              <a:t>提示：保护模式键盘I/O</a:t>
            </a:r>
          </a:p>
          <a:p>
            <a:pPr>
              <a:lnSpc>
                <a:spcPct val="120000"/>
              </a:lnSpc>
              <a:spcBef>
                <a:spcPts val="200"/>
              </a:spcBef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无法使用BIOS int 16h，需直接操作键盘控制器端口。</a:t>
            </a:r>
            <a:br/>
            <a:r>
              <a:t>端口0x64（状态寄存器）：bit 0=1表示有数据可读。</a:t>
            </a:r>
            <a:br/>
            <a:r>
              <a:t>端口0x60（数据端口）：读取按键扫描码。</a:t>
            </a:r>
            <a:br/>
            <a:r>
              <a:t>方向键扫描码：↑=0x48，↓=0x50；字母键：j=0x24，k=0x25，q=0x10。</a:t>
            </a:r>
            <a:br/>
            <a:r>
              <a:t>示例：wait_key: in al,0x64; test al,1; jz wait_key; in al,0x60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006633"/>
                </a:solidFill>
              </a:defRPr>
            </a:pPr>
            <a:r>
              <a:t>本次实验总结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1828800"/>
            <a:ext cx="9144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600"/>
              </a:spcAft>
              <a:defRPr sz="2200">
                <a:solidFill>
                  <a:srgbClr val="CCDDCC"/>
                </a:solidFill>
              </a:defRPr>
            </a:pPr>
            <a:r>
              <a:t>✓  理解三级引导链（BIOS → MBR → Bootloader → Kernel）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200">
                <a:solidFill>
                  <a:srgbClr val="CCDDCC"/>
                </a:solidFill>
              </a:defRPr>
            </a:pPr>
            <a:r>
              <a:t>✓  掌握 LBA 方式读写硬盘（I/O 端口 0x1F0~0x1F7）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200">
                <a:solidFill>
                  <a:srgbClr val="CCDDCC"/>
                </a:solidFill>
              </a:defRPr>
            </a:pPr>
            <a:r>
              <a:t>✓  理解段描述符和 GDT 的结构（Base、Limit、G、DPL、Type）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200">
                <a:solidFill>
                  <a:srgbClr val="CCDDCC"/>
                </a:solidFill>
              </a:defRPr>
            </a:pPr>
            <a:r>
              <a:t>✓  实现从实模式切换到保护模式（5 步流程）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200">
                <a:solidFill>
                  <a:srgbClr val="CCDDCC"/>
                </a:solidFill>
              </a:defRPr>
            </a:pPr>
            <a:r>
              <a:t>✓  在保护模式下访问 4GB 内存空间（32 位寻址）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200">
                <a:solidFill>
                  <a:srgbClr val="CCDDCC"/>
                </a:solidFill>
              </a:defRPr>
            </a:pPr>
            <a:r>
              <a:t>✓  完成 Assignment 1-3（磁盘加载、GDT 分析、保护模式编程）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6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200" b="1">
                <a:solidFill>
                  <a:srgbClr val="FFFFFF"/>
                </a:solidFill>
              </a:defRPr>
            </a:pPr>
            <a:r>
              <a:t>谢谢！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8404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666666"/>
                </a:solidFill>
              </a:defRPr>
            </a:pPr>
            <a:r>
              <a:t>Questions &amp; Discussion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3035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666666"/>
                </a:solidFill>
              </a:defRPr>
            </a:pPr>
            <a:r>
              <a:t>中山大学计算机学院 陈鹏飞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